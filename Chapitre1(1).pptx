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59"/>
  </p:notesMasterIdLst>
  <p:sldIdLst>
    <p:sldId id="256" r:id="rId3"/>
    <p:sldId id="258" r:id="rId4"/>
    <p:sldId id="327" r:id="rId5"/>
    <p:sldId id="288" r:id="rId6"/>
    <p:sldId id="260" r:id="rId7"/>
    <p:sldId id="314" r:id="rId8"/>
    <p:sldId id="304" r:id="rId9"/>
    <p:sldId id="261" r:id="rId10"/>
    <p:sldId id="301" r:id="rId11"/>
    <p:sldId id="263" r:id="rId12"/>
    <p:sldId id="307" r:id="rId13"/>
    <p:sldId id="306" r:id="rId14"/>
    <p:sldId id="308" r:id="rId15"/>
    <p:sldId id="309" r:id="rId16"/>
    <p:sldId id="310" r:id="rId17"/>
    <p:sldId id="262" r:id="rId18"/>
    <p:sldId id="289" r:id="rId19"/>
    <p:sldId id="328" r:id="rId20"/>
    <p:sldId id="264" r:id="rId21"/>
    <p:sldId id="265" r:id="rId22"/>
    <p:sldId id="266" r:id="rId23"/>
    <p:sldId id="267" r:id="rId24"/>
    <p:sldId id="268" r:id="rId25"/>
    <p:sldId id="269" r:id="rId26"/>
    <p:sldId id="325" r:id="rId27"/>
    <p:sldId id="311" r:id="rId28"/>
    <p:sldId id="271" r:id="rId29"/>
    <p:sldId id="318" r:id="rId30"/>
    <p:sldId id="287" r:id="rId31"/>
    <p:sldId id="317" r:id="rId32"/>
    <p:sldId id="326" r:id="rId33"/>
    <p:sldId id="319" r:id="rId34"/>
    <p:sldId id="320" r:id="rId35"/>
    <p:sldId id="315" r:id="rId36"/>
    <p:sldId id="294" r:id="rId37"/>
    <p:sldId id="272" r:id="rId38"/>
    <p:sldId id="276" r:id="rId39"/>
    <p:sldId id="313" r:id="rId40"/>
    <p:sldId id="281" r:id="rId41"/>
    <p:sldId id="270" r:id="rId42"/>
    <p:sldId id="282" r:id="rId43"/>
    <p:sldId id="283" r:id="rId44"/>
    <p:sldId id="284" r:id="rId45"/>
    <p:sldId id="285" r:id="rId46"/>
    <p:sldId id="296" r:id="rId47"/>
    <p:sldId id="297" r:id="rId48"/>
    <p:sldId id="277" r:id="rId49"/>
    <p:sldId id="273" r:id="rId50"/>
    <p:sldId id="329" r:id="rId51"/>
    <p:sldId id="321" r:id="rId52"/>
    <p:sldId id="322" r:id="rId53"/>
    <p:sldId id="330" r:id="rId54"/>
    <p:sldId id="323" r:id="rId55"/>
    <p:sldId id="324" r:id="rId56"/>
    <p:sldId id="286" r:id="rId57"/>
    <p:sldId id="299" r:id="rId58"/>
  </p:sldIdLst>
  <p:sldSz cx="12192000" cy="6858000"/>
  <p:notesSz cx="6858000" cy="9144000"/>
  <p:embeddedFontLst>
    <p:embeddedFont>
      <p:font typeface="Franklin Gothic Book" panose="020B0503020102020204" pitchFamily="34" charset="0"/>
      <p:regular r:id="rId60"/>
      <p:italic r:id="rId61"/>
    </p:embeddedFont>
    <p:embeddedFont>
      <p:font typeface="Roboto" panose="02000000000000000000" pitchFamily="2" charset="0"/>
      <p:regular r:id="rId62"/>
      <p:bold r:id="rId63"/>
    </p:embeddedFont>
    <p:embeddedFont>
      <p:font typeface="Trebuchet MS" panose="020B0603020202020204" pitchFamily="34"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1" userDrawn="1">
          <p15:clr>
            <a:srgbClr val="A4A3A4"/>
          </p15:clr>
        </p15:guide>
        <p15:guide id="2" pos="38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4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3410" autoAdjust="0"/>
  </p:normalViewPr>
  <p:slideViewPr>
    <p:cSldViewPr snapToGrid="0" showGuides="1">
      <p:cViewPr varScale="1">
        <p:scale>
          <a:sx n="59" d="100"/>
          <a:sy n="59" d="100"/>
        </p:scale>
        <p:origin x="940" y="52"/>
      </p:cViewPr>
      <p:guideLst>
        <p:guide orient="horz" pos="2151"/>
        <p:guide pos="38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4.fntdata"/><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7.fntdata"/><Relationship Id="rId5" Type="http://schemas.openxmlformats.org/officeDocument/2006/relationships/slide" Target="slides/slide3.xml"/><Relationship Id="rId61"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5.fntdata"/><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ECFD44E-B1F2-4A0D-9670-88CB1ADB6B1E}" type="doc">
      <dgm:prSet loTypeId="urn:microsoft.com/office/officeart/2005/8/layout/process1" loCatId="process" qsTypeId="urn:microsoft.com/office/officeart/2005/8/quickstyle/simple1#1" qsCatId="simple" csTypeId="urn:microsoft.com/office/officeart/2005/8/colors/accent1_2#1" csCatId="accent1" phldr="1"/>
      <dgm:spPr/>
    </dgm:pt>
    <dgm:pt modelId="{ED74DBB7-88C5-426F-BBAD-19DE3D657FA4}">
      <dgm:prSet phldrT="[Texte]"/>
      <dgm:spPr/>
      <dgm:t>
        <a:bodyPr/>
        <a:lstStyle/>
        <a:p>
          <a:r>
            <a:rPr lang="fr-FR" dirty="0"/>
            <a:t>Procédural</a:t>
          </a:r>
        </a:p>
      </dgm:t>
    </dgm:pt>
    <dgm:pt modelId="{101F5A40-55CC-414D-B6B6-438845CBF9B0}" type="parTrans" cxnId="{C7DBD406-70A5-4BF2-A45B-185A36563358}">
      <dgm:prSet/>
      <dgm:spPr/>
      <dgm:t>
        <a:bodyPr/>
        <a:lstStyle/>
        <a:p>
          <a:endParaRPr lang="fr-FR"/>
        </a:p>
      </dgm:t>
    </dgm:pt>
    <dgm:pt modelId="{3249F24F-E731-48CA-9405-38CB07727E6B}" type="sibTrans" cxnId="{C7DBD406-70A5-4BF2-A45B-185A36563358}">
      <dgm:prSet/>
      <dgm:spPr/>
      <dgm:t>
        <a:bodyPr/>
        <a:lstStyle/>
        <a:p>
          <a:endParaRPr lang="fr-FR"/>
        </a:p>
      </dgm:t>
    </dgm:pt>
    <dgm:pt modelId="{79CAC669-394F-47F9-869F-7534BACB33FE}">
      <dgm:prSet phldrT="[Texte]"/>
      <dgm:spPr/>
      <dgm:t>
        <a:bodyPr/>
        <a:lstStyle/>
        <a:p>
          <a:r>
            <a:rPr lang="fr-FR" dirty="0"/>
            <a:t>Composant</a:t>
          </a:r>
        </a:p>
      </dgm:t>
    </dgm:pt>
    <dgm:pt modelId="{C549E9B2-AA33-4141-A6A2-B19902A490AF}" type="parTrans" cxnId="{2116B2AB-B844-4D99-A474-F54F6C9849AC}">
      <dgm:prSet/>
      <dgm:spPr/>
      <dgm:t>
        <a:bodyPr/>
        <a:lstStyle/>
        <a:p>
          <a:endParaRPr lang="fr-FR"/>
        </a:p>
      </dgm:t>
    </dgm:pt>
    <dgm:pt modelId="{7A9D8D57-55D4-4862-A0F7-E3B2C93A04FC}" type="sibTrans" cxnId="{2116B2AB-B844-4D99-A474-F54F6C9849AC}">
      <dgm:prSet/>
      <dgm:spPr/>
      <dgm:t>
        <a:bodyPr/>
        <a:lstStyle/>
        <a:p>
          <a:endParaRPr lang="fr-FR"/>
        </a:p>
      </dgm:t>
    </dgm:pt>
    <dgm:pt modelId="{7688778C-0B37-44C2-A1C8-4E6A63830AEC}">
      <dgm:prSet phldrT="[Texte]"/>
      <dgm:spPr/>
      <dgm:t>
        <a:bodyPr/>
        <a:lstStyle/>
        <a:p>
          <a:r>
            <a:rPr lang="fr-FR" dirty="0"/>
            <a:t>Service</a:t>
          </a:r>
        </a:p>
      </dgm:t>
    </dgm:pt>
    <dgm:pt modelId="{EBC85C9E-A611-4D76-B5D8-473EF609AAE6}" type="parTrans" cxnId="{801D64FB-9B36-4CD5-B197-1F2FBE54D2DD}">
      <dgm:prSet/>
      <dgm:spPr/>
      <dgm:t>
        <a:bodyPr/>
        <a:lstStyle/>
        <a:p>
          <a:endParaRPr lang="fr-FR"/>
        </a:p>
      </dgm:t>
    </dgm:pt>
    <dgm:pt modelId="{81CF1DA7-1DFA-47DA-ABE0-D94A4DC03150}" type="sibTrans" cxnId="{801D64FB-9B36-4CD5-B197-1F2FBE54D2DD}">
      <dgm:prSet/>
      <dgm:spPr/>
      <dgm:t>
        <a:bodyPr/>
        <a:lstStyle/>
        <a:p>
          <a:endParaRPr lang="fr-FR"/>
        </a:p>
      </dgm:t>
    </dgm:pt>
    <dgm:pt modelId="{0E41C625-1D29-4ABE-A003-02AC51A0F4AB}">
      <dgm:prSet phldrT="[Texte]"/>
      <dgm:spPr/>
      <dgm:t>
        <a:bodyPr/>
        <a:lstStyle/>
        <a:p>
          <a:r>
            <a:rPr lang="fr-FR" dirty="0"/>
            <a:t>Objet</a:t>
          </a:r>
        </a:p>
      </dgm:t>
    </dgm:pt>
    <dgm:pt modelId="{44B5FE70-5FDF-42A5-98DA-32119E11111C}" type="parTrans" cxnId="{531AE275-A93D-43A7-8564-D0821521EBE3}">
      <dgm:prSet/>
      <dgm:spPr/>
      <dgm:t>
        <a:bodyPr/>
        <a:lstStyle/>
        <a:p>
          <a:endParaRPr lang="fr-FR"/>
        </a:p>
      </dgm:t>
    </dgm:pt>
    <dgm:pt modelId="{E55168EC-0A30-47E8-8440-E05AC61BAA80}" type="sibTrans" cxnId="{531AE275-A93D-43A7-8564-D0821521EBE3}">
      <dgm:prSet/>
      <dgm:spPr/>
      <dgm:t>
        <a:bodyPr/>
        <a:lstStyle/>
        <a:p>
          <a:endParaRPr lang="fr-FR"/>
        </a:p>
      </dgm:t>
    </dgm:pt>
    <dgm:pt modelId="{8745B75B-FB06-4FFF-AA17-10A20EBB688D}">
      <dgm:prSet phldrT="[Texte]"/>
      <dgm:spPr/>
      <dgm:t>
        <a:bodyPr/>
        <a:lstStyle/>
        <a:p>
          <a:r>
            <a:rPr lang="fr-FR" dirty="0" err="1"/>
            <a:t>Microservice</a:t>
          </a:r>
          <a:endParaRPr lang="fr-FR" dirty="0"/>
        </a:p>
      </dgm:t>
    </dgm:pt>
    <dgm:pt modelId="{13C0FEF1-D546-42A9-BFF4-7F2A79C253B2}" type="parTrans" cxnId="{C9D943D8-6893-4421-AF3E-91C2D4EDE64E}">
      <dgm:prSet/>
      <dgm:spPr/>
      <dgm:t>
        <a:bodyPr/>
        <a:lstStyle/>
        <a:p>
          <a:endParaRPr lang="fr-FR"/>
        </a:p>
      </dgm:t>
    </dgm:pt>
    <dgm:pt modelId="{7D9FCBF6-B8FC-4864-86E1-AFFB2CCB6BC6}" type="sibTrans" cxnId="{C9D943D8-6893-4421-AF3E-91C2D4EDE64E}">
      <dgm:prSet/>
      <dgm:spPr/>
      <dgm:t>
        <a:bodyPr/>
        <a:lstStyle/>
        <a:p>
          <a:endParaRPr lang="fr-FR"/>
        </a:p>
      </dgm:t>
    </dgm:pt>
    <dgm:pt modelId="{7C39BC72-CE60-4310-AEA4-0B8286E8242E}" type="pres">
      <dgm:prSet presAssocID="{EECFD44E-B1F2-4A0D-9670-88CB1ADB6B1E}" presName="Name0" presStyleCnt="0">
        <dgm:presLayoutVars>
          <dgm:dir/>
          <dgm:resizeHandles val="exact"/>
        </dgm:presLayoutVars>
      </dgm:prSet>
      <dgm:spPr/>
    </dgm:pt>
    <dgm:pt modelId="{10D683A1-E590-420C-855F-2FA53050B555}" type="pres">
      <dgm:prSet presAssocID="{ED74DBB7-88C5-426F-BBAD-19DE3D657FA4}" presName="node" presStyleLbl="node1" presStyleIdx="0" presStyleCnt="5">
        <dgm:presLayoutVars>
          <dgm:bulletEnabled val="1"/>
        </dgm:presLayoutVars>
      </dgm:prSet>
      <dgm:spPr/>
    </dgm:pt>
    <dgm:pt modelId="{9EEBD8DE-A027-48AE-B397-FE0CA1DAD0DE}" type="pres">
      <dgm:prSet presAssocID="{3249F24F-E731-48CA-9405-38CB07727E6B}" presName="sibTrans" presStyleLbl="sibTrans2D1" presStyleIdx="0" presStyleCnt="4"/>
      <dgm:spPr/>
    </dgm:pt>
    <dgm:pt modelId="{4448DE10-0E4E-4579-BAE7-72018D98C541}" type="pres">
      <dgm:prSet presAssocID="{3249F24F-E731-48CA-9405-38CB07727E6B}" presName="connectorText" presStyleLbl="sibTrans2D1" presStyleIdx="0" presStyleCnt="4"/>
      <dgm:spPr/>
    </dgm:pt>
    <dgm:pt modelId="{6B5E6345-946B-436D-85FB-29DD2AD98D8B}" type="pres">
      <dgm:prSet presAssocID="{0E41C625-1D29-4ABE-A003-02AC51A0F4AB}" presName="node" presStyleLbl="node1" presStyleIdx="1" presStyleCnt="5">
        <dgm:presLayoutVars>
          <dgm:bulletEnabled val="1"/>
        </dgm:presLayoutVars>
      </dgm:prSet>
      <dgm:spPr/>
    </dgm:pt>
    <dgm:pt modelId="{B3D4046B-E711-439E-840A-ABBAE728855D}" type="pres">
      <dgm:prSet presAssocID="{E55168EC-0A30-47E8-8440-E05AC61BAA80}" presName="sibTrans" presStyleLbl="sibTrans2D1" presStyleIdx="1" presStyleCnt="4"/>
      <dgm:spPr/>
    </dgm:pt>
    <dgm:pt modelId="{2D6808D9-020F-4DFA-BB78-CCB5C183DEFB}" type="pres">
      <dgm:prSet presAssocID="{E55168EC-0A30-47E8-8440-E05AC61BAA80}" presName="connectorText" presStyleLbl="sibTrans2D1" presStyleIdx="1" presStyleCnt="4"/>
      <dgm:spPr/>
    </dgm:pt>
    <dgm:pt modelId="{86FFDFAA-B5B8-4975-BEE8-817D73BC351B}" type="pres">
      <dgm:prSet presAssocID="{79CAC669-394F-47F9-869F-7534BACB33FE}" presName="node" presStyleLbl="node1" presStyleIdx="2" presStyleCnt="5">
        <dgm:presLayoutVars>
          <dgm:bulletEnabled val="1"/>
        </dgm:presLayoutVars>
      </dgm:prSet>
      <dgm:spPr/>
    </dgm:pt>
    <dgm:pt modelId="{57433FE8-0A8E-4D8C-8B50-CCFCAA36FE5D}" type="pres">
      <dgm:prSet presAssocID="{7A9D8D57-55D4-4862-A0F7-E3B2C93A04FC}" presName="sibTrans" presStyleLbl="sibTrans2D1" presStyleIdx="2" presStyleCnt="4"/>
      <dgm:spPr/>
    </dgm:pt>
    <dgm:pt modelId="{D454E958-1BE6-49D3-B50E-F1438DB4078B}" type="pres">
      <dgm:prSet presAssocID="{7A9D8D57-55D4-4862-A0F7-E3B2C93A04FC}" presName="connectorText" presStyleLbl="sibTrans2D1" presStyleIdx="2" presStyleCnt="4"/>
      <dgm:spPr/>
    </dgm:pt>
    <dgm:pt modelId="{742F76B2-6416-4683-9891-B23ADB3C8787}" type="pres">
      <dgm:prSet presAssocID="{7688778C-0B37-44C2-A1C8-4E6A63830AEC}" presName="node" presStyleLbl="node1" presStyleIdx="3" presStyleCnt="5">
        <dgm:presLayoutVars>
          <dgm:bulletEnabled val="1"/>
        </dgm:presLayoutVars>
      </dgm:prSet>
      <dgm:spPr/>
    </dgm:pt>
    <dgm:pt modelId="{91A83AC8-C4C4-4A98-A5BC-4ACD761E17F7}" type="pres">
      <dgm:prSet presAssocID="{81CF1DA7-1DFA-47DA-ABE0-D94A4DC03150}" presName="sibTrans" presStyleLbl="sibTrans2D1" presStyleIdx="3" presStyleCnt="4"/>
      <dgm:spPr/>
    </dgm:pt>
    <dgm:pt modelId="{66ED77F2-E55D-411C-A5C5-1E6588071BFC}" type="pres">
      <dgm:prSet presAssocID="{81CF1DA7-1DFA-47DA-ABE0-D94A4DC03150}" presName="connectorText" presStyleLbl="sibTrans2D1" presStyleIdx="3" presStyleCnt="4"/>
      <dgm:spPr/>
    </dgm:pt>
    <dgm:pt modelId="{ADF408AE-04DD-4A9F-A076-9AAFB7389E0C}" type="pres">
      <dgm:prSet presAssocID="{8745B75B-FB06-4FFF-AA17-10A20EBB688D}" presName="node" presStyleLbl="node1" presStyleIdx="4" presStyleCnt="5">
        <dgm:presLayoutVars>
          <dgm:bulletEnabled val="1"/>
        </dgm:presLayoutVars>
      </dgm:prSet>
      <dgm:spPr/>
    </dgm:pt>
  </dgm:ptLst>
  <dgm:cxnLst>
    <dgm:cxn modelId="{C7DBD406-70A5-4BF2-A45B-185A36563358}" srcId="{EECFD44E-B1F2-4A0D-9670-88CB1ADB6B1E}" destId="{ED74DBB7-88C5-426F-BBAD-19DE3D657FA4}" srcOrd="0" destOrd="0" parTransId="{101F5A40-55CC-414D-B6B6-438845CBF9B0}" sibTransId="{3249F24F-E731-48CA-9405-38CB07727E6B}"/>
    <dgm:cxn modelId="{7E5EE409-C37C-4D15-92C2-63D46C592E79}" type="presOf" srcId="{7A9D8D57-55D4-4862-A0F7-E3B2C93A04FC}" destId="{57433FE8-0A8E-4D8C-8B50-CCFCAA36FE5D}" srcOrd="0" destOrd="0" presId="urn:microsoft.com/office/officeart/2005/8/layout/process1"/>
    <dgm:cxn modelId="{2598B10E-27EC-420C-B824-B2A426159429}" type="presOf" srcId="{8745B75B-FB06-4FFF-AA17-10A20EBB688D}" destId="{ADF408AE-04DD-4A9F-A076-9AAFB7389E0C}" srcOrd="0" destOrd="0" presId="urn:microsoft.com/office/officeart/2005/8/layout/process1"/>
    <dgm:cxn modelId="{C4766010-0D1F-4E38-B461-F0C8B435F01B}" type="presOf" srcId="{E55168EC-0A30-47E8-8440-E05AC61BAA80}" destId="{B3D4046B-E711-439E-840A-ABBAE728855D}" srcOrd="0" destOrd="0" presId="urn:microsoft.com/office/officeart/2005/8/layout/process1"/>
    <dgm:cxn modelId="{F21E9430-9ADB-4B58-9C8B-9FAA92DB49AD}" type="presOf" srcId="{81CF1DA7-1DFA-47DA-ABE0-D94A4DC03150}" destId="{91A83AC8-C4C4-4A98-A5BC-4ACD761E17F7}" srcOrd="0" destOrd="0" presId="urn:microsoft.com/office/officeart/2005/8/layout/process1"/>
    <dgm:cxn modelId="{62446133-38BA-443F-A9AA-4FB77E1E610D}" type="presOf" srcId="{3249F24F-E731-48CA-9405-38CB07727E6B}" destId="{4448DE10-0E4E-4579-BAE7-72018D98C541}" srcOrd="1" destOrd="0" presId="urn:microsoft.com/office/officeart/2005/8/layout/process1"/>
    <dgm:cxn modelId="{ADB2885C-BCF2-40CF-8903-CEAFB77E435C}" type="presOf" srcId="{7688778C-0B37-44C2-A1C8-4E6A63830AEC}" destId="{742F76B2-6416-4683-9891-B23ADB3C8787}" srcOrd="0" destOrd="0" presId="urn:microsoft.com/office/officeart/2005/8/layout/process1"/>
    <dgm:cxn modelId="{570A8455-F46C-4D41-9BD0-77989B768231}" type="presOf" srcId="{EECFD44E-B1F2-4A0D-9670-88CB1ADB6B1E}" destId="{7C39BC72-CE60-4310-AEA4-0B8286E8242E}" srcOrd="0" destOrd="0" presId="urn:microsoft.com/office/officeart/2005/8/layout/process1"/>
    <dgm:cxn modelId="{531AE275-A93D-43A7-8564-D0821521EBE3}" srcId="{EECFD44E-B1F2-4A0D-9670-88CB1ADB6B1E}" destId="{0E41C625-1D29-4ABE-A003-02AC51A0F4AB}" srcOrd="1" destOrd="0" parTransId="{44B5FE70-5FDF-42A5-98DA-32119E11111C}" sibTransId="{E55168EC-0A30-47E8-8440-E05AC61BAA80}"/>
    <dgm:cxn modelId="{0691D37E-1146-46B9-97DB-37775994476F}" type="presOf" srcId="{7A9D8D57-55D4-4862-A0F7-E3B2C93A04FC}" destId="{D454E958-1BE6-49D3-B50E-F1438DB4078B}" srcOrd="1" destOrd="0" presId="urn:microsoft.com/office/officeart/2005/8/layout/process1"/>
    <dgm:cxn modelId="{0356FE7F-ED95-4FB3-9425-B9848958084B}" type="presOf" srcId="{E55168EC-0A30-47E8-8440-E05AC61BAA80}" destId="{2D6808D9-020F-4DFA-BB78-CCB5C183DEFB}" srcOrd="1" destOrd="0" presId="urn:microsoft.com/office/officeart/2005/8/layout/process1"/>
    <dgm:cxn modelId="{F046808C-087F-4CE7-8202-38FA5C6C6C2A}" type="presOf" srcId="{81CF1DA7-1DFA-47DA-ABE0-D94A4DC03150}" destId="{66ED77F2-E55D-411C-A5C5-1E6588071BFC}" srcOrd="1" destOrd="0" presId="urn:microsoft.com/office/officeart/2005/8/layout/process1"/>
    <dgm:cxn modelId="{E1CE1F9E-2E80-45AC-8621-2698BE1AA747}" type="presOf" srcId="{3249F24F-E731-48CA-9405-38CB07727E6B}" destId="{9EEBD8DE-A027-48AE-B397-FE0CA1DAD0DE}" srcOrd="0" destOrd="0" presId="urn:microsoft.com/office/officeart/2005/8/layout/process1"/>
    <dgm:cxn modelId="{0449AAA0-E547-4F00-B2C5-E6B8BA8B2A6E}" type="presOf" srcId="{79CAC669-394F-47F9-869F-7534BACB33FE}" destId="{86FFDFAA-B5B8-4975-BEE8-817D73BC351B}" srcOrd="0" destOrd="0" presId="urn:microsoft.com/office/officeart/2005/8/layout/process1"/>
    <dgm:cxn modelId="{2116B2AB-B844-4D99-A474-F54F6C9849AC}" srcId="{EECFD44E-B1F2-4A0D-9670-88CB1ADB6B1E}" destId="{79CAC669-394F-47F9-869F-7534BACB33FE}" srcOrd="2" destOrd="0" parTransId="{C549E9B2-AA33-4141-A6A2-B19902A490AF}" sibTransId="{7A9D8D57-55D4-4862-A0F7-E3B2C93A04FC}"/>
    <dgm:cxn modelId="{859FA1AD-7745-4062-91CF-552F6AC99164}" type="presOf" srcId="{0E41C625-1D29-4ABE-A003-02AC51A0F4AB}" destId="{6B5E6345-946B-436D-85FB-29DD2AD98D8B}" srcOrd="0" destOrd="0" presId="urn:microsoft.com/office/officeart/2005/8/layout/process1"/>
    <dgm:cxn modelId="{867F84C9-F408-449B-AD0F-9753E335CFDD}" type="presOf" srcId="{ED74DBB7-88C5-426F-BBAD-19DE3D657FA4}" destId="{10D683A1-E590-420C-855F-2FA53050B555}" srcOrd="0" destOrd="0" presId="urn:microsoft.com/office/officeart/2005/8/layout/process1"/>
    <dgm:cxn modelId="{C9D943D8-6893-4421-AF3E-91C2D4EDE64E}" srcId="{EECFD44E-B1F2-4A0D-9670-88CB1ADB6B1E}" destId="{8745B75B-FB06-4FFF-AA17-10A20EBB688D}" srcOrd="4" destOrd="0" parTransId="{13C0FEF1-D546-42A9-BFF4-7F2A79C253B2}" sibTransId="{7D9FCBF6-B8FC-4864-86E1-AFFB2CCB6BC6}"/>
    <dgm:cxn modelId="{801D64FB-9B36-4CD5-B197-1F2FBE54D2DD}" srcId="{EECFD44E-B1F2-4A0D-9670-88CB1ADB6B1E}" destId="{7688778C-0B37-44C2-A1C8-4E6A63830AEC}" srcOrd="3" destOrd="0" parTransId="{EBC85C9E-A611-4D76-B5D8-473EF609AAE6}" sibTransId="{81CF1DA7-1DFA-47DA-ABE0-D94A4DC03150}"/>
    <dgm:cxn modelId="{BA93B87D-01DF-4813-9783-5D2389554805}" type="presParOf" srcId="{7C39BC72-CE60-4310-AEA4-0B8286E8242E}" destId="{10D683A1-E590-420C-855F-2FA53050B555}" srcOrd="0" destOrd="0" presId="urn:microsoft.com/office/officeart/2005/8/layout/process1"/>
    <dgm:cxn modelId="{B4A55F70-41D4-4C27-8E61-2ED576CACEC2}" type="presParOf" srcId="{7C39BC72-CE60-4310-AEA4-0B8286E8242E}" destId="{9EEBD8DE-A027-48AE-B397-FE0CA1DAD0DE}" srcOrd="1" destOrd="0" presId="urn:microsoft.com/office/officeart/2005/8/layout/process1"/>
    <dgm:cxn modelId="{5A5AD507-0BBA-44D2-A51A-CD52F5359E2C}" type="presParOf" srcId="{9EEBD8DE-A027-48AE-B397-FE0CA1DAD0DE}" destId="{4448DE10-0E4E-4579-BAE7-72018D98C541}" srcOrd="0" destOrd="0" presId="urn:microsoft.com/office/officeart/2005/8/layout/process1"/>
    <dgm:cxn modelId="{77F5AE3A-FD3D-4A95-AF46-B8E225381050}" type="presParOf" srcId="{7C39BC72-CE60-4310-AEA4-0B8286E8242E}" destId="{6B5E6345-946B-436D-85FB-29DD2AD98D8B}" srcOrd="2" destOrd="0" presId="urn:microsoft.com/office/officeart/2005/8/layout/process1"/>
    <dgm:cxn modelId="{648AC134-665E-4E56-8957-9DEAFF5F44D7}" type="presParOf" srcId="{7C39BC72-CE60-4310-AEA4-0B8286E8242E}" destId="{B3D4046B-E711-439E-840A-ABBAE728855D}" srcOrd="3" destOrd="0" presId="urn:microsoft.com/office/officeart/2005/8/layout/process1"/>
    <dgm:cxn modelId="{39645552-B675-4D56-ACC0-B77BEFF0417C}" type="presParOf" srcId="{B3D4046B-E711-439E-840A-ABBAE728855D}" destId="{2D6808D9-020F-4DFA-BB78-CCB5C183DEFB}" srcOrd="0" destOrd="0" presId="urn:microsoft.com/office/officeart/2005/8/layout/process1"/>
    <dgm:cxn modelId="{AFF49C47-64AA-4820-877A-E553ADA22550}" type="presParOf" srcId="{7C39BC72-CE60-4310-AEA4-0B8286E8242E}" destId="{86FFDFAA-B5B8-4975-BEE8-817D73BC351B}" srcOrd="4" destOrd="0" presId="urn:microsoft.com/office/officeart/2005/8/layout/process1"/>
    <dgm:cxn modelId="{A08A9A9F-2A94-422E-9918-2788591A3A8F}" type="presParOf" srcId="{7C39BC72-CE60-4310-AEA4-0B8286E8242E}" destId="{57433FE8-0A8E-4D8C-8B50-CCFCAA36FE5D}" srcOrd="5" destOrd="0" presId="urn:microsoft.com/office/officeart/2005/8/layout/process1"/>
    <dgm:cxn modelId="{C0F84093-9456-4773-A6D8-F9C190F190D4}" type="presParOf" srcId="{57433FE8-0A8E-4D8C-8B50-CCFCAA36FE5D}" destId="{D454E958-1BE6-49D3-B50E-F1438DB4078B}" srcOrd="0" destOrd="0" presId="urn:microsoft.com/office/officeart/2005/8/layout/process1"/>
    <dgm:cxn modelId="{67DFEDFC-1610-464F-9B1C-078DF27DADEC}" type="presParOf" srcId="{7C39BC72-CE60-4310-AEA4-0B8286E8242E}" destId="{742F76B2-6416-4683-9891-B23ADB3C8787}" srcOrd="6" destOrd="0" presId="urn:microsoft.com/office/officeart/2005/8/layout/process1"/>
    <dgm:cxn modelId="{82543D73-3993-454C-8A88-B8938359DBD0}" type="presParOf" srcId="{7C39BC72-CE60-4310-AEA4-0B8286E8242E}" destId="{91A83AC8-C4C4-4A98-A5BC-4ACD761E17F7}" srcOrd="7" destOrd="0" presId="urn:microsoft.com/office/officeart/2005/8/layout/process1"/>
    <dgm:cxn modelId="{884D1E19-9E06-484F-8B87-BA90D22BE675}" type="presParOf" srcId="{91A83AC8-C4C4-4A98-A5BC-4ACD761E17F7}" destId="{66ED77F2-E55D-411C-A5C5-1E6588071BFC}" srcOrd="0" destOrd="0" presId="urn:microsoft.com/office/officeart/2005/8/layout/process1"/>
    <dgm:cxn modelId="{639F7804-FBC4-46CF-8BE4-B7A332CFD56F}" type="presParOf" srcId="{7C39BC72-CE60-4310-AEA4-0B8286E8242E}" destId="{ADF408AE-04DD-4A9F-A076-9AAFB7389E0C}" srcOrd="8"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D683A1-E590-420C-855F-2FA53050B555}">
      <dsp:nvSpPr>
        <dsp:cNvPr id="0" name=""/>
        <dsp:cNvSpPr/>
      </dsp:nvSpPr>
      <dsp:spPr bwMode="white">
        <a:xfrm>
          <a:off x="4459" y="1745689"/>
          <a:ext cx="1382477" cy="829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Procédural</a:t>
          </a:r>
        </a:p>
      </dsp:txBody>
      <dsp:txXfrm>
        <a:off x="28754" y="1769984"/>
        <a:ext cx="1333887" cy="780896"/>
      </dsp:txXfrm>
    </dsp:sp>
    <dsp:sp modelId="{9EEBD8DE-A027-48AE-B397-FE0CA1DAD0DE}">
      <dsp:nvSpPr>
        <dsp:cNvPr id="0" name=""/>
        <dsp:cNvSpPr/>
      </dsp:nvSpPr>
      <dsp:spPr bwMode="white">
        <a:xfrm>
          <a:off x="1525185" y="1989005"/>
          <a:ext cx="293085" cy="3428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1525185" y="2057576"/>
        <a:ext cx="205160" cy="205712"/>
      </dsp:txXfrm>
    </dsp:sp>
    <dsp:sp modelId="{6B5E6345-946B-436D-85FB-29DD2AD98D8B}">
      <dsp:nvSpPr>
        <dsp:cNvPr id="0" name=""/>
        <dsp:cNvSpPr/>
      </dsp:nvSpPr>
      <dsp:spPr bwMode="white">
        <a:xfrm>
          <a:off x="1939928" y="1745689"/>
          <a:ext cx="1382477" cy="829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Objet</a:t>
          </a:r>
        </a:p>
      </dsp:txBody>
      <dsp:txXfrm>
        <a:off x="1964223" y="1769984"/>
        <a:ext cx="1333887" cy="780896"/>
      </dsp:txXfrm>
    </dsp:sp>
    <dsp:sp modelId="{B3D4046B-E711-439E-840A-ABBAE728855D}">
      <dsp:nvSpPr>
        <dsp:cNvPr id="0" name=""/>
        <dsp:cNvSpPr/>
      </dsp:nvSpPr>
      <dsp:spPr bwMode="white">
        <a:xfrm>
          <a:off x="3460654" y="1989005"/>
          <a:ext cx="293085" cy="3428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3460654" y="2057576"/>
        <a:ext cx="205160" cy="205712"/>
      </dsp:txXfrm>
    </dsp:sp>
    <dsp:sp modelId="{86FFDFAA-B5B8-4975-BEE8-817D73BC351B}">
      <dsp:nvSpPr>
        <dsp:cNvPr id="0" name=""/>
        <dsp:cNvSpPr/>
      </dsp:nvSpPr>
      <dsp:spPr bwMode="white">
        <a:xfrm>
          <a:off x="3875398" y="1745689"/>
          <a:ext cx="1382477" cy="829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Composant</a:t>
          </a:r>
        </a:p>
      </dsp:txBody>
      <dsp:txXfrm>
        <a:off x="3899693" y="1769984"/>
        <a:ext cx="1333887" cy="780896"/>
      </dsp:txXfrm>
    </dsp:sp>
    <dsp:sp modelId="{57433FE8-0A8E-4D8C-8B50-CCFCAA36FE5D}">
      <dsp:nvSpPr>
        <dsp:cNvPr id="0" name=""/>
        <dsp:cNvSpPr/>
      </dsp:nvSpPr>
      <dsp:spPr bwMode="white">
        <a:xfrm>
          <a:off x="5396123" y="1989005"/>
          <a:ext cx="293085" cy="3428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5396123" y="2057576"/>
        <a:ext cx="205160" cy="205712"/>
      </dsp:txXfrm>
    </dsp:sp>
    <dsp:sp modelId="{742F76B2-6416-4683-9891-B23ADB3C8787}">
      <dsp:nvSpPr>
        <dsp:cNvPr id="0" name=""/>
        <dsp:cNvSpPr/>
      </dsp:nvSpPr>
      <dsp:spPr bwMode="white">
        <a:xfrm>
          <a:off x="5810867" y="1745689"/>
          <a:ext cx="1382477" cy="829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Service</a:t>
          </a:r>
        </a:p>
      </dsp:txBody>
      <dsp:txXfrm>
        <a:off x="5835162" y="1769984"/>
        <a:ext cx="1333887" cy="780896"/>
      </dsp:txXfrm>
    </dsp:sp>
    <dsp:sp modelId="{91A83AC8-C4C4-4A98-A5BC-4ACD761E17F7}">
      <dsp:nvSpPr>
        <dsp:cNvPr id="0" name=""/>
        <dsp:cNvSpPr/>
      </dsp:nvSpPr>
      <dsp:spPr bwMode="white">
        <a:xfrm>
          <a:off x="7331592" y="1989005"/>
          <a:ext cx="293085" cy="3428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7331592" y="2057576"/>
        <a:ext cx="205160" cy="205712"/>
      </dsp:txXfrm>
    </dsp:sp>
    <dsp:sp modelId="{ADF408AE-04DD-4A9F-A076-9AAFB7389E0C}">
      <dsp:nvSpPr>
        <dsp:cNvPr id="0" name=""/>
        <dsp:cNvSpPr/>
      </dsp:nvSpPr>
      <dsp:spPr bwMode="white">
        <a:xfrm>
          <a:off x="7746336" y="1745689"/>
          <a:ext cx="1382477" cy="829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err="1"/>
            <a:t>Microservice</a:t>
          </a:r>
          <a:endParaRPr lang="fr-FR" sz="1600" kern="1200" dirty="0"/>
        </a:p>
      </dsp:txBody>
      <dsp:txXfrm>
        <a:off x="7770631" y="1769984"/>
        <a:ext cx="1333887" cy="78089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1625600" y="3257550"/>
            <a:ext cx="89408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Logo EUR-ACE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On parle un peut de l’historique site statique -&gt; site dynamique -&gt; service web</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1625600" y="3257550"/>
            <a:ext cx="89408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Logo EUR-ACE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5b1bb6291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g25b1bb62912_0_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5b1bb6291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g25b1bb62912_0_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b1bb6291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5b1bb62912_0_39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b1bb6291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5b1bb62912_0_39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b1bb6291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5b1bb62912_0_39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b1bb6291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5b1bb62912_0_39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b1bb6291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5b1bb62912_0_39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b1bb6291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5b1bb62912_0_39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b1bb62912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g25b1bb62912_0_3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1625600" y="3257550"/>
            <a:ext cx="89408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Logo EUR-ACE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5b1bb62912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g25b1bb62912_0_1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5b1bb62912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g25b1bb62912_0_19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5b1bb62912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g25b1bb62912_0_2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5b1bb62912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g25b1bb62912_0_2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5b1bb62912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g25b1bb62912_0_2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5b1bb62912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g25b1bb62912_0_24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5b1bb62912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g25b1bb62912_0_24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1625600" y="3257550"/>
            <a:ext cx="89408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Logo EUR-ACE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5b1bb62912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g25b1bb62912_0_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5b1bb62912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g25b1bb62912_0_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1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1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1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1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1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1625600" y="3257550"/>
            <a:ext cx="89408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Logo EUR-ACE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0" i="0" dirty="0">
                <a:solidFill>
                  <a:schemeClr val="dk1"/>
                </a:solidFill>
                <a:latin typeface="Calibri" panose="020F0502020204030204"/>
                <a:ea typeface="Calibri" panose="020F0502020204030204"/>
                <a:cs typeface="Calibri" panose="020F0502020204030204"/>
                <a:sym typeface="Calibri" panose="020F0502020204030204"/>
              </a:rPr>
              <a:t>Un service Web est un ensemble de fonctions d'applications associées pouvant être appelées par programme via Internet. </a:t>
            </a:r>
            <a:endParaRPr dirty="0"/>
          </a:p>
          <a:p>
            <a:pPr marL="0" lvl="0" indent="0" algn="l" rtl="0">
              <a:spcBef>
                <a:spcPts val="0"/>
              </a:spcBef>
              <a:spcAft>
                <a:spcPts val="0"/>
              </a:spcAft>
              <a:buNone/>
            </a:pPr>
            <a:r>
              <a:rPr lang="fr-FR" sz="1200" b="0" i="0" dirty="0">
                <a:solidFill>
                  <a:schemeClr val="dk1"/>
                </a:solidFill>
                <a:latin typeface="Calibri" panose="020F0502020204030204"/>
                <a:ea typeface="Calibri" panose="020F0502020204030204"/>
                <a:cs typeface="Calibri" panose="020F0502020204030204"/>
                <a:sym typeface="Calibri" panose="020F0502020204030204"/>
              </a:rPr>
              <a:t>Les entreprises peuvent associer différents services Web de manière dynamique afin d'exécuter des transactions complexes demandant un minimum de programmation. </a:t>
            </a:r>
            <a:endParaRPr dirty="0"/>
          </a:p>
          <a:p>
            <a:pPr marL="0" lvl="0" indent="0" algn="l" rtl="0">
              <a:spcBef>
                <a:spcPts val="0"/>
              </a:spcBef>
              <a:spcAft>
                <a:spcPts val="0"/>
              </a:spcAft>
              <a:buNone/>
            </a:pPr>
            <a:r>
              <a:rPr lang="fr-FR" sz="1200" b="0" i="0" dirty="0">
                <a:solidFill>
                  <a:schemeClr val="dk1"/>
                </a:solidFill>
                <a:latin typeface="Calibri" panose="020F0502020204030204"/>
                <a:ea typeface="Calibri" panose="020F0502020204030204"/>
                <a:cs typeface="Calibri" panose="020F0502020204030204"/>
                <a:sym typeface="Calibri" panose="020F0502020204030204"/>
              </a:rPr>
              <a:t>Les services Web permettent aux acheteurs et aux fournisseurs du monde entier de se trouver, d'entrer en contact de manière dynamique, et d'exécuter des transactions en temps réel, le tout avec très peu d'interaction humaine.</a:t>
            </a:r>
          </a:p>
          <a:p>
            <a:pPr marL="0" lvl="0" indent="0" algn="l" rtl="0">
              <a:spcBef>
                <a:spcPts val="0"/>
              </a:spcBef>
              <a:spcAft>
                <a:spcPts val="0"/>
              </a:spcAft>
              <a:buNone/>
            </a:pPr>
            <a:endParaRPr lang="fr-FR" sz="1200" b="0" i="0" dirty="0">
              <a:solidFill>
                <a:schemeClr val="dk1"/>
              </a:solidFill>
              <a:latin typeface="Calibri" panose="020F0502020204030204"/>
              <a:ea typeface="Calibri" panose="020F0502020204030204"/>
              <a:cs typeface="Calibri" panose="020F0502020204030204"/>
              <a:sym typeface="Calibri" panose="020F0502020204030204"/>
            </a:endParaRPr>
          </a:p>
          <a:p>
            <a:r>
              <a:rPr lang="fr-FR" sz="12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Un service est une fonctionnalité qui est exposée pour être utilisée par d'autres processus. </a:t>
            </a:r>
          </a:p>
          <a:p>
            <a:r>
              <a:rPr lang="fr-FR" sz="12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En d'autres termes, un service possède une interface qui peut être utilisée par un </a:t>
            </a:r>
          </a:p>
          <a:p>
            <a:r>
              <a:rPr lang="fr-FR" sz="12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demandeur de service. </a:t>
            </a:r>
          </a:p>
          <a:p>
            <a:r>
              <a:rPr lang="fr-FR" sz="12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Un service Web est donc une fonctionnalité exposée et </a:t>
            </a:r>
          </a:p>
          <a:p>
            <a:r>
              <a:rPr lang="fr-FR" sz="12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accessible à l'aide de technologies Web.</a:t>
            </a:r>
          </a:p>
          <a:p>
            <a:pPr marL="0" lvl="0" indent="0" algn="l" rtl="0">
              <a:spcBef>
                <a:spcPts val="0"/>
              </a:spcBef>
              <a:spcAft>
                <a:spcPts val="0"/>
              </a:spcAft>
              <a:buNone/>
            </a:pPr>
            <a:endParaRPr dirty="0"/>
          </a:p>
        </p:txBody>
      </p:sp>
      <p:sp>
        <p:nvSpPr>
          <p:cNvPr id="481" name="Google Shape;481;p1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35</a:t>
            </a:fld>
            <a:endParaRPr lang="fr-F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Les services Web font référence aux services proposés sur Internet</a:t>
            </a:r>
            <a:endParaRPr dirty="0"/>
          </a:p>
        </p:txBody>
      </p:sp>
      <p:sp>
        <p:nvSpPr>
          <p:cNvPr id="481" name="Google Shape;481;p1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36</a:t>
            </a:fld>
            <a:endParaRPr lang="fr-F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0" i="0">
                <a:solidFill>
                  <a:schemeClr val="dk1"/>
                </a:solidFill>
                <a:latin typeface="Calibri" panose="020F0502020204030204"/>
                <a:ea typeface="Calibri" panose="020F0502020204030204"/>
                <a:cs typeface="Calibri" panose="020F0502020204030204"/>
                <a:sym typeface="Calibri" panose="020F0502020204030204"/>
              </a:rPr>
              <a:t>Un service Web est un ensemble de fonctions d'applications associées pouvant être appelées par programme via Internet. </a:t>
            </a:r>
          </a:p>
          <a:p>
            <a:pPr marL="0" lvl="0" indent="0" algn="l" rtl="0">
              <a:spcBef>
                <a:spcPts val="0"/>
              </a:spcBef>
              <a:spcAft>
                <a:spcPts val="0"/>
              </a:spcAft>
              <a:buNone/>
            </a:pPr>
            <a:r>
              <a:rPr lang="fr-FR" sz="1200" b="0" i="0">
                <a:solidFill>
                  <a:schemeClr val="dk1"/>
                </a:solidFill>
                <a:latin typeface="Calibri" panose="020F0502020204030204"/>
                <a:ea typeface="Calibri" panose="020F0502020204030204"/>
                <a:cs typeface="Calibri" panose="020F0502020204030204"/>
                <a:sym typeface="Calibri" panose="020F0502020204030204"/>
              </a:rPr>
              <a:t>Les entreprises peuvent associer différents services Web de manière dynamique afin d'exécuter des transactions complexes demandant un minimum de programmation. </a:t>
            </a:r>
          </a:p>
          <a:p>
            <a:pPr marL="0" lvl="0" indent="0" algn="l" rtl="0">
              <a:spcBef>
                <a:spcPts val="0"/>
              </a:spcBef>
              <a:spcAft>
                <a:spcPts val="0"/>
              </a:spcAft>
              <a:buNone/>
            </a:pPr>
            <a:r>
              <a:rPr lang="fr-FR" sz="1200" b="0" i="0">
                <a:solidFill>
                  <a:schemeClr val="dk1"/>
                </a:solidFill>
                <a:latin typeface="Calibri" panose="020F0502020204030204"/>
                <a:ea typeface="Calibri" panose="020F0502020204030204"/>
                <a:cs typeface="Calibri" panose="020F0502020204030204"/>
                <a:sym typeface="Calibri" panose="020F0502020204030204"/>
              </a:rPr>
              <a:t>Les services Web permettent aux acheteurs et aux fournisseurs du monde entier de se trouver, d'entrer en contact de manière dynamique, et d'exécuter des transactions en temps réel, le tout avec très peu d'interaction humaine.</a:t>
            </a:r>
          </a:p>
        </p:txBody>
      </p:sp>
      <p:sp>
        <p:nvSpPr>
          <p:cNvPr id="481" name="Google Shape;481;p1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37</a:t>
            </a:fld>
            <a:endParaRPr lang="fr-F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0" i="0">
                <a:solidFill>
                  <a:schemeClr val="dk1"/>
                </a:solidFill>
                <a:latin typeface="Calibri" panose="020F0502020204030204"/>
                <a:ea typeface="Calibri" panose="020F0502020204030204"/>
                <a:cs typeface="Calibri" panose="020F0502020204030204"/>
                <a:sym typeface="Calibri" panose="020F0502020204030204"/>
              </a:rPr>
              <a:t>Un service Web est un ensemble de fonctions d'applications associées pouvant être appelées par programme via Internet. </a:t>
            </a:r>
          </a:p>
          <a:p>
            <a:pPr marL="0" lvl="0" indent="0" algn="l" rtl="0">
              <a:spcBef>
                <a:spcPts val="0"/>
              </a:spcBef>
              <a:spcAft>
                <a:spcPts val="0"/>
              </a:spcAft>
              <a:buNone/>
            </a:pPr>
            <a:r>
              <a:rPr lang="fr-FR" sz="1200" b="0" i="0">
                <a:solidFill>
                  <a:schemeClr val="dk1"/>
                </a:solidFill>
                <a:latin typeface="Calibri" panose="020F0502020204030204"/>
                <a:ea typeface="Calibri" panose="020F0502020204030204"/>
                <a:cs typeface="Calibri" panose="020F0502020204030204"/>
                <a:sym typeface="Calibri" panose="020F0502020204030204"/>
              </a:rPr>
              <a:t>Les entreprises peuvent associer différents services Web de manière dynamique afin d'exécuter des transactions complexes demandant un minimum de programmation. </a:t>
            </a:r>
          </a:p>
          <a:p>
            <a:pPr marL="0" lvl="0" indent="0" algn="l" rtl="0">
              <a:spcBef>
                <a:spcPts val="0"/>
              </a:spcBef>
              <a:spcAft>
                <a:spcPts val="0"/>
              </a:spcAft>
              <a:buNone/>
            </a:pPr>
            <a:r>
              <a:rPr lang="fr-FR" sz="1200" b="0" i="0">
                <a:solidFill>
                  <a:schemeClr val="dk1"/>
                </a:solidFill>
                <a:latin typeface="Calibri" panose="020F0502020204030204"/>
                <a:ea typeface="Calibri" panose="020F0502020204030204"/>
                <a:cs typeface="Calibri" panose="020F0502020204030204"/>
                <a:sym typeface="Calibri" panose="020F0502020204030204"/>
              </a:rPr>
              <a:t>Les services Web permettent aux acheteurs et aux fournisseurs du monde entier de se trouver, d'entrer en contact de manière dynamique, et d'exécuter des transactions en temps réel, le tout avec très peu d'interaction humaine.</a:t>
            </a:r>
          </a:p>
        </p:txBody>
      </p:sp>
      <p:sp>
        <p:nvSpPr>
          <p:cNvPr id="481" name="Google Shape;481;p1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38</a:t>
            </a:fld>
            <a:endParaRPr lang="fr-F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1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p18: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A voir GraphQL: Autres familles de SW!!!!!!!!</a:t>
            </a:r>
          </a:p>
        </p:txBody>
      </p:sp>
      <p:sp>
        <p:nvSpPr>
          <p:cNvPr id="491" name="Google Shape;491;p18: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39</a:t>
            </a:fld>
            <a:endParaRPr lang="fr-F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5b1bb62912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g25b1bb62912_0_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25: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25: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2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2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p2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1" i="0" dirty="0">
                <a:solidFill>
                  <a:schemeClr val="dk1"/>
                </a:solidFill>
                <a:latin typeface="Calibri" panose="020F0502020204030204"/>
                <a:ea typeface="Calibri" panose="020F0502020204030204"/>
                <a:cs typeface="Calibri" panose="020F0502020204030204"/>
                <a:sym typeface="Calibri" panose="020F0502020204030204"/>
              </a:rPr>
              <a:t>Les services Web sont autonomes.</a:t>
            </a:r>
            <a:r>
              <a:rPr lang="fr-FR" sz="1200" b="0" i="0" dirty="0">
                <a:solidFill>
                  <a:schemeClr val="dk1"/>
                </a:solidFill>
                <a:latin typeface="Calibri" panose="020F0502020204030204"/>
                <a:ea typeface="Calibri" panose="020F0502020204030204"/>
                <a:cs typeface="Calibri" panose="020F0502020204030204"/>
                <a:sym typeface="Calibri" panose="020F0502020204030204"/>
              </a:rPr>
              <a:t> Côté client, aucun logiciel supplémentaire n'est requis. Un simple langage de programmation prenant en charge XML et les clients HTTP suffit pour commencer. Côté serveur, un serveur Web et un moteur de servlets sont nécessaires. Le client et le serveur peuvent être mis en </a:t>
            </a:r>
            <a:r>
              <a:rPr lang="fr-FR" sz="1200" b="0" i="0" dirty="0" err="1">
                <a:solidFill>
                  <a:schemeClr val="dk1"/>
                </a:solidFill>
                <a:latin typeface="Calibri" panose="020F0502020204030204"/>
                <a:ea typeface="Calibri" panose="020F0502020204030204"/>
                <a:cs typeface="Calibri" panose="020F0502020204030204"/>
                <a:sym typeface="Calibri" panose="020F0502020204030204"/>
              </a:rPr>
              <a:t>oeuvre</a:t>
            </a:r>
            <a:r>
              <a:rPr lang="fr-FR" sz="1200" b="0" i="0" dirty="0">
                <a:solidFill>
                  <a:schemeClr val="dk1"/>
                </a:solidFill>
                <a:latin typeface="Calibri" panose="020F0502020204030204"/>
                <a:ea typeface="Calibri" panose="020F0502020204030204"/>
                <a:cs typeface="Calibri" panose="020F0502020204030204"/>
                <a:sym typeface="Calibri" panose="020F0502020204030204"/>
              </a:rPr>
              <a:t> dans différents environnements. Le service Web peut activer une application existante sans qu'il soit nécessaire d'écrire la moindre ligne de code.</a:t>
            </a:r>
            <a:endParaRPr dirty="0"/>
          </a:p>
          <a:p>
            <a:pPr marL="0" lvl="0" indent="0" algn="l" rtl="0">
              <a:spcBef>
                <a:spcPts val="0"/>
              </a:spcBef>
              <a:spcAft>
                <a:spcPts val="0"/>
              </a:spcAft>
              <a:buNone/>
            </a:pPr>
            <a:endParaRPr sz="1200" b="0" i="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1400"/>
              <a:buFont typeface="Arial" panose="020B0604020202020204"/>
              <a:buNone/>
            </a:pPr>
            <a:r>
              <a:rPr lang="fr-FR" sz="1400" b="1" dirty="0">
                <a:latin typeface="Arial" panose="020B0604020202020204"/>
                <a:ea typeface="Arial" panose="020B0604020202020204"/>
                <a:cs typeface="Arial" panose="020B0604020202020204"/>
                <a:sym typeface="Arial" panose="020B0604020202020204"/>
              </a:rPr>
              <a:t>Stateless</a:t>
            </a:r>
            <a:r>
              <a:rPr lang="fr-FR" sz="1400" dirty="0">
                <a:latin typeface="Arial" panose="020B0604020202020204"/>
                <a:ea typeface="Arial" panose="020B0604020202020204"/>
                <a:cs typeface="Arial" panose="020B0604020202020204"/>
                <a:sym typeface="Arial" panose="020B0604020202020204"/>
              </a:rPr>
              <a:t>: C</a:t>
            </a:r>
            <a:r>
              <a:rPr lang="fr-FR" sz="1200" dirty="0">
                <a:latin typeface="Arial" panose="020B0604020202020204"/>
                <a:ea typeface="Arial" panose="020B0604020202020204"/>
                <a:cs typeface="Arial" panose="020B0604020202020204"/>
                <a:sym typeface="Arial" panose="020B0604020202020204"/>
              </a:rPr>
              <a:t>haque requête envoyée au serveur doit contenir toutes les informations relatives à son état et est traitée indépendamment de toutes autres requêtes</a:t>
            </a:r>
            <a:r>
              <a:rPr lang="fr-FR" sz="1400" dirty="0">
                <a:latin typeface="Arial" panose="020B0604020202020204"/>
                <a:ea typeface="Arial" panose="020B0604020202020204"/>
                <a:cs typeface="Arial" panose="020B0604020202020204"/>
                <a:sym typeface="Arial" panose="020B0604020202020204"/>
              </a:rPr>
              <a:t> </a:t>
            </a:r>
            <a:endParaRPr dirty="0"/>
          </a:p>
          <a:p>
            <a:pPr marL="0" lvl="0" indent="0" algn="l" rtl="0">
              <a:spcBef>
                <a:spcPts val="0"/>
              </a:spcBef>
              <a:spcAft>
                <a:spcPts val="0"/>
              </a:spcAft>
              <a:buNone/>
            </a:pPr>
            <a:endParaRPr dirty="0"/>
          </a:p>
        </p:txBody>
      </p:sp>
      <p:sp>
        <p:nvSpPr>
          <p:cNvPr id="605" name="Google Shape;605;p2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43</a:t>
            </a:fld>
            <a:endParaRPr lang="fr-F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2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2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2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2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1: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2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22: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p22: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5b1bb62912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7" name="Google Shape;317;g25b1bb62912_0_6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1625600" y="3257550"/>
            <a:ext cx="89408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Logo EUR-ACE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r>
              <a:rPr lang="fr-FR" sz="1200" b="0" i="0" kern="1200" dirty="0">
                <a:solidFill>
                  <a:schemeClr val="tx1"/>
                </a:solidFill>
                <a:latin typeface="+mn-lt"/>
                <a:ea typeface="+mn-ea"/>
                <a:cs typeface="+mn-cs"/>
              </a:rPr>
              <a:t>En s'intégrant aux services Web, les applications Web peuvent utiliser des informations en temps réel pour créer des applications plus complexes et plus riches.</a:t>
            </a:r>
          </a:p>
          <a:p>
            <a:r>
              <a:rPr lang="fr-FR" sz="1200" b="0" i="0" kern="1200" dirty="0">
                <a:solidFill>
                  <a:schemeClr val="tx1"/>
                </a:solidFill>
                <a:latin typeface="+mn-lt"/>
                <a:ea typeface="+mn-ea"/>
                <a:cs typeface="+mn-cs"/>
              </a:rPr>
              <a:t>L'utilisation de services externes fournit des fonctionnalités que le système n'a pas à implémenter. </a:t>
            </a:r>
          </a:p>
          <a:p>
            <a:endParaRPr lang="fr-FR" sz="1200" b="0" i="0" kern="1200" dirty="0">
              <a:solidFill>
                <a:schemeClr val="tx1"/>
              </a:solidFill>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F625E8A9-CB10-4225-8F98-D9B9A73F8CB6}" type="slidenum">
              <a:rPr lang="fr-FR" smtClean="0"/>
              <a:t>52</a:t>
            </a:fld>
            <a:endParaRPr lang="fr-F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30: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5" name="Google Shape;645;p30: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1524000" y="1122362"/>
            <a:ext cx="9144000" cy="2387601"/>
          </a:xfrm>
          <a:prstGeom prst="rect">
            <a:avLst/>
          </a:prstGeom>
          <a:noFill/>
          <a:ln>
            <a:noFill/>
          </a:ln>
        </p:spPr>
        <p:txBody>
          <a:bodyPr spcFirstLastPara="1" wrap="square" lIns="45700" tIns="45700" rIns="45700" bIns="45700" anchor="b" anchorCtr="0">
            <a:normAutofit/>
          </a:bodyPr>
          <a:lstStyle>
            <a:lvl1pPr lvl="0" algn="ctr">
              <a:lnSpc>
                <a:spcPct val="90000"/>
              </a:lnSpc>
              <a:spcBef>
                <a:spcPts val="0"/>
              </a:spcBef>
              <a:spcAft>
                <a:spcPts val="0"/>
              </a:spcAft>
              <a:buClr>
                <a:srgbClr val="000000"/>
              </a:buClr>
              <a:buSzPts val="6000"/>
              <a:buFont typeface="Calibri" panose="020F0502020204030204"/>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10"/>
          <p:cNvSpPr txBox="1">
            <a:spLocks noGrp="1"/>
          </p:cNvSpPr>
          <p:nvPr>
            <p:ph type="body" idx="1"/>
          </p:nvPr>
        </p:nvSpPr>
        <p:spPr>
          <a:xfrm>
            <a:off x="1524000" y="3602037"/>
            <a:ext cx="9144000" cy="1655764"/>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000000"/>
              </a:buClr>
              <a:buSzPts val="2400"/>
              <a:buFont typeface="Calibri" panose="020F0502020204030204"/>
              <a:buNone/>
              <a:defRPr sz="2400"/>
            </a:lvl1pPr>
            <a:lvl2pPr marL="914400" lvl="1" indent="-228600" algn="ctr">
              <a:lnSpc>
                <a:spcPct val="90000"/>
              </a:lnSpc>
              <a:spcBef>
                <a:spcPts val="1000"/>
              </a:spcBef>
              <a:spcAft>
                <a:spcPts val="0"/>
              </a:spcAft>
              <a:buClr>
                <a:srgbClr val="000000"/>
              </a:buClr>
              <a:buSzPts val="2400"/>
              <a:buFont typeface="Calibri" panose="020F0502020204030204"/>
              <a:buNone/>
              <a:defRPr sz="2400"/>
            </a:lvl2pPr>
            <a:lvl3pPr marL="1371600" lvl="2" indent="-228600" algn="ctr">
              <a:lnSpc>
                <a:spcPct val="90000"/>
              </a:lnSpc>
              <a:spcBef>
                <a:spcPts val="1000"/>
              </a:spcBef>
              <a:spcAft>
                <a:spcPts val="0"/>
              </a:spcAft>
              <a:buClr>
                <a:srgbClr val="000000"/>
              </a:buClr>
              <a:buSzPts val="2400"/>
              <a:buFont typeface="Calibri" panose="020F0502020204030204"/>
              <a:buNone/>
              <a:defRPr sz="2400"/>
            </a:lvl3pPr>
            <a:lvl4pPr marL="1828800" lvl="3" indent="-228600" algn="ctr">
              <a:lnSpc>
                <a:spcPct val="90000"/>
              </a:lnSpc>
              <a:spcBef>
                <a:spcPts val="1000"/>
              </a:spcBef>
              <a:spcAft>
                <a:spcPts val="0"/>
              </a:spcAft>
              <a:buClr>
                <a:srgbClr val="000000"/>
              </a:buClr>
              <a:buSzPts val="2400"/>
              <a:buFont typeface="Calibri" panose="020F0502020204030204"/>
              <a:buNone/>
              <a:defRPr sz="2400"/>
            </a:lvl4pPr>
            <a:lvl5pPr marL="2286000" lvl="4" indent="-228600" algn="ctr">
              <a:lnSpc>
                <a:spcPct val="90000"/>
              </a:lnSpc>
              <a:spcBef>
                <a:spcPts val="1000"/>
              </a:spcBef>
              <a:spcAft>
                <a:spcPts val="0"/>
              </a:spcAft>
              <a:buClr>
                <a:srgbClr val="000000"/>
              </a:buClr>
              <a:buSzPts val="2400"/>
              <a:buFont typeface="Calibri" panose="020F0502020204030204"/>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2" name="Google Shape;12;p10"/>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5" name="Google Shape;15;p11"/>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6" name="Google Shape;16;p1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3"/>
        <p:cNvGrpSpPr/>
        <p:nvPr/>
      </p:nvGrpSpPr>
      <p:grpSpPr>
        <a:xfrm>
          <a:off x="0" y="0"/>
          <a:ext cx="0" cy="0"/>
          <a:chOff x="0" y="0"/>
          <a:chExt cx="0" cy="0"/>
        </a:xfrm>
      </p:grpSpPr>
      <p:sp>
        <p:nvSpPr>
          <p:cNvPr id="24" name="Google Shape;24;p13"/>
          <p:cNvSpPr txBox="1">
            <a:spLocks noGrp="1"/>
          </p:cNvSpPr>
          <p:nvPr>
            <p:ph type="title"/>
          </p:nvPr>
        </p:nvSpPr>
        <p:spPr>
          <a:xfrm>
            <a:off x="831850" y="1709738"/>
            <a:ext cx="10515600" cy="2852737"/>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6000"/>
              <a:buFont typeface="Calibri" panose="020F0502020204030204"/>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5" name="Google Shape;25;p13"/>
          <p:cNvSpPr txBox="1">
            <a:spLocks noGrp="1"/>
          </p:cNvSpPr>
          <p:nvPr>
            <p:ph type="body" idx="1"/>
          </p:nvPr>
        </p:nvSpPr>
        <p:spPr>
          <a:xfrm>
            <a:off x="831850" y="4589462"/>
            <a:ext cx="10515600" cy="1500189"/>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400"/>
              <a:buFont typeface="Calibri" panose="020F0502020204030204"/>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Calibri" panose="020F0502020204030204"/>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Calibri" panose="020F0502020204030204"/>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Calibri" panose="020F0502020204030204"/>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Calibri" panose="020F0502020204030204"/>
              <a:buNone/>
              <a:defRPr sz="24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26" name="Google Shape;26;p13"/>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9787" y="365125"/>
            <a:ext cx="10515601"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9" name="Google Shape;29;p14"/>
          <p:cNvSpPr txBox="1">
            <a:spLocks noGrp="1"/>
          </p:cNvSpPr>
          <p:nvPr>
            <p:ph type="body" idx="1"/>
          </p:nvPr>
        </p:nvSpPr>
        <p:spPr>
          <a:xfrm>
            <a:off x="839787" y="1681163"/>
            <a:ext cx="5157790" cy="823914"/>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Calibri" panose="020F0502020204030204"/>
              <a:buNone/>
              <a:defRPr sz="2400" b="1"/>
            </a:lvl1pPr>
            <a:lvl2pPr marL="914400" lvl="1" indent="-228600" algn="l">
              <a:lnSpc>
                <a:spcPct val="90000"/>
              </a:lnSpc>
              <a:spcBef>
                <a:spcPts val="1000"/>
              </a:spcBef>
              <a:spcAft>
                <a:spcPts val="0"/>
              </a:spcAft>
              <a:buClr>
                <a:srgbClr val="000000"/>
              </a:buClr>
              <a:buSzPts val="2400"/>
              <a:buFont typeface="Calibri" panose="020F0502020204030204"/>
              <a:buNone/>
              <a:defRPr sz="2400" b="1"/>
            </a:lvl2pPr>
            <a:lvl3pPr marL="1371600" lvl="2" indent="-228600" algn="l">
              <a:lnSpc>
                <a:spcPct val="90000"/>
              </a:lnSpc>
              <a:spcBef>
                <a:spcPts val="1000"/>
              </a:spcBef>
              <a:spcAft>
                <a:spcPts val="0"/>
              </a:spcAft>
              <a:buClr>
                <a:srgbClr val="000000"/>
              </a:buClr>
              <a:buSzPts val="2400"/>
              <a:buFont typeface="Calibri" panose="020F0502020204030204"/>
              <a:buNone/>
              <a:defRPr sz="2400" b="1"/>
            </a:lvl3pPr>
            <a:lvl4pPr marL="1828800" lvl="3" indent="-228600" algn="l">
              <a:lnSpc>
                <a:spcPct val="90000"/>
              </a:lnSpc>
              <a:spcBef>
                <a:spcPts val="1000"/>
              </a:spcBef>
              <a:spcAft>
                <a:spcPts val="0"/>
              </a:spcAft>
              <a:buClr>
                <a:srgbClr val="000000"/>
              </a:buClr>
              <a:buSzPts val="2400"/>
              <a:buFont typeface="Calibri" panose="020F0502020204030204"/>
              <a:buNone/>
              <a:defRPr sz="2400" b="1"/>
            </a:lvl4pPr>
            <a:lvl5pPr marL="2286000" lvl="4" indent="-228600" algn="l">
              <a:lnSpc>
                <a:spcPct val="90000"/>
              </a:lnSpc>
              <a:spcBef>
                <a:spcPts val="1000"/>
              </a:spcBef>
              <a:spcAft>
                <a:spcPts val="0"/>
              </a:spcAft>
              <a:buClr>
                <a:srgbClr val="000000"/>
              </a:buClr>
              <a:buSzPts val="2400"/>
              <a:buFont typeface="Calibri" panose="020F0502020204030204"/>
              <a:buNone/>
              <a:defRPr sz="2400" b="1"/>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30" name="Google Shape;30;p14"/>
          <p:cNvSpPr txBox="1">
            <a:spLocks noGrp="1"/>
          </p:cNvSpPr>
          <p:nvPr>
            <p:ph type="body" idx="2"/>
          </p:nvPr>
        </p:nvSpPr>
        <p:spPr>
          <a:xfrm>
            <a:off x="6172200" y="1681163"/>
            <a:ext cx="5183188" cy="823914"/>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31" name="Google Shape;31;p14"/>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15"/>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4" name="Google Shape;34;p15"/>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16"/>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7"/>
        <p:cNvGrpSpPr/>
        <p:nvPr/>
      </p:nvGrpSpPr>
      <p:grpSpPr>
        <a:xfrm>
          <a:off x="0" y="0"/>
          <a:ext cx="0" cy="0"/>
          <a:chOff x="0" y="0"/>
          <a:chExt cx="0" cy="0"/>
        </a:xfrm>
      </p:grpSpPr>
      <p:sp>
        <p:nvSpPr>
          <p:cNvPr id="38" name="Google Shape;38;p17"/>
          <p:cNvSpPr txBox="1">
            <a:spLocks noGrp="1"/>
          </p:cNvSpPr>
          <p:nvPr>
            <p:ph type="title"/>
          </p:nvPr>
        </p:nvSpPr>
        <p:spPr>
          <a:xfrm>
            <a:off x="839787" y="457200"/>
            <a:ext cx="393224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Calibri" panose="020F0502020204030204"/>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9" name="Google Shape;39;p17"/>
          <p:cNvSpPr txBox="1">
            <a:spLocks noGrp="1"/>
          </p:cNvSpPr>
          <p:nvPr>
            <p:ph type="body" idx="1"/>
          </p:nvPr>
        </p:nvSpPr>
        <p:spPr>
          <a:xfrm>
            <a:off x="5183187" y="987425"/>
            <a:ext cx="6172202" cy="4873625"/>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Char char="•"/>
              <a:defRPr sz="3200"/>
            </a:lvl1pPr>
            <a:lvl2pPr marL="914400" lvl="1" indent="-431800" algn="l">
              <a:lnSpc>
                <a:spcPct val="90000"/>
              </a:lnSpc>
              <a:spcBef>
                <a:spcPts val="1000"/>
              </a:spcBef>
              <a:spcAft>
                <a:spcPts val="0"/>
              </a:spcAft>
              <a:buClr>
                <a:srgbClr val="000000"/>
              </a:buClr>
              <a:buSzPts val="3200"/>
              <a:buChar char="•"/>
              <a:defRPr sz="3200"/>
            </a:lvl2pPr>
            <a:lvl3pPr marL="1371600" lvl="2" indent="-431800" algn="l">
              <a:lnSpc>
                <a:spcPct val="90000"/>
              </a:lnSpc>
              <a:spcBef>
                <a:spcPts val="1000"/>
              </a:spcBef>
              <a:spcAft>
                <a:spcPts val="0"/>
              </a:spcAft>
              <a:buClr>
                <a:srgbClr val="000000"/>
              </a:buClr>
              <a:buSzPts val="3200"/>
              <a:buChar char="•"/>
              <a:defRPr sz="3200"/>
            </a:lvl3pPr>
            <a:lvl4pPr marL="1828800" lvl="3" indent="-431800" algn="l">
              <a:lnSpc>
                <a:spcPct val="90000"/>
              </a:lnSpc>
              <a:spcBef>
                <a:spcPts val="1000"/>
              </a:spcBef>
              <a:spcAft>
                <a:spcPts val="0"/>
              </a:spcAft>
              <a:buClr>
                <a:srgbClr val="000000"/>
              </a:buClr>
              <a:buSzPts val="3200"/>
              <a:buChar char="•"/>
              <a:defRPr sz="3200"/>
            </a:lvl4pPr>
            <a:lvl5pPr marL="2286000" lvl="4" indent="-431800" algn="l">
              <a:lnSpc>
                <a:spcPct val="90000"/>
              </a:lnSpc>
              <a:spcBef>
                <a:spcPts val="1000"/>
              </a:spcBef>
              <a:spcAft>
                <a:spcPts val="0"/>
              </a:spcAft>
              <a:buClr>
                <a:srgbClr val="000000"/>
              </a:buClr>
              <a:buSzPts val="3200"/>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0" name="Google Shape;40;p17"/>
          <p:cNvSpPr txBox="1">
            <a:spLocks noGrp="1"/>
          </p:cNvSpPr>
          <p:nvPr>
            <p:ph type="body" idx="2"/>
          </p:nvPr>
        </p:nvSpPr>
        <p:spPr>
          <a:xfrm>
            <a:off x="839787" y="2057400"/>
            <a:ext cx="3932238" cy="381158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1" name="Google Shape;41;p17"/>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839787" y="457200"/>
            <a:ext cx="393224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Calibri" panose="020F0502020204030204"/>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4" name="Google Shape;44;p18"/>
          <p:cNvSpPr>
            <a:spLocks noGrp="1"/>
          </p:cNvSpPr>
          <p:nvPr>
            <p:ph type="pic" idx="2"/>
          </p:nvPr>
        </p:nvSpPr>
        <p:spPr>
          <a:xfrm>
            <a:off x="5183187" y="987425"/>
            <a:ext cx="6172202" cy="4873625"/>
          </a:xfrm>
          <a:prstGeom prst="rect">
            <a:avLst/>
          </a:prstGeom>
          <a:noFill/>
          <a:ln>
            <a:noFill/>
          </a:ln>
        </p:spPr>
      </p:sp>
      <p:sp>
        <p:nvSpPr>
          <p:cNvPr id="45" name="Google Shape;45;p18"/>
          <p:cNvSpPr txBox="1">
            <a:spLocks noGrp="1"/>
          </p:cNvSpPr>
          <p:nvPr>
            <p:ph type="body" idx="1"/>
          </p:nvPr>
        </p:nvSpPr>
        <p:spPr>
          <a:xfrm>
            <a:off x="839787" y="2057400"/>
            <a:ext cx="3932240" cy="381158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Calibri" panose="020F0502020204030204"/>
              <a:buNone/>
              <a:defRPr sz="1600"/>
            </a:lvl1pPr>
            <a:lvl2pPr marL="914400" lvl="1" indent="-228600" algn="l">
              <a:lnSpc>
                <a:spcPct val="90000"/>
              </a:lnSpc>
              <a:spcBef>
                <a:spcPts val="1000"/>
              </a:spcBef>
              <a:spcAft>
                <a:spcPts val="0"/>
              </a:spcAft>
              <a:buClr>
                <a:srgbClr val="000000"/>
              </a:buClr>
              <a:buSzPts val="1600"/>
              <a:buFont typeface="Calibri" panose="020F0502020204030204"/>
              <a:buNone/>
              <a:defRPr sz="1600"/>
            </a:lvl2pPr>
            <a:lvl3pPr marL="1371600" lvl="2" indent="-228600" algn="l">
              <a:lnSpc>
                <a:spcPct val="90000"/>
              </a:lnSpc>
              <a:spcBef>
                <a:spcPts val="1000"/>
              </a:spcBef>
              <a:spcAft>
                <a:spcPts val="0"/>
              </a:spcAft>
              <a:buClr>
                <a:srgbClr val="000000"/>
              </a:buClr>
              <a:buSzPts val="1600"/>
              <a:buFont typeface="Calibri" panose="020F0502020204030204"/>
              <a:buNone/>
              <a:defRPr sz="1600"/>
            </a:lvl3pPr>
            <a:lvl4pPr marL="1828800" lvl="3" indent="-228600" algn="l">
              <a:lnSpc>
                <a:spcPct val="90000"/>
              </a:lnSpc>
              <a:spcBef>
                <a:spcPts val="1000"/>
              </a:spcBef>
              <a:spcAft>
                <a:spcPts val="0"/>
              </a:spcAft>
              <a:buClr>
                <a:srgbClr val="000000"/>
              </a:buClr>
              <a:buSzPts val="1600"/>
              <a:buFont typeface="Calibri" panose="020F0502020204030204"/>
              <a:buNone/>
              <a:defRPr sz="1600"/>
            </a:lvl4pPr>
            <a:lvl5pPr marL="2286000" lvl="4" indent="-228600" algn="l">
              <a:lnSpc>
                <a:spcPct val="90000"/>
              </a:lnSpc>
              <a:spcBef>
                <a:spcPts val="1000"/>
              </a:spcBef>
              <a:spcAft>
                <a:spcPts val="0"/>
              </a:spcAft>
              <a:buClr>
                <a:srgbClr val="000000"/>
              </a:buClr>
              <a:buSzPts val="1600"/>
              <a:buFont typeface="Calibri" panose="020F0502020204030204"/>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6" name="Google Shape;46;p18"/>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47"/>
        <p:cNvGrpSpPr/>
        <p:nvPr/>
      </p:nvGrpSpPr>
      <p:grpSpPr>
        <a:xfrm>
          <a:off x="0" y="0"/>
          <a:ext cx="0" cy="0"/>
          <a:chOff x="0" y="0"/>
          <a:chExt cx="0" cy="0"/>
        </a:xfrm>
      </p:grpSpPr>
      <p:sp>
        <p:nvSpPr>
          <p:cNvPr id="48" name="Google Shape;48;p19"/>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9" name="Google Shape;49;p19"/>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0" name="Google Shape;50;p19"/>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51"/>
        <p:cNvGrpSpPr/>
        <p:nvPr/>
      </p:nvGrpSpPr>
      <p:grpSpPr>
        <a:xfrm>
          <a:off x="0" y="0"/>
          <a:ext cx="0" cy="0"/>
          <a:chOff x="0" y="0"/>
          <a:chExt cx="0" cy="0"/>
        </a:xfrm>
      </p:grpSpPr>
      <p:sp>
        <p:nvSpPr>
          <p:cNvPr id="52" name="Google Shape;52;p20"/>
          <p:cNvSpPr txBox="1">
            <a:spLocks noGrp="1"/>
          </p:cNvSpPr>
          <p:nvPr>
            <p:ph type="title"/>
          </p:nvPr>
        </p:nvSpPr>
        <p:spPr>
          <a:xfrm>
            <a:off x="8724900" y="365125"/>
            <a:ext cx="2628900" cy="5811838"/>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3" name="Google Shape;53;p20"/>
          <p:cNvSpPr txBox="1">
            <a:spLocks noGrp="1"/>
          </p:cNvSpPr>
          <p:nvPr>
            <p:ph type="body" idx="1"/>
          </p:nvPr>
        </p:nvSpPr>
        <p:spPr>
          <a:xfrm>
            <a:off x="838200" y="365125"/>
            <a:ext cx="7734300" cy="58118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4" name="Google Shape;54;p20"/>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9" name="Google Shape;19;p12"/>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20" name="Google Shape;20;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1" name="Google Shape;21;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800"/>
              <a:buFont typeface="Calibri" panose="020F0502020204030204"/>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2" name="Google Shape;22;p12"/>
          <p:cNvSpPr txBox="1">
            <a:spLocks noGrp="1"/>
          </p:cNvSpPr>
          <p:nvPr>
            <p:ph type="sldNum" idx="12"/>
          </p:nvPr>
        </p:nvSpPr>
        <p:spPr>
          <a:xfrm>
            <a:off x="11003388" y="6400415"/>
            <a:ext cx="350413" cy="276995"/>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2"/>
          <p:cNvSpPr txBox="1">
            <a:spLocks noGrp="1"/>
          </p:cNvSpPr>
          <p:nvPr>
            <p:ph type="body" idx="1"/>
          </p:nvPr>
        </p:nvSpPr>
        <p:spPr>
          <a:xfrm>
            <a:off x="485343" y="2536952"/>
            <a:ext cx="6479540" cy="261810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panose="020B0604020202020204"/>
                <a:ea typeface="Arial" panose="020B0604020202020204"/>
                <a:cs typeface="Arial" panose="020B0604020202020204"/>
                <a:sym typeface="Arial" panose="020B0604020202020204"/>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2"/>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1pPr>
            <a:lvl2pPr marL="38100" marR="0" lvl="1"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2pPr>
            <a:lvl3pPr marL="38100" marR="0" lvl="2"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3pPr>
            <a:lvl4pPr marL="38100" marR="0" lvl="3"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4pPr>
            <a:lvl5pPr marL="38100" marR="0" lvl="4"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5pPr>
            <a:lvl6pPr marL="38100" marR="0" lvl="5"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6pPr>
            <a:lvl7pPr marL="38100" marR="0" lvl="6"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7pPr>
            <a:lvl8pPr marL="38100" marR="0" lvl="7"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8pPr>
            <a:lvl9pPr marL="38100" marR="0" lvl="8"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9pPr>
          </a:lstStyle>
          <a:p>
            <a:pPr marL="38100" lvl="0" indent="0" algn="l"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33"/>
          <p:cNvSpPr txBox="1">
            <a:spLocks noGrp="1"/>
          </p:cNvSpPr>
          <p:nvPr>
            <p:ph type="ctrTitle"/>
          </p:nvPr>
        </p:nvSpPr>
        <p:spPr>
          <a:xfrm>
            <a:off x="4504436" y="1049477"/>
            <a:ext cx="3183127" cy="94043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3"/>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3"/>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1pPr>
            <a:lvl2pPr marL="38100" marR="0" lvl="1"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2pPr>
            <a:lvl3pPr marL="38100" marR="0" lvl="2"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3pPr>
            <a:lvl4pPr marL="38100" marR="0" lvl="3"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4pPr>
            <a:lvl5pPr marL="38100" marR="0" lvl="4"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5pPr>
            <a:lvl6pPr marL="38100" marR="0" lvl="5"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6pPr>
            <a:lvl7pPr marL="38100" marR="0" lvl="6"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7pPr>
            <a:lvl8pPr marL="38100" marR="0" lvl="7"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8pPr>
            <a:lvl9pPr marL="38100" marR="0" lvl="8"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9pPr>
          </a:lstStyle>
          <a:p>
            <a:pPr marL="38100" lvl="0" indent="0" algn="l"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34"/>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4"/>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34"/>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34"/>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4"/>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1pPr>
            <a:lvl2pPr marL="38100" marR="0" lvl="1"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2pPr>
            <a:lvl3pPr marL="38100" marR="0" lvl="2"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3pPr>
            <a:lvl4pPr marL="38100" marR="0" lvl="3"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4pPr>
            <a:lvl5pPr marL="38100" marR="0" lvl="4"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5pPr>
            <a:lvl6pPr marL="38100" marR="0" lvl="5"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6pPr>
            <a:lvl7pPr marL="38100" marR="0" lvl="6"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7pPr>
            <a:lvl8pPr marL="38100" marR="0" lvl="7"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8pPr>
            <a:lvl9pPr marL="38100" marR="0" lvl="8"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9pPr>
          </a:lstStyle>
          <a:p>
            <a:pPr marL="38100" lvl="0" indent="0" algn="l"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35"/>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Trebuchet MS" panose="020B0603020202020204"/>
                <a:ea typeface="Trebuchet MS" panose="020B0603020202020204"/>
                <a:cs typeface="Trebuchet MS" panose="020B0603020202020204"/>
                <a:sym typeface="Trebuchet MS" panose="020B0603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5"/>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5"/>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1pPr>
            <a:lvl2pPr marL="38100" marR="0" lvl="1"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2pPr>
            <a:lvl3pPr marL="38100" marR="0" lvl="2"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3pPr>
            <a:lvl4pPr marL="38100" marR="0" lvl="3"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4pPr>
            <a:lvl5pPr marL="38100" marR="0" lvl="4"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5pPr>
            <a:lvl6pPr marL="38100" marR="0" lvl="5"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6pPr>
            <a:lvl7pPr marL="38100" marR="0" lvl="6"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7pPr>
            <a:lvl8pPr marL="38100" marR="0" lvl="7"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8pPr>
            <a:lvl9pPr marL="38100" marR="0" lvl="8"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9pPr>
          </a:lstStyle>
          <a:p>
            <a:pPr marL="38100" lvl="0" indent="0" algn="l" rtl="0">
              <a:spcBef>
                <a:spcPts val="0"/>
              </a:spcBef>
              <a:spcAft>
                <a:spcPts val="0"/>
              </a:spcAft>
              <a:buNone/>
            </a:pPr>
            <a:fld id="{00000000-1234-1234-1234-123412341234}" type="slidenum">
              <a:rPr lang="fr-FR"/>
              <a:t>‹N°›</a:t>
            </a:fld>
            <a:endParaRPr lang="fr-F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
        <p:cNvGrpSpPr/>
        <p:nvPr/>
      </p:nvGrpSpPr>
      <p:grpSpPr>
        <a:xfrm>
          <a:off x="0" y="0"/>
          <a:ext cx="0" cy="0"/>
          <a:chOff x="0" y="0"/>
          <a:chExt cx="0" cy="0"/>
        </a:xfrm>
      </p:grpSpPr>
      <p:sp>
        <p:nvSpPr>
          <p:cNvPr id="41" name="Google Shape;41;p36"/>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1pPr>
            <a:lvl2pPr marL="38100" marR="0" lvl="1"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2pPr>
            <a:lvl3pPr marL="38100" marR="0" lvl="2"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3pPr>
            <a:lvl4pPr marL="38100" marR="0" lvl="3"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4pPr>
            <a:lvl5pPr marL="38100" marR="0" lvl="4"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5pPr>
            <a:lvl6pPr marL="38100" marR="0" lvl="5"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6pPr>
            <a:lvl7pPr marL="38100" marR="0" lvl="6"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7pPr>
            <a:lvl8pPr marL="38100" marR="0" lvl="7"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8pPr>
            <a:lvl9pPr marL="38100" marR="0" lvl="8" indent="0" algn="l">
              <a:lnSpc>
                <a:spcPct val="100000"/>
              </a:lnSpc>
              <a:spcBef>
                <a:spcPts val="0"/>
              </a:spcBef>
              <a:buNone/>
              <a:defRPr sz="1200" b="0" i="0">
                <a:solidFill>
                  <a:srgbClr val="878787"/>
                </a:solidFill>
                <a:latin typeface="Trebuchet MS" panose="020B0603020202020204"/>
                <a:ea typeface="Trebuchet MS" panose="020B0603020202020204"/>
                <a:cs typeface="Trebuchet MS" panose="020B0603020202020204"/>
                <a:sym typeface="Trebuchet MS" panose="020B0603020202020204"/>
              </a:defRPr>
            </a:lvl9pPr>
          </a:lstStyle>
          <a:p>
            <a:pPr marL="38100" lvl="0" indent="0" algn="l" rtl="0">
              <a:spcBef>
                <a:spcPts val="0"/>
              </a:spcBef>
              <a:spcAft>
                <a:spcPts val="0"/>
              </a:spcAft>
              <a:buNone/>
            </a:pPr>
            <a:fld id="{00000000-1234-1234-1234-123412341234}" type="slidenum">
              <a:rPr lang="fr-F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Clr>
                <a:srgbClr val="000000"/>
              </a:buClr>
              <a:buSzPts val="4400"/>
              <a:buFont typeface="Calibri" panose="020F0502020204030204"/>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L="1371600" marR="0" lvl="2"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L="1828800" marR="0" lvl="3"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L="2286000" marR="0" lvl="4"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L="2743200" marR="0" lvl="5"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L="3200400" marR="0" lvl="6"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L="3657600" marR="0" lvl="7"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L="4114800" marR="0" lvl="8" indent="-406400" algn="l" rtl="0">
              <a:lnSpc>
                <a:spcPct val="90000"/>
              </a:lnSpc>
              <a:spcBef>
                <a:spcPts val="1000"/>
              </a:spcBef>
              <a:spcAft>
                <a:spcPts val="0"/>
              </a:spcAft>
              <a:buClr>
                <a:srgbClr val="000000"/>
              </a:buClr>
              <a:buSzPts val="2800"/>
              <a:buFont typeface="Arial" panose="020B0604020202020204"/>
              <a:buChar char="•"/>
              <a:defRPr sz="2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9"/>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t>‹N°›</a:t>
            </a:fld>
            <a:endParaRPr lang="fr-F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p:nvPr/>
        </p:nvSpPr>
        <p:spPr>
          <a:xfrm>
            <a:off x="0" y="0"/>
            <a:ext cx="12192000" cy="6857996"/>
          </a:xfrm>
          <a:prstGeom prst="rect">
            <a:avLst/>
          </a:prstGeom>
          <a:blipFill rotWithShape="1">
            <a:blip r:embed="rId7"/>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11;p31"/>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4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1"/>
          <p:cNvSpPr txBox="1">
            <a:spLocks noGrp="1"/>
          </p:cNvSpPr>
          <p:nvPr>
            <p:ph type="body" idx="1"/>
          </p:nvPr>
        </p:nvSpPr>
        <p:spPr>
          <a:xfrm>
            <a:off x="485343" y="2536952"/>
            <a:ext cx="6479540" cy="261810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31"/>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200" b="0" i="0">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3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5" name="Google Shape;15;p31"/>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1pPr>
            <a:lvl2pPr marL="38100" marR="0" lvl="1"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2pPr>
            <a:lvl3pPr marL="38100" marR="0" lvl="2"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3pPr>
            <a:lvl4pPr marL="38100" marR="0" lvl="3"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4pPr>
            <a:lvl5pPr marL="38100" marR="0" lvl="4"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5pPr>
            <a:lvl6pPr marL="38100" marR="0" lvl="5"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6pPr>
            <a:lvl7pPr marL="38100" marR="0" lvl="6"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7pPr>
            <a:lvl8pPr marL="38100" marR="0" lvl="7"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8pPr>
            <a:lvl9pPr marL="38100" marR="0" lvl="8" indent="0" algn="l" rtl="0">
              <a:lnSpc>
                <a:spcPct val="100000"/>
              </a:lnSpc>
              <a:spcBef>
                <a:spcPts val="0"/>
              </a:spcBef>
              <a:buNone/>
              <a:defRPr sz="1200" b="0" i="0" u="none">
                <a:solidFill>
                  <a:srgbClr val="878787"/>
                </a:solidFill>
                <a:latin typeface="Trebuchet MS" panose="020B0603020202020204"/>
                <a:ea typeface="Trebuchet MS" panose="020B0603020202020204"/>
                <a:cs typeface="Trebuchet MS" panose="020B0603020202020204"/>
                <a:sym typeface="Trebuchet MS" panose="020B0603020202020204"/>
              </a:defRPr>
            </a:lvl9pPr>
          </a:lstStyle>
          <a:p>
            <a:pPr marL="38100" lvl="0" indent="0" algn="l" rtl="0">
              <a:spcBef>
                <a:spcPts val="0"/>
              </a:spcBef>
              <a:spcAft>
                <a:spcPts val="0"/>
              </a:spcAft>
              <a:buNone/>
            </a:pPr>
            <a:fld id="{00000000-1234-1234-1234-123412341234}" type="slidenum">
              <a:rPr lang="fr-FR"/>
              <a:t>‹N°›</a:t>
            </a:fld>
            <a:endParaRPr lang="fr-F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1.xml"/><Relationship Id="rId1" Type="http://schemas.openxmlformats.org/officeDocument/2006/relationships/themeOverride" Target="../theme/themeOverride1.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jpe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0.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2.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4.jpeg"/><Relationship Id="rId7" Type="http://schemas.openxmlformats.org/officeDocument/2006/relationships/image" Target="../media/image12.png"/><Relationship Id="rId12"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1.jpeg"/><Relationship Id="rId11" Type="http://schemas.openxmlformats.org/officeDocument/2006/relationships/image" Target="../media/image30.png"/><Relationship Id="rId5" Type="http://schemas.openxmlformats.org/officeDocument/2006/relationships/image" Target="../media/image26.png"/><Relationship Id="rId10" Type="http://schemas.openxmlformats.org/officeDocument/2006/relationships/image" Target="../media/image29.png"/><Relationship Id="rId4" Type="http://schemas.openxmlformats.org/officeDocument/2006/relationships/image" Target="../media/image25.png"/><Relationship Id="rId9"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1.jpeg"/><Relationship Id="rId7" Type="http://schemas.openxmlformats.org/officeDocument/2006/relationships/diagramQuickStyle" Target="../diagrams/quickStyle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6.png"/><Relationship Id="rId4" Type="http://schemas.openxmlformats.org/officeDocument/2006/relationships/image" Target="../media/image12.png"/><Relationship Id="rId9" Type="http://schemas.microsoft.com/office/2007/relationships/diagramDrawing" Target="../diagrams/drawing1.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1.jpeg"/><Relationship Id="rId7"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6.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0.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1.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5.jpeg"/><Relationship Id="rId4" Type="http://schemas.openxmlformats.org/officeDocument/2006/relationships/image" Target="../media/image44.jpeg"/></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6.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7.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6.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12.png"/><Relationship Id="rId3" Type="http://schemas.openxmlformats.org/officeDocument/2006/relationships/image" Target="../media/image11.jpe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58.jpeg"/></Relationships>
</file>

<file path=ppt/slides/_rels/slide4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jpeg"/></Relationships>
</file>

<file path=ppt/slides/_rels/slide5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11.jpe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60.jpeg"/></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11.jpeg"/><Relationship Id="rId7"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63.png"/><Relationship Id="rId11" Type="http://schemas.openxmlformats.org/officeDocument/2006/relationships/image" Target="../media/image12.png"/><Relationship Id="rId5" Type="http://schemas.openxmlformats.org/officeDocument/2006/relationships/image" Target="../media/image62.png"/><Relationship Id="rId10" Type="http://schemas.openxmlformats.org/officeDocument/2006/relationships/image" Target="../media/image6.png"/><Relationship Id="rId4" Type="http://schemas.openxmlformats.org/officeDocument/2006/relationships/image" Target="../media/image61.png"/><Relationship Id="rId9" Type="http://schemas.openxmlformats.org/officeDocument/2006/relationships/image" Target="../media/image66.png"/></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11.jpe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hyperlink" Target="http://e-technologymanagement.com/tm/articles/soa.pdf"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8" Type="http://schemas.openxmlformats.org/officeDocument/2006/relationships/hyperlink" Target="http://design-patterns.fr/introduction-a-la-programmation-orientee-objet" TargetMode="External"/><Relationship Id="rId13" Type="http://schemas.openxmlformats.org/officeDocument/2006/relationships/hyperlink" Target="http://deptinfo.unice.fr/~baude/WS/cours_SOA_AO+FB.pdf" TargetMode="External"/><Relationship Id="rId3" Type="http://schemas.openxmlformats.org/officeDocument/2006/relationships/image" Target="../media/image11.jpeg"/><Relationship Id="rId7" Type="http://schemas.openxmlformats.org/officeDocument/2006/relationships/hyperlink" Target="http://modelseverywhere.wordpress.com/2010/11/04/model-driven-integration/" TargetMode="External"/><Relationship Id="rId12" Type="http://schemas.openxmlformats.org/officeDocument/2006/relationships/hyperlink" Target="http://adslbox.free.fr/rapports/rapport-gl-service-oriented-architecture.pdf" TargetMode="External"/><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hyperlink" Target="https://www.collidu.com/media/catalog/product/img/f/1/f110db6f7d84629dafcfaeadcb26279fb077366f52e2984eb1088f5cae313332/corba-architecture-slide1.png" TargetMode="External"/><Relationship Id="rId11" Type="http://schemas.openxmlformats.org/officeDocument/2006/relationships/hyperlink" Target="https://www.ibisc.univ-evry.fr/~tmelliti/cours/CPAR/cours6.pdf" TargetMode="External"/><Relationship Id="rId5" Type="http://schemas.openxmlformats.org/officeDocument/2006/relationships/hyperlink" Target="https://sagikazarmark.hu/blog/twirphp-a-modern-rpc-framework-for-php/rpc-arch.png" TargetMode="External"/><Relationship Id="rId15" Type="http://schemas.openxmlformats.org/officeDocument/2006/relationships/image" Target="../media/image12.png"/><Relationship Id="rId10" Type="http://schemas.openxmlformats.org/officeDocument/2006/relationships/hyperlink" Target="http://blog.xebia.fr/2009/04/29/soa-du-composant-au-service-lautonomie" TargetMode="External"/><Relationship Id="rId4" Type="http://schemas.openxmlformats.org/officeDocument/2006/relationships/hyperlink" Target="http://fr.wikipedia.org/wiki/Paradigme" TargetMode="External"/><Relationship Id="rId9" Type="http://schemas.openxmlformats.org/officeDocument/2006/relationships/hyperlink" Target="http://blog.xebia.fr/2009/04/29/soa-du-" TargetMode="External"/><Relationship Id="rId14" Type="http://schemas.openxmlformats.org/officeDocument/2006/relationships/hyperlink" Target="https://home.cs.colorado.edu/~kena/classes/7818/f06/lectures/03/figures/rpc1.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59" name="Google Shape;59;p1"/>
          <p:cNvGrpSpPr/>
          <p:nvPr/>
        </p:nvGrpSpPr>
        <p:grpSpPr>
          <a:xfrm>
            <a:off x="0" y="0"/>
            <a:ext cx="12204838" cy="6858001"/>
            <a:chOff x="0" y="0"/>
            <a:chExt cx="12266297" cy="6858001"/>
          </a:xfrm>
        </p:grpSpPr>
        <p:sp>
          <p:nvSpPr>
            <p:cNvPr id="60" name="Google Shape;60;p1"/>
            <p:cNvSpPr/>
            <p:nvPr/>
          </p:nvSpPr>
          <p:spPr>
            <a:xfrm>
              <a:off x="0" y="0"/>
              <a:ext cx="12192000" cy="6858000"/>
            </a:xfrm>
            <a:prstGeom prst="rect">
              <a:avLst/>
            </a:prstGeom>
            <a:blipFill rotWithShape="1">
              <a:blip r:embed="rId3"/>
              <a:tile tx="0" ty="0" sx="100000" sy="100000" flip="none" algn="tl"/>
            </a:bli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61" name="Google Shape;61;p1" descr="image2.png"/>
            <p:cNvPicPr preferRelativeResize="0"/>
            <p:nvPr/>
          </p:nvPicPr>
          <p:blipFill rotWithShape="1">
            <a:blip r:embed="rId4"/>
            <a:srcRect/>
            <a:stretch>
              <a:fillRect/>
            </a:stretch>
          </p:blipFill>
          <p:spPr>
            <a:xfrm>
              <a:off x="74298" y="0"/>
              <a:ext cx="12191999" cy="6858001"/>
            </a:xfrm>
            <a:prstGeom prst="rect">
              <a:avLst/>
            </a:prstGeom>
            <a:noFill/>
            <a:ln>
              <a:noFill/>
            </a:ln>
          </p:spPr>
        </p:pic>
      </p:grpSp>
      <p:pic>
        <p:nvPicPr>
          <p:cNvPr id="62" name="Google Shape;62;p1" descr="Picture 3"/>
          <p:cNvPicPr preferRelativeResize="0"/>
          <p:nvPr/>
        </p:nvPicPr>
        <p:blipFill rotWithShape="1">
          <a:blip r:embed="rId5"/>
          <a:srcRect/>
          <a:stretch>
            <a:fillRect/>
          </a:stretch>
        </p:blipFill>
        <p:spPr>
          <a:xfrm>
            <a:off x="9531349" y="5703304"/>
            <a:ext cx="1322882" cy="934816"/>
          </a:xfrm>
          <a:prstGeom prst="rect">
            <a:avLst/>
          </a:prstGeom>
          <a:noFill/>
          <a:ln>
            <a:noFill/>
          </a:ln>
        </p:spPr>
      </p:pic>
      <p:pic>
        <p:nvPicPr>
          <p:cNvPr id="63" name="Google Shape;63;p1" descr="Picture 3"/>
          <p:cNvPicPr preferRelativeResize="0"/>
          <p:nvPr/>
        </p:nvPicPr>
        <p:blipFill rotWithShape="1">
          <a:blip r:embed="rId6"/>
          <a:srcRect/>
          <a:stretch>
            <a:fillRect/>
          </a:stretch>
        </p:blipFill>
        <p:spPr>
          <a:xfrm flipH="1">
            <a:off x="9220199" y="41076"/>
            <a:ext cx="2846625" cy="1525449"/>
          </a:xfrm>
          <a:prstGeom prst="rect">
            <a:avLst/>
          </a:prstGeom>
          <a:noFill/>
          <a:ln>
            <a:noFill/>
          </a:ln>
        </p:spPr>
      </p:pic>
      <p:pic>
        <p:nvPicPr>
          <p:cNvPr id="64" name="Google Shape;64;p1" descr="Image 11"/>
          <p:cNvPicPr preferRelativeResize="0"/>
          <p:nvPr/>
        </p:nvPicPr>
        <p:blipFill rotWithShape="1">
          <a:blip r:embed="rId7"/>
          <a:srcRect/>
          <a:stretch>
            <a:fillRect/>
          </a:stretch>
        </p:blipFill>
        <p:spPr>
          <a:xfrm>
            <a:off x="1962681" y="5707210"/>
            <a:ext cx="1943102" cy="876302"/>
          </a:xfrm>
          <a:prstGeom prst="rect">
            <a:avLst/>
          </a:prstGeom>
          <a:noFill/>
          <a:ln>
            <a:noFill/>
          </a:ln>
        </p:spPr>
      </p:pic>
      <p:pic>
        <p:nvPicPr>
          <p:cNvPr id="65" name="Google Shape;65;p1" descr="C:\Users\faten\Desktop\CA-19\EURACE.png"/>
          <p:cNvPicPr preferRelativeResize="0"/>
          <p:nvPr/>
        </p:nvPicPr>
        <p:blipFill rotWithShape="1">
          <a:blip r:embed="rId8"/>
          <a:srcRect/>
          <a:stretch>
            <a:fillRect/>
          </a:stretch>
        </p:blipFill>
        <p:spPr>
          <a:xfrm>
            <a:off x="4367808" y="5898412"/>
            <a:ext cx="2731194" cy="544601"/>
          </a:xfrm>
          <a:prstGeom prst="rect">
            <a:avLst/>
          </a:prstGeom>
          <a:noFill/>
          <a:ln>
            <a:noFill/>
          </a:ln>
        </p:spPr>
      </p:pic>
      <p:pic>
        <p:nvPicPr>
          <p:cNvPr id="66" name="Google Shape;66;p1" descr="C:\Users\faten\Desktop\CA-19\CGE.png"/>
          <p:cNvPicPr preferRelativeResize="0"/>
          <p:nvPr/>
        </p:nvPicPr>
        <p:blipFill rotWithShape="1">
          <a:blip r:embed="rId9"/>
          <a:srcRect/>
          <a:stretch>
            <a:fillRect/>
          </a:stretch>
        </p:blipFill>
        <p:spPr>
          <a:xfrm>
            <a:off x="7392144" y="5857579"/>
            <a:ext cx="1728192" cy="583745"/>
          </a:xfrm>
          <a:prstGeom prst="rect">
            <a:avLst/>
          </a:prstGeom>
          <a:noFill/>
          <a:ln>
            <a:noFill/>
          </a:ln>
        </p:spPr>
      </p:pic>
      <p:sp>
        <p:nvSpPr>
          <p:cNvPr id="67" name="Google Shape;67;p1"/>
          <p:cNvSpPr txBox="1">
            <a:spLocks noGrp="1"/>
          </p:cNvSpPr>
          <p:nvPr>
            <p:ph type="subTitle" idx="4294967295"/>
          </p:nvPr>
        </p:nvSpPr>
        <p:spPr>
          <a:xfrm>
            <a:off x="1184850" y="3483525"/>
            <a:ext cx="9822300" cy="1042500"/>
          </a:xfrm>
          <a:prstGeom prst="rect">
            <a:avLst/>
          </a:prstGeom>
          <a:noFill/>
          <a:ln>
            <a:noFill/>
          </a:ln>
        </p:spPr>
        <p:txBody>
          <a:bodyPr spcFirstLastPara="1" wrap="square" lIns="45700" tIns="45700" rIns="45700" bIns="45700" anchor="t" anchorCtr="0">
            <a:noAutofit/>
          </a:bodyPr>
          <a:lstStyle/>
          <a:p>
            <a:pPr marL="0" marR="0" lvl="0" indent="0" algn="ctr" rtl="0">
              <a:lnSpc>
                <a:spcPct val="150000"/>
              </a:lnSpc>
              <a:spcBef>
                <a:spcPts val="0"/>
              </a:spcBef>
              <a:spcAft>
                <a:spcPts val="0"/>
              </a:spcAft>
              <a:buClr>
                <a:srgbClr val="000000"/>
              </a:buClr>
              <a:buSzPts val="6600"/>
              <a:buFont typeface="Arial" panose="020B0604020202020204"/>
              <a:buNone/>
            </a:pPr>
            <a:r>
              <a:rPr lang="fr-FR" sz="3900" b="1" dirty="0">
                <a:latin typeface="Times New Roman" panose="02020603050405020304"/>
                <a:ea typeface="Times New Roman" panose="02020603050405020304"/>
                <a:cs typeface="Times New Roman" panose="02020603050405020304"/>
                <a:sym typeface="Times New Roman" panose="02020603050405020304"/>
              </a:rPr>
              <a:t>Chapitre 1 : Introduction</a:t>
            </a:r>
            <a:endParaRPr sz="39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a:t>
            </a:fld>
            <a:endParaRPr lang="fr-FR"/>
          </a:p>
        </p:txBody>
      </p:sp>
      <p:pic>
        <p:nvPicPr>
          <p:cNvPr id="69" name="Google Shape;69;p1"/>
          <p:cNvPicPr preferRelativeResize="0"/>
          <p:nvPr/>
        </p:nvPicPr>
        <p:blipFill rotWithShape="1">
          <a:blip r:embed="rId10"/>
          <a:srcRect/>
          <a:stretch>
            <a:fillRect/>
          </a:stretch>
        </p:blipFill>
        <p:spPr>
          <a:xfrm>
            <a:off x="125175" y="294100"/>
            <a:ext cx="4832320" cy="1750425"/>
          </a:xfrm>
          <a:prstGeom prst="rect">
            <a:avLst/>
          </a:prstGeom>
          <a:noFill/>
          <a:ln>
            <a:noFill/>
          </a:ln>
        </p:spPr>
      </p:pic>
      <p:sp>
        <p:nvSpPr>
          <p:cNvPr id="70" name="Google Shape;70;p1"/>
          <p:cNvSpPr txBox="1">
            <a:spLocks noGrp="1"/>
          </p:cNvSpPr>
          <p:nvPr>
            <p:ph type="subTitle" idx="4294967295"/>
          </p:nvPr>
        </p:nvSpPr>
        <p:spPr>
          <a:xfrm>
            <a:off x="2312888" y="2725875"/>
            <a:ext cx="7245900" cy="1042500"/>
          </a:xfrm>
          <a:prstGeom prst="rect">
            <a:avLst/>
          </a:prstGeom>
          <a:noFill/>
          <a:ln>
            <a:noFill/>
          </a:ln>
        </p:spPr>
        <p:txBody>
          <a:bodyPr spcFirstLastPara="1" wrap="square" lIns="45700" tIns="45700" rIns="45700" bIns="45700" anchor="t" anchorCtr="0">
            <a:noAutofit/>
          </a:bodyPr>
          <a:lstStyle/>
          <a:p>
            <a:pPr marL="0" marR="0" lvl="0" indent="0" algn="ctr" rtl="0">
              <a:lnSpc>
                <a:spcPct val="150000"/>
              </a:lnSpc>
              <a:spcBef>
                <a:spcPts val="0"/>
              </a:spcBef>
              <a:spcAft>
                <a:spcPts val="0"/>
              </a:spcAft>
              <a:buClr>
                <a:srgbClr val="000000"/>
              </a:buClr>
              <a:buSzPts val="6600"/>
              <a:buFont typeface="Arial" panose="020B0604020202020204"/>
              <a:buNone/>
            </a:pPr>
            <a:r>
              <a:rPr lang="fr-FR" sz="3900" b="1" dirty="0">
                <a:latin typeface="Times New Roman" panose="02020603050405020304"/>
                <a:ea typeface="Times New Roman" panose="02020603050405020304"/>
                <a:cs typeface="Times New Roman" panose="02020603050405020304"/>
                <a:sym typeface="Times New Roman" panose="02020603050405020304"/>
              </a:rPr>
              <a:t>Architecture Orientée Services</a:t>
            </a:r>
            <a:endParaRPr sz="39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 name="Google Shape;71;p1"/>
          <p:cNvSpPr txBox="1"/>
          <p:nvPr/>
        </p:nvSpPr>
        <p:spPr>
          <a:xfrm>
            <a:off x="4842325" y="6443025"/>
            <a:ext cx="427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dirty="0">
                <a:latin typeface="Times New Roman" panose="02020603050405020304"/>
                <a:ea typeface="Times New Roman" panose="02020603050405020304"/>
                <a:cs typeface="Times New Roman" panose="02020603050405020304"/>
                <a:sym typeface="Times New Roman" panose="02020603050405020304"/>
              </a:rPr>
              <a:t>Année universitaire : 2024-2025</a:t>
            </a: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g25b1bb62912_0_14" descr="Picture 2"/>
          <p:cNvPicPr preferRelativeResize="0"/>
          <p:nvPr/>
        </p:nvPicPr>
        <p:blipFill rotWithShape="1">
          <a:blip r:embed="rId3"/>
          <a:srcRect/>
          <a:stretch>
            <a:fillRect/>
          </a:stretch>
        </p:blipFill>
        <p:spPr>
          <a:xfrm>
            <a:off x="0" y="-14121"/>
            <a:ext cx="12652622" cy="6886241"/>
          </a:xfrm>
          <a:prstGeom prst="rect">
            <a:avLst/>
          </a:prstGeom>
          <a:noFill/>
          <a:ln>
            <a:noFill/>
          </a:ln>
        </p:spPr>
      </p:pic>
      <p:sp>
        <p:nvSpPr>
          <p:cNvPr id="86" name="Google Shape;86;g25b1bb62912_0_1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a:t>
            </a:fld>
            <a:endParaRPr lang="fr-FR"/>
          </a:p>
        </p:txBody>
      </p:sp>
      <p:pic>
        <p:nvPicPr>
          <p:cNvPr id="89" name="Google Shape;89;g25b1bb62912_0_14" descr="Image 10"/>
          <p:cNvPicPr preferRelativeResize="0"/>
          <p:nvPr/>
        </p:nvPicPr>
        <p:blipFill rotWithShape="1">
          <a:blip r:embed="rId4"/>
          <a:srcRect/>
          <a:stretch>
            <a:fillRect/>
          </a:stretch>
        </p:blipFill>
        <p:spPr>
          <a:xfrm>
            <a:off x="831813" y="359910"/>
            <a:ext cx="585321" cy="579782"/>
          </a:xfrm>
          <a:prstGeom prst="rect">
            <a:avLst/>
          </a:prstGeom>
          <a:noFill/>
          <a:ln>
            <a:noFill/>
          </a:ln>
        </p:spPr>
      </p:pic>
      <p:sp>
        <p:nvSpPr>
          <p:cNvPr id="90" name="Google Shape;90;g25b1bb62912_0_14"/>
          <p:cNvSpPr txBox="1"/>
          <p:nvPr/>
        </p:nvSpPr>
        <p:spPr>
          <a:xfrm>
            <a:off x="1503500" y="277925"/>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Plan</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ZoneTexte 2"/>
          <p:cNvSpPr txBox="1"/>
          <p:nvPr/>
        </p:nvSpPr>
        <p:spPr>
          <a:xfrm>
            <a:off x="1208314" y="1801136"/>
            <a:ext cx="8229600" cy="56271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fr-FR" sz="3200" b="1" dirty="0">
                <a:latin typeface="Times New Roman" panose="02020603050405020304" pitchFamily="18" charset="0"/>
                <a:ea typeface="STZhongsong" panose="020B0503020204020204" pitchFamily="2" charset="-122"/>
                <a:cs typeface="Times New Roman" panose="02020603050405020304" pitchFamily="18" charset="0"/>
              </a:rPr>
              <a:t>Le Fonctionnement Du Web</a:t>
            </a:r>
          </a:p>
          <a:p>
            <a:pPr marL="285750" indent="-285750">
              <a:lnSpc>
                <a:spcPct val="150000"/>
              </a:lnSpc>
              <a:buFont typeface="Arial" panose="020B0604020202020204" pitchFamily="34" charset="0"/>
              <a:buChar char="•"/>
            </a:pPr>
            <a:r>
              <a:rPr lang="fr-FR" sz="3200" b="1" dirty="0">
                <a:latin typeface="Times New Roman" panose="02020603050405020304" pitchFamily="18" charset="0"/>
                <a:ea typeface="STZhongsong" panose="020B0503020204020204" pitchFamily="2" charset="-122"/>
                <a:cs typeface="Times New Roman" panose="02020603050405020304" pitchFamily="18" charset="0"/>
              </a:rPr>
              <a:t>Les Standards liés au web</a:t>
            </a:r>
          </a:p>
          <a:p>
            <a:pPr marL="285750" indent="-285750">
              <a:lnSpc>
                <a:spcPct val="150000"/>
              </a:lnSpc>
              <a:buFont typeface="Arial" panose="020B0604020202020204" pitchFamily="34" charset="0"/>
              <a:buChar char="•"/>
            </a:pPr>
            <a:r>
              <a:rPr lang="fr-FR" sz="3200" b="1" dirty="0">
                <a:latin typeface="Times New Roman" panose="02020603050405020304" pitchFamily="18" charset="0"/>
                <a:ea typeface="STZhongsong" panose="020B0503020204020204" pitchFamily="2" charset="-122"/>
                <a:cs typeface="Times New Roman" panose="02020603050405020304" pitchFamily="18" charset="0"/>
              </a:rPr>
              <a:t>Les paradigmes Logiciels</a:t>
            </a:r>
          </a:p>
          <a:p>
            <a:pPr marL="285750" indent="-285750">
              <a:lnSpc>
                <a:spcPct val="150000"/>
              </a:lnSpc>
              <a:buFont typeface="Arial" panose="020B0604020202020204" pitchFamily="34" charset="0"/>
              <a:buChar char="•"/>
            </a:pPr>
            <a:r>
              <a:rPr lang="fr-FR" sz="3200" b="1" dirty="0">
                <a:latin typeface="Times New Roman" panose="02020603050405020304" pitchFamily="18" charset="0"/>
                <a:ea typeface="STZhongsong" panose="020B0503020204020204" pitchFamily="2" charset="-122"/>
                <a:cs typeface="Times New Roman" panose="02020603050405020304" pitchFamily="18" charset="0"/>
              </a:rPr>
              <a:t>Les techniques de communication sur le web</a:t>
            </a:r>
          </a:p>
          <a:p>
            <a:pPr marL="285750" indent="-285750">
              <a:lnSpc>
                <a:spcPct val="150000"/>
              </a:lnSpc>
              <a:buFont typeface="Arial" panose="020B0604020202020204" pitchFamily="34" charset="0"/>
              <a:buChar char="•"/>
            </a:pPr>
            <a:r>
              <a:rPr lang="fr-FR" sz="3200" b="1" dirty="0">
                <a:latin typeface="Times New Roman" panose="02020603050405020304" pitchFamily="18" charset="0"/>
                <a:ea typeface="STZhongsong" panose="020B0503020204020204" pitchFamily="2" charset="-122"/>
                <a:cs typeface="Times New Roman" panose="02020603050405020304" pitchFamily="18" charset="0"/>
              </a:rPr>
              <a:t>L’architecture SOA</a:t>
            </a:r>
          </a:p>
          <a:p>
            <a:pPr marL="285750" indent="-285750">
              <a:lnSpc>
                <a:spcPct val="150000"/>
              </a:lnSpc>
              <a:buFont typeface="Arial" panose="020B0604020202020204" pitchFamily="34" charset="0"/>
              <a:buChar char="•"/>
            </a:pPr>
            <a:endParaRPr lang="fr-FR" sz="3200" b="1" dirty="0">
              <a:latin typeface="Times New Roman" panose="02020603050405020304" pitchFamily="18" charset="0"/>
              <a:ea typeface="STZhongsong" panose="020B0503020204020204" pitchFamily="2" charset="-122"/>
              <a:cs typeface="Times New Roman" panose="02020603050405020304" pitchFamily="18" charset="0"/>
            </a:endParaRPr>
          </a:p>
          <a:p>
            <a:pPr marL="285750" indent="-285750">
              <a:lnSpc>
                <a:spcPct val="150000"/>
              </a:lnSpc>
              <a:buFont typeface="Arial" panose="020B0604020202020204" pitchFamily="34" charset="0"/>
              <a:buChar char="•"/>
            </a:pPr>
            <a:endParaRPr lang="fr-FR" sz="3200" b="1" dirty="0">
              <a:latin typeface="Times New Roman" panose="02020603050405020304" pitchFamily="18" charset="0"/>
              <a:ea typeface="STZhongsong" panose="020B0503020204020204" pitchFamily="2" charset="-122"/>
              <a:cs typeface="Times New Roman" panose="02020603050405020304" pitchFamily="18" charset="0"/>
            </a:endParaRPr>
          </a:p>
          <a:p>
            <a:pPr marL="285750" indent="-285750">
              <a:lnSpc>
                <a:spcPct val="150000"/>
              </a:lnSpc>
              <a:buFont typeface="Arial" panose="020B0604020202020204" pitchFamily="34" charset="0"/>
              <a:buChar char="•"/>
            </a:pPr>
            <a:endParaRPr lang="fr-FR" sz="1800" dirty="0"/>
          </a:p>
        </p:txBody>
      </p:sp>
      <p:pic>
        <p:nvPicPr>
          <p:cNvPr id="2" name="Google Shape;63;p1" descr="Picture 3">
            <a:extLst>
              <a:ext uri="{FF2B5EF4-FFF2-40B4-BE49-F238E27FC236}">
                <a16:creationId xmlns:a16="http://schemas.microsoft.com/office/drawing/2014/main" id="{E614DBEE-33ED-F25B-37B3-D32B1CDCF5A4}"/>
              </a:ext>
            </a:extLst>
          </p:cNvPr>
          <p:cNvPicPr preferRelativeResize="0"/>
          <p:nvPr/>
        </p:nvPicPr>
        <p:blipFill rotWithShape="1">
          <a:blip r:embed="rId5"/>
          <a:srcRect/>
          <a:stretch>
            <a:fillRect/>
          </a:stretch>
        </p:blipFill>
        <p:spPr>
          <a:xfrm flipH="1">
            <a:off x="9805997" y="148548"/>
            <a:ext cx="2846625" cy="15254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2" name="Google Shape;59;p1"/>
          <p:cNvGrpSpPr/>
          <p:nvPr/>
        </p:nvGrpSpPr>
        <p:grpSpPr>
          <a:xfrm>
            <a:off x="-57150" y="0"/>
            <a:ext cx="12504712" cy="8829600"/>
            <a:chOff x="0" y="0"/>
            <a:chExt cx="12192000" cy="6858000"/>
          </a:xfrm>
        </p:grpSpPr>
        <p:sp>
          <p:nvSpPr>
            <p:cNvPr id="60" name="Google Shape;60;p1"/>
            <p:cNvSpPr/>
            <p:nvPr/>
          </p:nvSpPr>
          <p:spPr>
            <a:xfrm>
              <a:off x="0" y="0"/>
              <a:ext cx="12192000" cy="6858000"/>
            </a:xfrm>
            <a:prstGeom prst="rect">
              <a:avLst/>
            </a:prstGeom>
            <a:blipFill rotWithShape="1">
              <a:blip r:embed="rId3" cstate="print"/>
              <a:tile tx="0" ty="0" sx="100000" sy="100000" flip="none" algn="tl"/>
            </a:blip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61" name="Google Shape;61;p1" descr="image2.png"/>
            <p:cNvPicPr preferRelativeResize="0"/>
            <p:nvPr/>
          </p:nvPicPr>
          <p:blipFill rotWithShape="1">
            <a:blip r:embed="rId4" cstate="print"/>
            <a:srcRect/>
            <a:stretch>
              <a:fillRect/>
            </a:stretch>
          </p:blipFill>
          <p:spPr>
            <a:xfrm>
              <a:off x="0" y="0"/>
              <a:ext cx="12192000" cy="6858000"/>
            </a:xfrm>
            <a:prstGeom prst="rect">
              <a:avLst/>
            </a:prstGeom>
            <a:noFill/>
            <a:ln>
              <a:noFill/>
            </a:ln>
          </p:spPr>
        </p:pic>
      </p:grpSp>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3</a:t>
            </a:fld>
            <a:endParaRPr lang="fr-FR"/>
          </a:p>
        </p:txBody>
      </p:sp>
      <p:sp>
        <p:nvSpPr>
          <p:cNvPr id="5" name="Espace réservé du texte 2"/>
          <p:cNvSpPr>
            <a:spLocks noGrp="1"/>
          </p:cNvSpPr>
          <p:nvPr>
            <p:ph type="body" idx="1"/>
          </p:nvPr>
        </p:nvSpPr>
        <p:spPr>
          <a:xfrm>
            <a:off x="1842856" y="2217587"/>
            <a:ext cx="8202636" cy="2422825"/>
          </a:xfrm>
        </p:spPr>
        <p:txBody>
          <a:bodyPr>
            <a:normAutofit/>
          </a:bodyPr>
          <a:lstStyle/>
          <a:p>
            <a:pPr marL="114300" indent="0">
              <a:buNone/>
            </a:pPr>
            <a:r>
              <a:rPr kumimoji="0" lang="fr-FR" sz="6000" b="1" i="0" u="none" strike="noStrike" kern="1200" cap="none" spc="10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sym typeface="Times New Roman" panose="02020603050405020304"/>
              </a:rPr>
              <a:t>Le Fonctionnement du web</a:t>
            </a:r>
            <a:endParaRPr lang="fr-FR" sz="2800" dirty="0">
              <a:solidFill>
                <a:srgbClr val="C00000"/>
              </a:solidFill>
              <a:latin typeface="Times New Roman" panose="02020603050405020304" pitchFamily="18" charset="0"/>
              <a:cs typeface="Times New Roman" panose="02020603050405020304" pitchFamily="18" charset="0"/>
            </a:endParaRPr>
          </a:p>
        </p:txBody>
      </p:sp>
      <p:pic>
        <p:nvPicPr>
          <p:cNvPr id="3" name="Google Shape;63;p1" descr="Picture 3">
            <a:extLst>
              <a:ext uri="{FF2B5EF4-FFF2-40B4-BE49-F238E27FC236}">
                <a16:creationId xmlns:a16="http://schemas.microsoft.com/office/drawing/2014/main" id="{E8B65B2E-1859-344F-A2B3-D36634059110}"/>
              </a:ext>
            </a:extLst>
          </p:cNvPr>
          <p:cNvPicPr preferRelativeResize="0"/>
          <p:nvPr/>
        </p:nvPicPr>
        <p:blipFill rotWithShape="1">
          <a:blip r:embed="rId5"/>
          <a:srcRect/>
          <a:stretch>
            <a:fillRect/>
          </a:stretch>
        </p:blipFill>
        <p:spPr>
          <a:xfrm flipH="1">
            <a:off x="9600937" y="184468"/>
            <a:ext cx="2846625" cy="15254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g25b1bb62912_0_14" descr="Picture 2"/>
          <p:cNvPicPr preferRelativeResize="0"/>
          <p:nvPr/>
        </p:nvPicPr>
        <p:blipFill rotWithShape="1">
          <a:blip r:embed="rId3"/>
          <a:srcRect/>
          <a:stretch>
            <a:fillRect/>
          </a:stretch>
        </p:blipFill>
        <p:spPr>
          <a:xfrm>
            <a:off x="6" y="-14117"/>
            <a:ext cx="12652622" cy="6886241"/>
          </a:xfrm>
          <a:prstGeom prst="rect">
            <a:avLst/>
          </a:prstGeom>
          <a:noFill/>
          <a:ln>
            <a:noFill/>
          </a:ln>
        </p:spPr>
      </p:pic>
      <p:sp>
        <p:nvSpPr>
          <p:cNvPr id="86" name="Google Shape;86;g25b1bb62912_0_1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latin typeface="Times New Roman" panose="02020603050405020304" pitchFamily="18" charset="0"/>
                <a:cs typeface="Times New Roman" panose="02020603050405020304" pitchFamily="18" charset="0"/>
              </a:rPr>
              <a:t>4</a:t>
            </a:fld>
            <a:endParaRPr lang="fr-FR">
              <a:latin typeface="Times New Roman" panose="02020603050405020304" pitchFamily="18" charset="0"/>
              <a:cs typeface="Times New Roman" panose="02020603050405020304" pitchFamily="18" charset="0"/>
            </a:endParaRPr>
          </a:p>
        </p:txBody>
      </p:sp>
      <p:pic>
        <p:nvPicPr>
          <p:cNvPr id="89" name="Google Shape;89;g25b1bb62912_0_14" descr="Image 10"/>
          <p:cNvPicPr preferRelativeResize="0"/>
          <p:nvPr/>
        </p:nvPicPr>
        <p:blipFill rotWithShape="1">
          <a:blip r:embed="rId4"/>
          <a:srcRect/>
          <a:stretch>
            <a:fillRect/>
          </a:stretch>
        </p:blipFill>
        <p:spPr>
          <a:xfrm>
            <a:off x="831813" y="359910"/>
            <a:ext cx="585321" cy="579782"/>
          </a:xfrm>
          <a:prstGeom prst="rect">
            <a:avLst/>
          </a:prstGeom>
          <a:noFill/>
          <a:ln>
            <a:noFill/>
          </a:ln>
        </p:spPr>
      </p:pic>
      <p:sp>
        <p:nvSpPr>
          <p:cNvPr id="90" name="Google Shape;90;g25b1bb62912_0_14"/>
          <p:cNvSpPr txBox="1"/>
          <p:nvPr/>
        </p:nvSpPr>
        <p:spPr>
          <a:xfrm>
            <a:off x="1503500" y="277925"/>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Fonctionnement du Web</a:t>
            </a:r>
            <a:endParaRPr sz="27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91" name="Google Shape;91;g25b1bb62912_0_14"/>
          <p:cNvPicPr preferRelativeResize="0"/>
          <p:nvPr/>
        </p:nvPicPr>
        <p:blipFill>
          <a:blip r:embed="rId5"/>
          <a:stretch>
            <a:fillRect/>
          </a:stretch>
        </p:blipFill>
        <p:spPr>
          <a:xfrm>
            <a:off x="1240227" y="1990051"/>
            <a:ext cx="9055000" cy="3352875"/>
          </a:xfrm>
          <a:prstGeom prst="rect">
            <a:avLst/>
          </a:prstGeom>
          <a:noFill/>
          <a:ln>
            <a:noFill/>
          </a:ln>
        </p:spPr>
      </p:pic>
      <p:sp>
        <p:nvSpPr>
          <p:cNvPr id="92" name="Google Shape;92;g25b1bb62912_0_14"/>
          <p:cNvSpPr txBox="1"/>
          <p:nvPr/>
        </p:nvSpPr>
        <p:spPr>
          <a:xfrm>
            <a:off x="3752625" y="3198150"/>
            <a:ext cx="123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800">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Requête</a:t>
            </a:r>
            <a:r>
              <a:rPr lang="fr-FR">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93" name="Google Shape;93;g25b1bb62912_0_14"/>
          <p:cNvSpPr txBox="1"/>
          <p:nvPr/>
        </p:nvSpPr>
        <p:spPr>
          <a:xfrm>
            <a:off x="6096000" y="3815650"/>
            <a:ext cx="123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800">
                <a:latin typeface="Times New Roman" panose="02020603050405020304" pitchFamily="18" charset="0"/>
                <a:ea typeface="Times New Roman" panose="02020603050405020304"/>
                <a:cs typeface="Times New Roman" panose="02020603050405020304" pitchFamily="18" charset="0"/>
                <a:sym typeface="Times New Roman" panose="02020603050405020304"/>
              </a:rPr>
              <a:t>Réponse</a:t>
            </a:r>
            <a:r>
              <a:rPr lang="fr-FR">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94" name="Google Shape;94;g25b1bb62912_0_14"/>
          <p:cNvSpPr txBox="1"/>
          <p:nvPr/>
        </p:nvSpPr>
        <p:spPr>
          <a:xfrm>
            <a:off x="1503500" y="1990050"/>
            <a:ext cx="6702900" cy="461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fr-F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Communication entre un serveur et un client</a:t>
            </a:r>
            <a:r>
              <a:rPr lang="fr-FR" dirty="0">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dirty="0">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95" name="Google Shape;95;g25b1bb62912_0_14"/>
          <p:cNvPicPr preferRelativeResize="0"/>
          <p:nvPr/>
        </p:nvPicPr>
        <p:blipFill>
          <a:blip r:embed="rId6"/>
          <a:stretch>
            <a:fillRect/>
          </a:stretch>
        </p:blipFill>
        <p:spPr>
          <a:xfrm>
            <a:off x="2452000" y="3429000"/>
            <a:ext cx="276900" cy="276900"/>
          </a:xfrm>
          <a:prstGeom prst="rect">
            <a:avLst/>
          </a:prstGeom>
          <a:noFill/>
          <a:ln>
            <a:noFill/>
          </a:ln>
        </p:spPr>
      </p:pic>
      <p:sp>
        <p:nvSpPr>
          <p:cNvPr id="96" name="Google Shape;96;g25b1bb62912_0_14"/>
          <p:cNvSpPr txBox="1"/>
          <p:nvPr/>
        </p:nvSpPr>
        <p:spPr>
          <a:xfrm>
            <a:off x="1447950" y="5396900"/>
            <a:ext cx="8069100" cy="7389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fr-FR"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Le Web est désormais indispensable pour accéder à l'information, établir des communications et interagir avec divers services en ligne à l'échelle mondiale.</a:t>
            </a:r>
            <a:endParaRPr dirty="0">
              <a:latin typeface="Times New Roman" panose="02020603050405020304" pitchFamily="18" charset="0"/>
              <a:cs typeface="Times New Roman" panose="02020603050405020304" pitchFamily="18" charset="0"/>
            </a:endParaRPr>
          </a:p>
        </p:txBody>
      </p:sp>
      <p:pic>
        <p:nvPicPr>
          <p:cNvPr id="2" name="Google Shape;63;p1" descr="Picture 3">
            <a:extLst>
              <a:ext uri="{FF2B5EF4-FFF2-40B4-BE49-F238E27FC236}">
                <a16:creationId xmlns:a16="http://schemas.microsoft.com/office/drawing/2014/main" id="{D090E764-E6DA-A05F-BAC7-1ABC08720C13}"/>
              </a:ext>
            </a:extLst>
          </p:cNvPr>
          <p:cNvPicPr preferRelativeResize="0"/>
          <p:nvPr/>
        </p:nvPicPr>
        <p:blipFill rotWithShape="1">
          <a:blip r:embed="rId7"/>
          <a:srcRect/>
          <a:stretch>
            <a:fillRect/>
          </a:stretch>
        </p:blipFill>
        <p:spPr>
          <a:xfrm flipH="1">
            <a:off x="9666508" y="-14117"/>
            <a:ext cx="2846625" cy="15254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pic>
        <p:nvPicPr>
          <p:cNvPr id="6" name="Google Shape;140;g25b1bb62912_0_23" descr="Picture 2">
            <a:extLst>
              <a:ext uri="{FF2B5EF4-FFF2-40B4-BE49-F238E27FC236}">
                <a16:creationId xmlns:a16="http://schemas.microsoft.com/office/drawing/2014/main" id="{56AEF4EF-3CB6-A172-D495-A9898EE61E12}"/>
              </a:ext>
            </a:extLst>
          </p:cNvPr>
          <p:cNvPicPr preferRelativeResize="0"/>
          <p:nvPr/>
        </p:nvPicPr>
        <p:blipFill rotWithShape="1">
          <a:blip r:embed="rId4"/>
          <a:srcRect/>
          <a:stretch>
            <a:fillRect/>
          </a:stretch>
        </p:blipFill>
        <p:spPr>
          <a:xfrm>
            <a:off x="0" y="-14121"/>
            <a:ext cx="12652622" cy="6886241"/>
          </a:xfrm>
          <a:prstGeom prst="rect">
            <a:avLst/>
          </a:prstGeom>
          <a:noFill/>
          <a:ln>
            <a:noFill/>
          </a:ln>
        </p:spPr>
      </p:pic>
      <p:sp>
        <p:nvSpPr>
          <p:cNvPr id="2" name="object 2"/>
          <p:cNvSpPr txBox="1">
            <a:spLocks noGrp="1"/>
          </p:cNvSpPr>
          <p:nvPr>
            <p:ph type="title"/>
          </p:nvPr>
        </p:nvSpPr>
        <p:spPr>
          <a:xfrm>
            <a:off x="2004252" y="613512"/>
            <a:ext cx="9543570" cy="638756"/>
          </a:xfrm>
          <a:prstGeom prst="rect">
            <a:avLst/>
          </a:prstGeom>
        </p:spPr>
        <p:txBody>
          <a:bodyPr spcFirstLastPara="1" vert="horz" wrap="square" lIns="0" tIns="87367" rIns="0" bIns="0" rtlCol="0" anchor="ctr" anchorCtr="0">
            <a:spAutoFit/>
          </a:bodyPr>
          <a:lstStyle/>
          <a:p>
            <a:pPr marL="12700">
              <a:lnSpc>
                <a:spcPct val="100000"/>
              </a:lnSpc>
              <a:spcBef>
                <a:spcPts val="100"/>
              </a:spcBef>
            </a:pPr>
            <a:r>
              <a:rPr lang="fr-FR" sz="3495" dirty="0">
                <a:latin typeface="Times New Roman" panose="02020603050405020304" pitchFamily="18" charset="0"/>
                <a:cs typeface="Times New Roman" panose="02020603050405020304" pitchFamily="18" charset="0"/>
              </a:rPr>
              <a:t>Systèmes</a:t>
            </a:r>
            <a:r>
              <a:rPr lang="fr-FR" sz="3495" spc="132" dirty="0">
                <a:latin typeface="Times New Roman" panose="02020603050405020304" pitchFamily="18" charset="0"/>
                <a:cs typeface="Times New Roman" panose="02020603050405020304" pitchFamily="18" charset="0"/>
              </a:rPr>
              <a:t> </a:t>
            </a:r>
            <a:r>
              <a:rPr lang="fr-FR" sz="3495" dirty="0">
                <a:latin typeface="Times New Roman" panose="02020603050405020304" pitchFamily="18" charset="0"/>
                <a:cs typeface="Times New Roman" panose="02020603050405020304" pitchFamily="18" charset="0"/>
              </a:rPr>
              <a:t>basés</a:t>
            </a:r>
            <a:r>
              <a:rPr lang="fr-FR" sz="3495" spc="145" dirty="0">
                <a:latin typeface="Times New Roman" panose="02020603050405020304" pitchFamily="18" charset="0"/>
                <a:cs typeface="Times New Roman" panose="02020603050405020304" pitchFamily="18" charset="0"/>
              </a:rPr>
              <a:t> </a:t>
            </a:r>
            <a:r>
              <a:rPr lang="fr-FR" sz="3495" dirty="0">
                <a:latin typeface="Times New Roman" panose="02020603050405020304" pitchFamily="18" charset="0"/>
                <a:cs typeface="Times New Roman" panose="02020603050405020304" pitchFamily="18" charset="0"/>
              </a:rPr>
              <a:t>sur</a:t>
            </a:r>
            <a:r>
              <a:rPr lang="fr-FR" sz="3495" spc="163" dirty="0">
                <a:latin typeface="Times New Roman" panose="02020603050405020304" pitchFamily="18" charset="0"/>
                <a:cs typeface="Times New Roman" panose="02020603050405020304" pitchFamily="18" charset="0"/>
              </a:rPr>
              <a:t> </a:t>
            </a:r>
            <a:r>
              <a:rPr lang="fr-FR" sz="3495" dirty="0">
                <a:latin typeface="Times New Roman" panose="02020603050405020304" pitchFamily="18" charset="0"/>
                <a:cs typeface="Times New Roman" panose="02020603050405020304" pitchFamily="18" charset="0"/>
              </a:rPr>
              <a:t>le</a:t>
            </a:r>
            <a:r>
              <a:rPr lang="fr-FR" sz="3495" spc="163" dirty="0">
                <a:latin typeface="Times New Roman" panose="02020603050405020304" pitchFamily="18" charset="0"/>
                <a:cs typeface="Times New Roman" panose="02020603050405020304" pitchFamily="18" charset="0"/>
              </a:rPr>
              <a:t> </a:t>
            </a:r>
            <a:r>
              <a:rPr lang="fr-FR" sz="3495" spc="-23" dirty="0">
                <a:latin typeface="Times New Roman" panose="02020603050405020304" pitchFamily="18" charset="0"/>
                <a:cs typeface="Times New Roman" panose="02020603050405020304" pitchFamily="18" charset="0"/>
              </a:rPr>
              <a:t>Web</a:t>
            </a:r>
            <a:endParaRPr sz="3495"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5" cstate="print"/>
          <a:stretch>
            <a:fillRect/>
          </a:stretch>
        </p:blipFill>
        <p:spPr>
          <a:xfrm>
            <a:off x="1850571" y="2394191"/>
            <a:ext cx="8403772" cy="4354952"/>
          </a:xfrm>
          <a:prstGeom prst="rect">
            <a:avLst/>
          </a:prstGeom>
        </p:spPr>
      </p:pic>
      <p:sp>
        <p:nvSpPr>
          <p:cNvPr id="4" name="object 4"/>
          <p:cNvSpPr txBox="1"/>
          <p:nvPr/>
        </p:nvSpPr>
        <p:spPr>
          <a:xfrm>
            <a:off x="2004252" y="1727439"/>
            <a:ext cx="1916206" cy="304924"/>
          </a:xfrm>
          <a:prstGeom prst="rect">
            <a:avLst/>
          </a:prstGeom>
        </p:spPr>
        <p:txBody>
          <a:bodyPr vert="horz" wrap="square" lIns="0" tIns="11526" rIns="0" bIns="0" rtlCol="0">
            <a:spAutoFit/>
          </a:bodyPr>
          <a:lstStyle/>
          <a:p>
            <a:pPr marL="280670" indent="-269240">
              <a:spcBef>
                <a:spcPts val="90"/>
              </a:spcBef>
              <a:buFont typeface="Wingdings" panose="05000000000000000000"/>
              <a:buChar char=""/>
              <a:tabLst>
                <a:tab pos="280670" algn="l"/>
              </a:tabLst>
            </a:pPr>
            <a:r>
              <a:rPr sz="1905" spc="-9" dirty="0">
                <a:solidFill>
                  <a:srgbClr val="C00000"/>
                </a:solidFill>
                <a:latin typeface="Times New Roman" panose="02020603050405020304" pitchFamily="18" charset="0"/>
                <a:cs typeface="Times New Roman" panose="02020603050405020304" pitchFamily="18" charset="0"/>
              </a:rPr>
              <a:t>Fonctionnement</a:t>
            </a:r>
            <a:endParaRPr sz="1905" dirty="0">
              <a:latin typeface="Times New Roman" panose="02020603050405020304" pitchFamily="18" charset="0"/>
              <a:cs typeface="Times New Roman" panose="02020603050405020304" pitchFamily="18" charset="0"/>
            </a:endParaRPr>
          </a:p>
        </p:txBody>
      </p:sp>
      <p:pic>
        <p:nvPicPr>
          <p:cNvPr id="7" name="Google Shape;63;p1" descr="Picture 3">
            <a:extLst>
              <a:ext uri="{FF2B5EF4-FFF2-40B4-BE49-F238E27FC236}">
                <a16:creationId xmlns:a16="http://schemas.microsoft.com/office/drawing/2014/main" id="{5EDBD917-42B1-0E0F-E875-32D771E4BF23}"/>
              </a:ext>
            </a:extLst>
          </p:cNvPr>
          <p:cNvPicPr preferRelativeResize="0"/>
          <p:nvPr/>
        </p:nvPicPr>
        <p:blipFill rotWithShape="1">
          <a:blip r:embed="rId6"/>
          <a:srcRect/>
          <a:stretch>
            <a:fillRect/>
          </a:stretch>
        </p:blipFill>
        <p:spPr>
          <a:xfrm flipH="1">
            <a:off x="9907390" y="108857"/>
            <a:ext cx="2745232" cy="1525449"/>
          </a:xfrm>
          <a:prstGeom prst="rect">
            <a:avLst/>
          </a:prstGeom>
          <a:noFill/>
          <a:ln>
            <a:noFill/>
          </a:ln>
        </p:spPr>
      </p:pic>
    </p:spTree>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152F866-FE27-881F-D5D9-9F80C86F05AB}"/>
              </a:ext>
            </a:extLst>
          </p:cNvPr>
          <p:cNvPicPr>
            <a:picLocks noChangeAspect="1"/>
          </p:cNvPicPr>
          <p:nvPr/>
        </p:nvPicPr>
        <p:blipFill>
          <a:blip r:embed="rId2"/>
          <a:stretch>
            <a:fillRect/>
          </a:stretch>
        </p:blipFill>
        <p:spPr>
          <a:xfrm>
            <a:off x="0" y="0"/>
            <a:ext cx="12192000" cy="6858000"/>
          </a:xfrm>
          <a:prstGeom prst="rect">
            <a:avLst/>
          </a:prstGeom>
        </p:spPr>
      </p:pic>
      <p:sp>
        <p:nvSpPr>
          <p:cNvPr id="2" name="object 2"/>
          <p:cNvSpPr txBox="1">
            <a:spLocks noGrp="1"/>
          </p:cNvSpPr>
          <p:nvPr>
            <p:ph type="title"/>
          </p:nvPr>
        </p:nvSpPr>
        <p:spPr>
          <a:xfrm>
            <a:off x="2004252" y="613512"/>
            <a:ext cx="9543570" cy="638756"/>
          </a:xfrm>
          <a:prstGeom prst="rect">
            <a:avLst/>
          </a:prstGeom>
        </p:spPr>
        <p:txBody>
          <a:bodyPr spcFirstLastPara="1" vert="horz" wrap="square" lIns="0" tIns="87367" rIns="0" bIns="0" rtlCol="0" anchor="ctr" anchorCtr="0">
            <a:spAutoFit/>
          </a:bodyPr>
          <a:lstStyle/>
          <a:p>
            <a:pPr marL="11430">
              <a:lnSpc>
                <a:spcPct val="100000"/>
              </a:lnSpc>
              <a:spcBef>
                <a:spcPts val="100"/>
              </a:spcBef>
            </a:pPr>
            <a:r>
              <a:rPr sz="3495" dirty="0">
                <a:latin typeface="Times New Roman" panose="02020603050405020304" pitchFamily="18" charset="0"/>
                <a:cs typeface="Times New Roman" panose="02020603050405020304" pitchFamily="18" charset="0"/>
              </a:rPr>
              <a:t>Systèmes</a:t>
            </a:r>
            <a:r>
              <a:rPr sz="3495" spc="132" dirty="0">
                <a:latin typeface="Times New Roman" panose="02020603050405020304" pitchFamily="18" charset="0"/>
                <a:cs typeface="Times New Roman" panose="02020603050405020304" pitchFamily="18" charset="0"/>
              </a:rPr>
              <a:t> </a:t>
            </a:r>
            <a:r>
              <a:rPr sz="3495" dirty="0">
                <a:latin typeface="Times New Roman" panose="02020603050405020304" pitchFamily="18" charset="0"/>
                <a:cs typeface="Times New Roman" panose="02020603050405020304" pitchFamily="18" charset="0"/>
              </a:rPr>
              <a:t>basés</a:t>
            </a:r>
            <a:r>
              <a:rPr sz="3495" spc="145" dirty="0">
                <a:latin typeface="Times New Roman" panose="02020603050405020304" pitchFamily="18" charset="0"/>
                <a:cs typeface="Times New Roman" panose="02020603050405020304" pitchFamily="18" charset="0"/>
              </a:rPr>
              <a:t> </a:t>
            </a:r>
            <a:r>
              <a:rPr sz="3495" dirty="0">
                <a:latin typeface="Times New Roman" panose="02020603050405020304" pitchFamily="18" charset="0"/>
                <a:cs typeface="Times New Roman" panose="02020603050405020304" pitchFamily="18" charset="0"/>
              </a:rPr>
              <a:t>sur</a:t>
            </a:r>
            <a:r>
              <a:rPr sz="3495" spc="163" dirty="0">
                <a:latin typeface="Times New Roman" panose="02020603050405020304" pitchFamily="18" charset="0"/>
                <a:cs typeface="Times New Roman" panose="02020603050405020304" pitchFamily="18" charset="0"/>
              </a:rPr>
              <a:t> </a:t>
            </a:r>
            <a:r>
              <a:rPr sz="3495" dirty="0">
                <a:latin typeface="Times New Roman" panose="02020603050405020304" pitchFamily="18" charset="0"/>
                <a:cs typeface="Times New Roman" panose="02020603050405020304" pitchFamily="18" charset="0"/>
              </a:rPr>
              <a:t>le</a:t>
            </a:r>
            <a:r>
              <a:rPr sz="3495" spc="163" dirty="0">
                <a:latin typeface="Times New Roman" panose="02020603050405020304" pitchFamily="18" charset="0"/>
                <a:cs typeface="Times New Roman" panose="02020603050405020304" pitchFamily="18" charset="0"/>
              </a:rPr>
              <a:t> </a:t>
            </a:r>
            <a:r>
              <a:rPr sz="3495" spc="-23" dirty="0">
                <a:latin typeface="Times New Roman" panose="02020603050405020304" pitchFamily="18" charset="0"/>
                <a:cs typeface="Times New Roman" panose="02020603050405020304" pitchFamily="18" charset="0"/>
              </a:rPr>
              <a:t>Web</a:t>
            </a:r>
            <a:endParaRPr sz="3495" dirty="0">
              <a:latin typeface="Times New Roman" panose="02020603050405020304" pitchFamily="18" charset="0"/>
              <a:cs typeface="Times New Roman" panose="02020603050405020304" pitchFamily="18" charset="0"/>
            </a:endParaRPr>
          </a:p>
        </p:txBody>
      </p:sp>
      <p:sp>
        <p:nvSpPr>
          <p:cNvPr id="3" name="object 3"/>
          <p:cNvSpPr txBox="1"/>
          <p:nvPr/>
        </p:nvSpPr>
        <p:spPr>
          <a:xfrm>
            <a:off x="2202852" y="2063163"/>
            <a:ext cx="7942601" cy="3307413"/>
          </a:xfrm>
          <a:prstGeom prst="rect">
            <a:avLst/>
          </a:prstGeom>
        </p:spPr>
        <p:txBody>
          <a:bodyPr vert="horz" wrap="square" lIns="0" tIns="11526" rIns="0" bIns="0" rtlCol="0">
            <a:spAutoFit/>
          </a:bodyPr>
          <a:lstStyle/>
          <a:p>
            <a:pPr marL="280670" indent="-269240">
              <a:spcBef>
                <a:spcPts val="90"/>
              </a:spcBef>
              <a:buFont typeface="Wingdings" panose="05000000000000000000"/>
              <a:buChar char=""/>
              <a:tabLst>
                <a:tab pos="280670" algn="l"/>
              </a:tabLst>
            </a:pPr>
            <a:r>
              <a:rPr sz="2000" spc="-9" dirty="0">
                <a:solidFill>
                  <a:srgbClr val="C00000"/>
                </a:solidFill>
                <a:latin typeface="Times New Roman" panose="02020603050405020304" pitchFamily="18" charset="0"/>
                <a:cs typeface="Times New Roman" panose="02020603050405020304" pitchFamily="18" charset="0"/>
              </a:rPr>
              <a:t>Couches</a:t>
            </a:r>
            <a:endParaRPr sz="2000" dirty="0">
              <a:latin typeface="Times New Roman" panose="02020603050405020304" pitchFamily="18" charset="0"/>
              <a:cs typeface="Times New Roman" panose="02020603050405020304" pitchFamily="18" charset="0"/>
            </a:endParaRPr>
          </a:p>
          <a:p>
            <a:pPr>
              <a:spcBef>
                <a:spcPts val="810"/>
              </a:spcBef>
              <a:buClr>
                <a:srgbClr val="C00000"/>
              </a:buClr>
              <a:buFont typeface="Wingdings" panose="05000000000000000000"/>
              <a:buChar char=""/>
            </a:pPr>
            <a:endParaRPr sz="2000" dirty="0">
              <a:latin typeface="Times New Roman" panose="02020603050405020304" pitchFamily="18" charset="0"/>
              <a:cs typeface="Times New Roman" panose="02020603050405020304" pitchFamily="18" charset="0"/>
            </a:endParaRPr>
          </a:p>
          <a:p>
            <a:pPr marL="611505" lvl="1" indent="-273685">
              <a:spcBef>
                <a:spcPts val="5"/>
              </a:spcBef>
              <a:buClr>
                <a:srgbClr val="FF0000"/>
              </a:buClr>
              <a:buFont typeface="Calibri" panose="020F0502020204030204"/>
              <a:buChar char="•"/>
              <a:tabLst>
                <a:tab pos="610870" algn="l"/>
              </a:tabLst>
            </a:pPr>
            <a:r>
              <a:rPr sz="2000" b="1" dirty="0">
                <a:latin typeface="Times New Roman" panose="02020603050405020304" pitchFamily="18" charset="0"/>
                <a:cs typeface="Times New Roman" panose="02020603050405020304" pitchFamily="18" charset="0"/>
              </a:rPr>
              <a:t>Client</a:t>
            </a:r>
            <a:r>
              <a:rPr sz="2000" spc="-59" dirty="0">
                <a:latin typeface="Times New Roman" panose="02020603050405020304" pitchFamily="18" charset="0"/>
                <a:cs typeface="Times New Roman" panose="02020603050405020304" pitchFamily="18" charset="0"/>
              </a:rPr>
              <a:t> </a:t>
            </a:r>
            <a:r>
              <a:rPr sz="2000" b="1" spc="-9" dirty="0">
                <a:latin typeface="Times New Roman" panose="02020603050405020304" pitchFamily="18" charset="0"/>
                <a:cs typeface="Times New Roman" panose="02020603050405020304" pitchFamily="18" charset="0"/>
              </a:rPr>
              <a:t>(navigateur)</a:t>
            </a:r>
            <a:r>
              <a:rPr sz="2000" spc="-9" dirty="0">
                <a:latin typeface="Times New Roman" panose="02020603050405020304" pitchFamily="18" charset="0"/>
                <a:cs typeface="Times New Roman" panose="02020603050405020304" pitchFamily="18" charset="0"/>
              </a:rPr>
              <a:t>:</a:t>
            </a:r>
            <a:r>
              <a:rPr sz="2000" spc="-32"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affiche</a:t>
            </a:r>
            <a:r>
              <a:rPr sz="2000" spc="-5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les</a:t>
            </a:r>
            <a:r>
              <a:rPr sz="2000" spc="-50"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informations</a:t>
            </a:r>
            <a:r>
              <a:rPr sz="2000" spc="-6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à</a:t>
            </a:r>
            <a:r>
              <a:rPr sz="2000" spc="-54"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l’utilisateur</a:t>
            </a:r>
            <a:endParaRPr sz="2000" dirty="0">
              <a:latin typeface="Times New Roman" panose="02020603050405020304" pitchFamily="18" charset="0"/>
              <a:cs typeface="Times New Roman" panose="02020603050405020304" pitchFamily="18" charset="0"/>
            </a:endParaRPr>
          </a:p>
          <a:p>
            <a:pPr marL="611505" marR="481330" lvl="1" indent="-274320">
              <a:spcBef>
                <a:spcPts val="1915"/>
              </a:spcBef>
              <a:buClr>
                <a:srgbClr val="FF0000"/>
              </a:buClr>
              <a:buFont typeface="Calibri" panose="020F0502020204030204"/>
              <a:buChar char="•"/>
              <a:tabLst>
                <a:tab pos="610870" algn="l"/>
              </a:tabLst>
            </a:pPr>
            <a:r>
              <a:rPr sz="2000" b="1" dirty="0">
                <a:latin typeface="Times New Roman" panose="02020603050405020304" pitchFamily="18" charset="0"/>
                <a:cs typeface="Times New Roman" panose="02020603050405020304" pitchFamily="18" charset="0"/>
              </a:rPr>
              <a:t>Serveur</a:t>
            </a:r>
            <a:r>
              <a:rPr sz="2000" spc="-5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Web</a:t>
            </a:r>
            <a:r>
              <a:rPr sz="2000" dirty="0">
                <a:latin typeface="Times New Roman" panose="02020603050405020304" pitchFamily="18" charset="0"/>
                <a:cs typeface="Times New Roman" panose="02020603050405020304" pitchFamily="18" charset="0"/>
              </a:rPr>
              <a:t>:</a:t>
            </a:r>
            <a:r>
              <a:rPr sz="2000" spc="-50"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gère</a:t>
            </a:r>
            <a:r>
              <a:rPr sz="2000" spc="-6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les</a:t>
            </a:r>
            <a:r>
              <a:rPr sz="2000" spc="-54"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requêtes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HTTP</a:t>
            </a:r>
            <a:r>
              <a:rPr sz="2000" spc="-54"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entrantes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a:t>
            </a:r>
            <a:r>
              <a:rPr sz="2000" spc="-54"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traitant</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les</a:t>
            </a:r>
            <a:r>
              <a:rPr sz="2000" spc="-59"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données</a:t>
            </a:r>
            <a:r>
              <a:rPr sz="2000" spc="-68"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statiques</a:t>
            </a:r>
            <a:r>
              <a:rPr sz="2000" spc="-41" dirty="0">
                <a:latin typeface="Times New Roman" panose="02020603050405020304" pitchFamily="18" charset="0"/>
                <a:cs typeface="Times New Roman" panose="02020603050405020304" pitchFamily="18" charset="0"/>
              </a:rPr>
              <a:t> </a:t>
            </a:r>
            <a:r>
              <a:rPr sz="2000" spc="-23" dirty="0">
                <a:latin typeface="Times New Roman" panose="02020603050405020304" pitchFamily="18" charset="0"/>
                <a:cs typeface="Times New Roman" panose="02020603050405020304" pitchFamily="18" charset="0"/>
              </a:rPr>
              <a:t>et </a:t>
            </a:r>
            <a:r>
              <a:rPr sz="2000" spc="-9" dirty="0">
                <a:latin typeface="Times New Roman" panose="02020603050405020304" pitchFamily="18" charset="0"/>
                <a:cs typeface="Times New Roman" panose="02020603050405020304" pitchFamily="18" charset="0"/>
              </a:rPr>
              <a:t>retourne</a:t>
            </a:r>
            <a:r>
              <a:rPr sz="2000" spc="-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a:t>
            </a:r>
            <a:r>
              <a:rPr sz="2000" spc="-59"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résultat</a:t>
            </a:r>
            <a:r>
              <a:rPr sz="2000" spc="-41"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finale</a:t>
            </a:r>
            <a:r>
              <a:rPr sz="2000" spc="-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au</a:t>
            </a:r>
            <a:r>
              <a:rPr sz="2000" spc="-59"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Client</a:t>
            </a:r>
            <a:endParaRPr sz="2000" dirty="0">
              <a:latin typeface="Times New Roman" panose="02020603050405020304" pitchFamily="18" charset="0"/>
              <a:cs typeface="Times New Roman" panose="02020603050405020304" pitchFamily="18" charset="0"/>
            </a:endParaRPr>
          </a:p>
          <a:p>
            <a:pPr marL="611505" marR="4445" lvl="1" indent="-274320">
              <a:spcBef>
                <a:spcPts val="1915"/>
              </a:spcBef>
              <a:buClr>
                <a:srgbClr val="FF0000"/>
              </a:buClr>
              <a:buFont typeface="Calibri" panose="020F0502020204030204"/>
              <a:buChar char="•"/>
              <a:tabLst>
                <a:tab pos="610870" algn="l"/>
              </a:tabLst>
            </a:pPr>
            <a:r>
              <a:rPr sz="2000" b="1" dirty="0">
                <a:latin typeface="Times New Roman" panose="02020603050405020304" pitchFamily="18" charset="0"/>
                <a:cs typeface="Times New Roman" panose="02020603050405020304" pitchFamily="18" charset="0"/>
              </a:rPr>
              <a:t>Application</a:t>
            </a:r>
            <a:r>
              <a:rPr sz="2000" dirty="0">
                <a:latin typeface="Times New Roman" panose="02020603050405020304" pitchFamily="18" charset="0"/>
                <a:cs typeface="Times New Roman" panose="02020603050405020304" pitchFamily="18" charset="0"/>
              </a:rPr>
              <a:t>:</a:t>
            </a:r>
            <a:r>
              <a:rPr sz="2000" spc="-50" dirty="0">
                <a:latin typeface="Times New Roman" panose="02020603050405020304" pitchFamily="18" charset="0"/>
                <a:cs typeface="Times New Roman" panose="02020603050405020304" pitchFamily="18" charset="0"/>
              </a:rPr>
              <a:t> </a:t>
            </a:r>
            <a:r>
              <a:rPr sz="2000" spc="-18" dirty="0">
                <a:latin typeface="Times New Roman" panose="02020603050405020304" pitchFamily="18" charset="0"/>
                <a:cs typeface="Times New Roman" panose="02020603050405020304" pitchFamily="18" charset="0"/>
              </a:rPr>
              <a:t>exécute</a:t>
            </a:r>
            <a:r>
              <a:rPr sz="2000" spc="-41"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des</a:t>
            </a:r>
            <a:r>
              <a:rPr sz="2000" spc="-54"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applications</a:t>
            </a:r>
            <a:r>
              <a:rPr sz="2000" spc="-6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web</a:t>
            </a:r>
            <a:r>
              <a:rPr sz="2000" spc="-59"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dynamiques</a:t>
            </a:r>
            <a:r>
              <a:rPr sz="2000" spc="-6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en</a:t>
            </a:r>
            <a:r>
              <a:rPr sz="2000" spc="-50"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traitant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a:t>
            </a:r>
            <a:r>
              <a:rPr sz="2000" spc="-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logique</a:t>
            </a:r>
            <a:r>
              <a:rPr sz="2000" spc="-7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métier</a:t>
            </a:r>
            <a:r>
              <a:rPr sz="2000" spc="-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et</a:t>
            </a:r>
            <a:r>
              <a:rPr sz="2000" spc="-41" dirty="0">
                <a:latin typeface="Times New Roman" panose="02020603050405020304" pitchFamily="18" charset="0"/>
                <a:cs typeface="Times New Roman" panose="02020603050405020304" pitchFamily="18" charset="0"/>
              </a:rPr>
              <a:t> </a:t>
            </a:r>
            <a:r>
              <a:rPr sz="2000" spc="-23" dirty="0">
                <a:latin typeface="Times New Roman" panose="02020603050405020304" pitchFamily="18" charset="0"/>
                <a:cs typeface="Times New Roman" panose="02020603050405020304" pitchFamily="18" charset="0"/>
              </a:rPr>
              <a:t>en </a:t>
            </a:r>
            <a:r>
              <a:rPr sz="2000" spc="-9" dirty="0">
                <a:latin typeface="Times New Roman" panose="02020603050405020304" pitchFamily="18" charset="0"/>
                <a:cs typeface="Times New Roman" panose="02020603050405020304" pitchFamily="18" charset="0"/>
              </a:rPr>
              <a:t>communiquant</a:t>
            </a:r>
            <a:r>
              <a:rPr sz="2000" spc="-7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avec</a:t>
            </a:r>
            <a:r>
              <a:rPr sz="2000" spc="-59"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d'autres</a:t>
            </a:r>
            <a:r>
              <a:rPr sz="2000" spc="-41"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services</a:t>
            </a:r>
            <a:endParaRPr sz="2000" dirty="0">
              <a:latin typeface="Times New Roman" panose="02020603050405020304" pitchFamily="18" charset="0"/>
              <a:cs typeface="Times New Roman" panose="02020603050405020304" pitchFamily="18" charset="0"/>
            </a:endParaRPr>
          </a:p>
          <a:p>
            <a:pPr marL="611505" lvl="1" indent="-273685">
              <a:spcBef>
                <a:spcPts val="1930"/>
              </a:spcBef>
              <a:buClr>
                <a:srgbClr val="FF0000"/>
              </a:buClr>
              <a:buFont typeface="Calibri" panose="020F0502020204030204"/>
              <a:buChar char="•"/>
              <a:tabLst>
                <a:tab pos="610870" algn="l"/>
              </a:tabLst>
            </a:pPr>
            <a:r>
              <a:rPr sz="2000" b="1" dirty="0">
                <a:latin typeface="Times New Roman" panose="02020603050405020304" pitchFamily="18" charset="0"/>
                <a:cs typeface="Times New Roman" panose="02020603050405020304" pitchFamily="18" charset="0"/>
              </a:rPr>
              <a:t>Données</a:t>
            </a:r>
            <a:r>
              <a:rPr sz="2000" dirty="0">
                <a:latin typeface="Times New Roman" panose="02020603050405020304" pitchFamily="18" charset="0"/>
                <a:cs typeface="Times New Roman" panose="02020603050405020304" pitchFamily="18" charset="0"/>
              </a:rPr>
              <a:t>:</a:t>
            </a:r>
            <a:r>
              <a:rPr sz="2000" spc="-41" dirty="0">
                <a:latin typeface="Times New Roman" panose="02020603050405020304" pitchFamily="18" charset="0"/>
                <a:cs typeface="Times New Roman" panose="02020603050405020304" pitchFamily="18" charset="0"/>
              </a:rPr>
              <a:t> </a:t>
            </a:r>
            <a:r>
              <a:rPr sz="2000" spc="-18" dirty="0">
                <a:latin typeface="Times New Roman" panose="02020603050405020304" pitchFamily="18" charset="0"/>
                <a:cs typeface="Times New Roman" panose="02020603050405020304" pitchFamily="18" charset="0"/>
              </a:rPr>
              <a:t>stocke</a:t>
            </a:r>
            <a:r>
              <a:rPr sz="2000" spc="-32"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les</a:t>
            </a:r>
            <a:r>
              <a:rPr sz="2000" spc="-59"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données</a:t>
            </a:r>
            <a:r>
              <a:rPr sz="2000" spc="-68"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utilisées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par</a:t>
            </a:r>
            <a:r>
              <a:rPr sz="2000" spc="-5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a:t>
            </a:r>
            <a:r>
              <a:rPr sz="2000" spc="-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serveur</a:t>
            </a:r>
            <a:r>
              <a:rPr sz="2000" spc="-59" dirty="0">
                <a:latin typeface="Times New Roman" panose="02020603050405020304" pitchFamily="18" charset="0"/>
                <a:cs typeface="Times New Roman" panose="02020603050405020304" pitchFamily="18" charset="0"/>
              </a:rPr>
              <a:t> </a:t>
            </a:r>
            <a:r>
              <a:rPr sz="2000" spc="-9" dirty="0">
                <a:latin typeface="Times New Roman" panose="02020603050405020304" pitchFamily="18" charset="0"/>
                <a:cs typeface="Times New Roman" panose="02020603050405020304" pitchFamily="18" charset="0"/>
              </a:rPr>
              <a:t>applicatif</a:t>
            </a:r>
            <a:endParaRPr sz="2000" dirty="0">
              <a:latin typeface="Times New Roman" panose="02020603050405020304" pitchFamily="18" charset="0"/>
              <a:cs typeface="Times New Roman" panose="02020603050405020304" pitchFamily="18" charset="0"/>
            </a:endParaRPr>
          </a:p>
        </p:txBody>
      </p:sp>
      <p:pic>
        <p:nvPicPr>
          <p:cNvPr id="7" name="Google Shape;63;p1" descr="Picture 3">
            <a:extLst>
              <a:ext uri="{FF2B5EF4-FFF2-40B4-BE49-F238E27FC236}">
                <a16:creationId xmlns:a16="http://schemas.microsoft.com/office/drawing/2014/main" id="{696C503C-1B22-2377-F605-0AF1C051F10E}"/>
              </a:ext>
            </a:extLst>
          </p:cNvPr>
          <p:cNvPicPr preferRelativeResize="0"/>
          <p:nvPr/>
        </p:nvPicPr>
        <p:blipFill rotWithShape="1">
          <a:blip r:embed="rId3"/>
          <a:srcRect/>
          <a:stretch>
            <a:fillRect/>
          </a:stretch>
        </p:blipFill>
        <p:spPr>
          <a:xfrm flipH="1">
            <a:off x="9220199" y="41076"/>
            <a:ext cx="2846625" cy="15254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2" name="Google Shape;59;p1"/>
          <p:cNvGrpSpPr/>
          <p:nvPr/>
        </p:nvGrpSpPr>
        <p:grpSpPr>
          <a:xfrm>
            <a:off x="0" y="0"/>
            <a:ext cx="12504712" cy="8829600"/>
            <a:chOff x="0" y="0"/>
            <a:chExt cx="12192000" cy="6858000"/>
          </a:xfrm>
        </p:grpSpPr>
        <p:sp>
          <p:nvSpPr>
            <p:cNvPr id="60" name="Google Shape;60;p1"/>
            <p:cNvSpPr/>
            <p:nvPr/>
          </p:nvSpPr>
          <p:spPr>
            <a:xfrm>
              <a:off x="0" y="0"/>
              <a:ext cx="12192000" cy="6858000"/>
            </a:xfrm>
            <a:prstGeom prst="rect">
              <a:avLst/>
            </a:prstGeom>
            <a:blipFill rotWithShape="1">
              <a:blip r:embed="rId3" cstate="print"/>
              <a:tile tx="0" ty="0" sx="100000" sy="100000" flip="none" algn="tl"/>
            </a:blip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61" name="Google Shape;61;p1" descr="image2.png"/>
            <p:cNvPicPr preferRelativeResize="0"/>
            <p:nvPr/>
          </p:nvPicPr>
          <p:blipFill rotWithShape="1">
            <a:blip r:embed="rId4" cstate="print"/>
            <a:srcRect/>
            <a:stretch>
              <a:fillRect/>
            </a:stretch>
          </p:blipFill>
          <p:spPr>
            <a:xfrm>
              <a:off x="0" y="0"/>
              <a:ext cx="12192000" cy="6858000"/>
            </a:xfrm>
            <a:prstGeom prst="rect">
              <a:avLst/>
            </a:prstGeom>
            <a:noFill/>
            <a:ln>
              <a:noFill/>
            </a:ln>
          </p:spPr>
        </p:pic>
      </p:grpSp>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7</a:t>
            </a:fld>
            <a:endParaRPr lang="fr-FR"/>
          </a:p>
        </p:txBody>
      </p:sp>
      <p:sp>
        <p:nvSpPr>
          <p:cNvPr id="5" name="Espace réservé du texte 2"/>
          <p:cNvSpPr>
            <a:spLocks noGrp="1"/>
          </p:cNvSpPr>
          <p:nvPr>
            <p:ph type="body" idx="1"/>
          </p:nvPr>
        </p:nvSpPr>
        <p:spPr>
          <a:xfrm>
            <a:off x="1842856" y="2217587"/>
            <a:ext cx="8202636" cy="2422825"/>
          </a:xfrm>
        </p:spPr>
        <p:txBody>
          <a:bodyPr>
            <a:normAutofit/>
          </a:bodyPr>
          <a:lstStyle/>
          <a:p>
            <a:pPr marL="114300" indent="0">
              <a:buNone/>
            </a:pPr>
            <a:r>
              <a:rPr kumimoji="0" lang="fr-FR" sz="6000" b="1" i="0" u="none" strike="noStrike" kern="1200" cap="none" spc="10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sym typeface="Times New Roman" panose="02020603050405020304"/>
              </a:rPr>
              <a:t>Standards liées au Web</a:t>
            </a:r>
            <a:endParaRPr lang="fr-FR" sz="2800" dirty="0">
              <a:solidFill>
                <a:srgbClr val="C00000"/>
              </a:solidFill>
              <a:latin typeface="Times New Roman" panose="02020603050405020304" pitchFamily="18" charset="0"/>
              <a:cs typeface="Times New Roman" panose="02020603050405020304" pitchFamily="18" charset="0"/>
            </a:endParaRPr>
          </a:p>
        </p:txBody>
      </p:sp>
      <p:pic>
        <p:nvPicPr>
          <p:cNvPr id="3" name="Google Shape;63;p1" descr="Picture 3">
            <a:extLst>
              <a:ext uri="{FF2B5EF4-FFF2-40B4-BE49-F238E27FC236}">
                <a16:creationId xmlns:a16="http://schemas.microsoft.com/office/drawing/2014/main" id="{E443CA93-B4FD-32F3-CBE3-FB138F5D3DD3}"/>
              </a:ext>
            </a:extLst>
          </p:cNvPr>
          <p:cNvPicPr preferRelativeResize="0"/>
          <p:nvPr/>
        </p:nvPicPr>
        <p:blipFill rotWithShape="1">
          <a:blip r:embed="rId5"/>
          <a:srcRect/>
          <a:stretch>
            <a:fillRect/>
          </a:stretch>
        </p:blipFill>
        <p:spPr>
          <a:xfrm flipH="1">
            <a:off x="9658087" y="61519"/>
            <a:ext cx="2846625" cy="15254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g25b1bb62912_0_23" descr="Picture 2"/>
          <p:cNvPicPr preferRelativeResize="0"/>
          <p:nvPr/>
        </p:nvPicPr>
        <p:blipFill rotWithShape="1">
          <a:blip r:embed="rId3"/>
          <a:srcRect/>
          <a:stretch>
            <a:fillRect/>
          </a:stretch>
        </p:blipFill>
        <p:spPr>
          <a:xfrm>
            <a:off x="0" y="-14121"/>
            <a:ext cx="12652622" cy="6886241"/>
          </a:xfrm>
          <a:prstGeom prst="rect">
            <a:avLst/>
          </a:prstGeom>
          <a:noFill/>
          <a:ln>
            <a:noFill/>
          </a:ln>
        </p:spPr>
      </p:pic>
      <p:sp>
        <p:nvSpPr>
          <p:cNvPr id="142" name="Google Shape;142;g25b1bb62912_0_23"/>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8</a:t>
            </a:fld>
            <a:endParaRPr lang="fr-FR"/>
          </a:p>
        </p:txBody>
      </p:sp>
      <p:sp>
        <p:nvSpPr>
          <p:cNvPr id="146" name="Google Shape;146;g25b1bb62912_0_23"/>
          <p:cNvSpPr txBox="1"/>
          <p:nvPr/>
        </p:nvSpPr>
        <p:spPr>
          <a:xfrm>
            <a:off x="871615" y="2569618"/>
            <a:ext cx="9586200" cy="2954625"/>
          </a:xfrm>
          <a:prstGeom prst="rect">
            <a:avLst/>
          </a:prstGeom>
          <a:noFill/>
          <a:ln>
            <a:noFill/>
          </a:ln>
        </p:spPr>
        <p:txBody>
          <a:bodyPr spcFirstLastPara="1" wrap="square" lIns="91425" tIns="91425" rIns="91425" bIns="91425" anchor="t" anchorCtr="0">
            <a:spAutoFit/>
          </a:bodyPr>
          <a:lstStyle/>
          <a:p>
            <a:pPr marL="457200" lvl="0" indent="-355600" algn="just" rtl="0">
              <a:lnSpc>
                <a:spcPct val="150000"/>
              </a:lnSpc>
              <a:spcBef>
                <a:spcPts val="0"/>
              </a:spcBef>
              <a:spcAft>
                <a:spcPts val="0"/>
              </a:spcAft>
              <a:buClr>
                <a:schemeClr val="dk1"/>
              </a:buClr>
              <a:buSzPts val="2000"/>
              <a:buFont typeface="Times New Roman" panose="02020603050405020304"/>
              <a:buChar char="❏"/>
            </a:pP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Les standards liées au Web comprennent des formats de données tels que HTML, XML et JSON pour structurer et échanger des informations.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150000"/>
              </a:lnSpc>
              <a:spcBef>
                <a:spcPts val="0"/>
              </a:spcBef>
              <a:spcAft>
                <a:spcPts val="0"/>
              </a:spcAft>
              <a:buClr>
                <a:schemeClr val="dk1"/>
              </a:buClr>
              <a:buSzPts val="2000"/>
              <a:buFont typeface="Times New Roman" panose="02020603050405020304"/>
              <a:buChar char="❏"/>
            </a:pP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Le transfert de ces données est réalisé via les protocoles HTTP et TCP, utilisant des URI/URL pour localiser les ressources.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150000"/>
              </a:lnSpc>
              <a:spcBef>
                <a:spcPts val="0"/>
              </a:spcBef>
              <a:spcAft>
                <a:spcPts val="0"/>
              </a:spcAft>
              <a:buClr>
                <a:schemeClr val="dk1"/>
              </a:buClr>
              <a:buSzPts val="2000"/>
              <a:buFont typeface="Times New Roman" panose="02020603050405020304"/>
              <a:buChar char="❏"/>
            </a:pP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Les requêtes et réponses HTTP sont organisées selon une structure spécifique, et les méthodes HTTP permettent d'effectuer différentes actions sur les ressources du Web.</a:t>
            </a:r>
            <a:endParaRPr dirty="0"/>
          </a:p>
        </p:txBody>
      </p:sp>
      <p:sp>
        <p:nvSpPr>
          <p:cNvPr id="2" name="Zone de texte 1"/>
          <p:cNvSpPr txBox="1"/>
          <p:nvPr/>
        </p:nvSpPr>
        <p:spPr>
          <a:xfrm>
            <a:off x="475994" y="976631"/>
            <a:ext cx="9811385" cy="490220"/>
          </a:xfrm>
          <a:prstGeom prst="rect">
            <a:avLst/>
          </a:prstGeom>
          <a:noFill/>
        </p:spPr>
        <p:txBody>
          <a:bodyPr wrap="square" rtlCol="0">
            <a:spAutoFit/>
          </a:bodyPr>
          <a:lstStyle/>
          <a:p>
            <a:pPr algn="l">
              <a:lnSpc>
                <a:spcPct val="108000"/>
              </a:lnSpc>
              <a:buSzTx/>
            </a:pPr>
            <a:r>
              <a:rPr lang="fr-FR" sz="2400" b="1" dirty="0">
                <a:latin typeface="Times New Roman" panose="02020603050405020304" pitchFamily="18" charset="0"/>
                <a:cs typeface="Times New Roman" panose="02020603050405020304" pitchFamily="18" charset="0"/>
              </a:rPr>
              <a:t>Les Standards Fondamentaux du Web : Formats, Protocoles et Échanges</a:t>
            </a:r>
          </a:p>
        </p:txBody>
      </p:sp>
      <p:pic>
        <p:nvPicPr>
          <p:cNvPr id="4" name="Google Shape;63;p1" descr="Picture 3">
            <a:extLst>
              <a:ext uri="{FF2B5EF4-FFF2-40B4-BE49-F238E27FC236}">
                <a16:creationId xmlns:a16="http://schemas.microsoft.com/office/drawing/2014/main" id="{47CBC768-F74B-5664-CC52-E4247DD226A9}"/>
              </a:ext>
            </a:extLst>
          </p:cNvPr>
          <p:cNvPicPr preferRelativeResize="0"/>
          <p:nvPr/>
        </p:nvPicPr>
        <p:blipFill rotWithShape="1">
          <a:blip r:embed="rId4"/>
          <a:srcRect/>
          <a:stretch>
            <a:fillRect/>
          </a:stretch>
        </p:blipFill>
        <p:spPr>
          <a:xfrm flipH="1">
            <a:off x="10287378" y="71322"/>
            <a:ext cx="2241484" cy="17574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g25b1bb62912_0_23"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141" name="Google Shape;141;g25b1bb62912_0_23"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42" name="Google Shape;142;g25b1bb62912_0_23"/>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9</a:t>
            </a:fld>
            <a:endParaRPr lang="fr-FR"/>
          </a:p>
        </p:txBody>
      </p:sp>
      <p:sp>
        <p:nvSpPr>
          <p:cNvPr id="145" name="Google Shape;145;g25b1bb62912_0_23"/>
          <p:cNvSpPr txBox="1"/>
          <p:nvPr/>
        </p:nvSpPr>
        <p:spPr>
          <a:xfrm>
            <a:off x="1503500" y="508100"/>
            <a:ext cx="7212000" cy="583527"/>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400" b="1" dirty="0">
                <a:latin typeface="Times New Roman" panose="02020603050405020304" pitchFamily="18" charset="0"/>
                <a:cs typeface="Times New Roman" panose="02020603050405020304" pitchFamily="18" charset="0"/>
                <a:sym typeface="Times New Roman" panose="02020603050405020304"/>
              </a:rPr>
              <a:t>Formats d'échange de données sur le Web</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7" name="Google Shape;147;g25b1bb62912_0_23"/>
          <p:cNvPicPr preferRelativeResize="0"/>
          <p:nvPr/>
        </p:nvPicPr>
        <p:blipFill>
          <a:blip r:embed="rId5"/>
          <a:stretch>
            <a:fillRect/>
          </a:stretch>
        </p:blipFill>
        <p:spPr>
          <a:xfrm>
            <a:off x="10966750" y="2256347"/>
            <a:ext cx="862022" cy="878544"/>
          </a:xfrm>
          <a:prstGeom prst="rect">
            <a:avLst/>
          </a:prstGeom>
          <a:noFill/>
          <a:ln>
            <a:noFill/>
          </a:ln>
        </p:spPr>
      </p:pic>
      <p:pic>
        <p:nvPicPr>
          <p:cNvPr id="8" name="Google Shape;148;g25b1bb62912_0_23"/>
          <p:cNvPicPr preferRelativeResize="0"/>
          <p:nvPr/>
        </p:nvPicPr>
        <p:blipFill>
          <a:blip r:embed="rId6"/>
          <a:stretch>
            <a:fillRect/>
          </a:stretch>
        </p:blipFill>
        <p:spPr>
          <a:xfrm>
            <a:off x="10952764" y="3295929"/>
            <a:ext cx="980180" cy="987033"/>
          </a:xfrm>
          <a:prstGeom prst="rect">
            <a:avLst/>
          </a:prstGeom>
          <a:noFill/>
          <a:ln>
            <a:noFill/>
          </a:ln>
        </p:spPr>
      </p:pic>
      <p:pic>
        <p:nvPicPr>
          <p:cNvPr id="9" name="Google Shape;149;g25b1bb62912_0_23"/>
          <p:cNvPicPr preferRelativeResize="0"/>
          <p:nvPr/>
        </p:nvPicPr>
        <p:blipFill>
          <a:blip r:embed="rId7"/>
          <a:stretch>
            <a:fillRect/>
          </a:stretch>
        </p:blipFill>
        <p:spPr>
          <a:xfrm>
            <a:off x="11038037" y="4444000"/>
            <a:ext cx="837605" cy="738901"/>
          </a:xfrm>
          <a:prstGeom prst="rect">
            <a:avLst/>
          </a:prstGeom>
          <a:noFill/>
          <a:ln>
            <a:noFill/>
          </a:ln>
        </p:spPr>
      </p:pic>
      <p:sp>
        <p:nvSpPr>
          <p:cNvPr id="10" name="Google Shape;146;g25b1bb62912_0_23"/>
          <p:cNvSpPr txBox="1"/>
          <p:nvPr/>
        </p:nvSpPr>
        <p:spPr>
          <a:xfrm>
            <a:off x="930475" y="1717940"/>
            <a:ext cx="9199197" cy="3785621"/>
          </a:xfrm>
          <a:prstGeom prst="rect">
            <a:avLst/>
          </a:prstGeom>
          <a:noFill/>
          <a:ln>
            <a:noFill/>
          </a:ln>
        </p:spPr>
        <p:txBody>
          <a:bodyPr spcFirstLastPara="1" wrap="square" lIns="91425" tIns="91425" rIns="91425" bIns="91425" anchor="t" anchorCtr="0">
            <a:spAutoFit/>
          </a:bodyPr>
          <a:lstStyle/>
          <a:p>
            <a:pPr marL="444500" indent="-342900" algn="just">
              <a:lnSpc>
                <a:spcPct val="150000"/>
              </a:lnSpc>
              <a:buSzPts val="2000"/>
              <a:buFont typeface="Wingdings" panose="05000000000000000000" pitchFamily="2" charset="2"/>
              <a:buChar char="q"/>
            </a:pPr>
            <a:r>
              <a:rPr lang="fr-FR" sz="2000" b="1" kern="1200" dirty="0">
                <a:latin typeface="Times New Roman" panose="02020603050405020304" pitchFamily="18" charset="0"/>
                <a:ea typeface="+mn-ea"/>
                <a:cs typeface="Times New Roman" panose="02020603050405020304" pitchFamily="18" charset="0"/>
              </a:rPr>
              <a:t>TEXT</a:t>
            </a:r>
          </a:p>
          <a:p>
            <a:pPr marL="444500" indent="-342900" algn="just">
              <a:lnSpc>
                <a:spcPct val="150000"/>
              </a:lnSpc>
              <a:buSzPts val="2000"/>
              <a:buFont typeface="Wingdings" panose="05000000000000000000" pitchFamily="2" charset="2"/>
              <a:buChar char="q"/>
            </a:pPr>
            <a:r>
              <a:rPr lang="fr-FR" sz="2000" b="1" kern="1200" dirty="0">
                <a:latin typeface="Times New Roman" panose="02020603050405020304" pitchFamily="18" charset="0"/>
                <a:ea typeface="+mn-ea"/>
                <a:cs typeface="Times New Roman" panose="02020603050405020304" pitchFamily="18" charset="0"/>
              </a:rPr>
              <a:t>HTML (HyperText Markup </a:t>
            </a:r>
            <a:r>
              <a:rPr lang="fr-FR" sz="2000" b="1" kern="1200" dirty="0" err="1">
                <a:latin typeface="Times New Roman" panose="02020603050405020304" pitchFamily="18" charset="0"/>
                <a:ea typeface="+mn-ea"/>
                <a:cs typeface="Times New Roman" panose="02020603050405020304" pitchFamily="18" charset="0"/>
              </a:rPr>
              <a:t>Language</a:t>
            </a:r>
            <a:r>
              <a:rPr lang="fr-FR" sz="2000" b="1" kern="1200" dirty="0">
                <a:latin typeface="Times New Roman" panose="02020603050405020304" pitchFamily="18" charset="0"/>
                <a:ea typeface="+mn-ea"/>
                <a:cs typeface="Times New Roman" panose="02020603050405020304" pitchFamily="18" charset="0"/>
              </a:rPr>
              <a:t>)</a:t>
            </a:r>
            <a:r>
              <a:rPr lang="fr-FR" sz="2000" kern="1200" dirty="0">
                <a:latin typeface="Times New Roman" panose="02020603050405020304" pitchFamily="18" charset="0"/>
                <a:ea typeface="+mn-ea"/>
                <a:cs typeface="Times New Roman" panose="02020603050405020304" pitchFamily="18" charset="0"/>
              </a:rPr>
              <a:t>: Langage de base du Web pour la création de pages web.</a:t>
            </a:r>
            <a:r>
              <a:rPr lang="fr-FR" sz="2000" kern="1200" dirty="0">
                <a:latin typeface="Times New Roman" panose="02020603050405020304" pitchFamily="18" charset="0"/>
                <a:ea typeface="+mn-ea"/>
                <a:cs typeface="Times New Roman" panose="02020603050405020304" pitchFamily="18" charset="0"/>
                <a:sym typeface="Times New Roman" panose="02020603050405020304"/>
              </a:rPr>
              <a:t> </a:t>
            </a:r>
          </a:p>
          <a:p>
            <a:pPr marL="444500" indent="-342900" algn="just">
              <a:lnSpc>
                <a:spcPct val="150000"/>
              </a:lnSpc>
              <a:buSzPts val="2000"/>
              <a:buFont typeface="Wingdings" panose="05000000000000000000" pitchFamily="2" charset="2"/>
              <a:buChar char="q"/>
            </a:pPr>
            <a:r>
              <a:rPr lang="fr-FR" sz="2000" b="1" kern="1200" dirty="0">
                <a:latin typeface="Times New Roman" panose="02020603050405020304" pitchFamily="18" charset="0"/>
                <a:ea typeface="+mn-ea"/>
                <a:cs typeface="Times New Roman" panose="02020603050405020304" pitchFamily="18" charset="0"/>
              </a:rPr>
              <a:t>XML (</a:t>
            </a:r>
            <a:r>
              <a:rPr lang="fr-FR" sz="2000" b="1" kern="1200" dirty="0" err="1">
                <a:latin typeface="Times New Roman" panose="02020603050405020304" pitchFamily="18" charset="0"/>
                <a:ea typeface="+mn-ea"/>
                <a:cs typeface="Times New Roman" panose="02020603050405020304" pitchFamily="18" charset="0"/>
              </a:rPr>
              <a:t>eXtensible</a:t>
            </a:r>
            <a:r>
              <a:rPr lang="fr-FR" sz="2000" b="1" kern="1200" dirty="0">
                <a:latin typeface="Times New Roman" panose="02020603050405020304" pitchFamily="18" charset="0"/>
                <a:ea typeface="+mn-ea"/>
                <a:cs typeface="Times New Roman" panose="02020603050405020304" pitchFamily="18" charset="0"/>
              </a:rPr>
              <a:t> Markup </a:t>
            </a:r>
            <a:r>
              <a:rPr lang="fr-FR" sz="2000" b="1" kern="1200" dirty="0" err="1">
                <a:latin typeface="Times New Roman" panose="02020603050405020304" pitchFamily="18" charset="0"/>
                <a:ea typeface="+mn-ea"/>
                <a:cs typeface="Times New Roman" panose="02020603050405020304" pitchFamily="18" charset="0"/>
              </a:rPr>
              <a:t>Language</a:t>
            </a:r>
            <a:r>
              <a:rPr lang="fr-FR" sz="2000" b="1" kern="1200" dirty="0">
                <a:latin typeface="Times New Roman" panose="02020603050405020304" pitchFamily="18" charset="0"/>
                <a:ea typeface="+mn-ea"/>
                <a:cs typeface="Times New Roman" panose="02020603050405020304" pitchFamily="18" charset="0"/>
              </a:rPr>
              <a:t>): </a:t>
            </a:r>
            <a:r>
              <a:rPr lang="fr-FR" sz="2000" kern="1200" dirty="0">
                <a:latin typeface="Times New Roman" panose="02020603050405020304" pitchFamily="18" charset="0"/>
                <a:ea typeface="+mn-ea"/>
                <a:cs typeface="Times New Roman" panose="02020603050405020304" pitchFamily="18" charset="0"/>
              </a:rPr>
              <a:t>Langage de balisage utilisé principalement pour la structuration et l'échange de données.</a:t>
            </a:r>
          </a:p>
          <a:p>
            <a:pPr marL="444500" indent="-342900" algn="just">
              <a:lnSpc>
                <a:spcPct val="150000"/>
              </a:lnSpc>
              <a:buSzPts val="2000"/>
              <a:buFont typeface="Wingdings" panose="05000000000000000000" pitchFamily="2" charset="2"/>
              <a:buChar char="q"/>
            </a:pPr>
            <a:r>
              <a:rPr lang="fr-FR" sz="2000" b="1" kern="1200" dirty="0">
                <a:latin typeface="Times New Roman" panose="02020603050405020304" pitchFamily="18" charset="0"/>
                <a:ea typeface="+mn-ea"/>
                <a:cs typeface="Times New Roman" panose="02020603050405020304" pitchFamily="18" charset="0"/>
              </a:rPr>
              <a:t>JSON (JavaScript Object </a:t>
            </a:r>
            <a:r>
              <a:rPr lang="fr-FR" sz="2000" b="1" kern="1200" dirty="0" err="1">
                <a:latin typeface="Times New Roman" panose="02020603050405020304" pitchFamily="18" charset="0"/>
                <a:ea typeface="+mn-ea"/>
                <a:cs typeface="Times New Roman" panose="02020603050405020304" pitchFamily="18" charset="0"/>
              </a:rPr>
              <a:t>N</a:t>
            </a:r>
            <a:r>
              <a:rPr lang="fr-FR" sz="2000" kern="1200" dirty="0" err="1">
                <a:latin typeface="Times New Roman" panose="02020603050405020304" pitchFamily="18" charset="0"/>
                <a:ea typeface="+mn-ea"/>
                <a:cs typeface="Times New Roman" panose="02020603050405020304" pitchFamily="18" charset="0"/>
              </a:rPr>
              <a:t>Format</a:t>
            </a:r>
            <a:r>
              <a:rPr lang="fr-FR" sz="2000" kern="1200" dirty="0">
                <a:latin typeface="Times New Roman" panose="02020603050405020304" pitchFamily="18" charset="0"/>
                <a:ea typeface="+mn-ea"/>
                <a:cs typeface="Times New Roman" panose="02020603050405020304" pitchFamily="18" charset="0"/>
              </a:rPr>
              <a:t> léger et lisible pour l'échange de données structurées. Utilise des paires "clé : valeur".</a:t>
            </a:r>
            <a:r>
              <a:rPr lang="fr-FR" sz="2000" b="1" kern="1200" dirty="0" err="1">
                <a:latin typeface="Times New Roman" panose="02020603050405020304" pitchFamily="18" charset="0"/>
                <a:ea typeface="+mn-ea"/>
                <a:cs typeface="Times New Roman" panose="02020603050405020304" pitchFamily="18" charset="0"/>
              </a:rPr>
              <a:t>otation</a:t>
            </a:r>
            <a:r>
              <a:rPr lang="fr-FR" sz="2000" b="1" kern="1200" dirty="0">
                <a:latin typeface="Times New Roman" panose="02020603050405020304" pitchFamily="18" charset="0"/>
                <a:ea typeface="+mn-ea"/>
                <a:cs typeface="Times New Roman" panose="02020603050405020304" pitchFamily="18" charset="0"/>
              </a:rPr>
              <a:t>):</a:t>
            </a:r>
            <a:endParaRPr lang="fr-FR" sz="2000" kern="1200" dirty="0">
              <a:latin typeface="Times New Roman" panose="02020603050405020304" pitchFamily="18" charset="0"/>
              <a:ea typeface="+mn-ea"/>
              <a:cs typeface="Times New Roman" panose="02020603050405020304" pitchFamily="18" charset="0"/>
            </a:endParaRPr>
          </a:p>
          <a:p>
            <a:pPr marL="444500" indent="-342900" algn="just">
              <a:lnSpc>
                <a:spcPct val="150000"/>
              </a:lnSpc>
              <a:buSzPts val="2000"/>
              <a:buFont typeface="Wingdings" panose="05000000000000000000" pitchFamily="2" charset="2"/>
              <a:buChar char="q"/>
            </a:pPr>
            <a:endParaRPr lang="fr-FR" sz="1600" kern="12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2" name="Google Shape;63;p1" descr="Picture 3">
            <a:extLst>
              <a:ext uri="{FF2B5EF4-FFF2-40B4-BE49-F238E27FC236}">
                <a16:creationId xmlns:a16="http://schemas.microsoft.com/office/drawing/2014/main" id="{CC9B3909-0D88-F96D-CBF1-E1C0445212B0}"/>
              </a:ext>
            </a:extLst>
          </p:cNvPr>
          <p:cNvPicPr preferRelativeResize="0"/>
          <p:nvPr/>
        </p:nvPicPr>
        <p:blipFill rotWithShape="1">
          <a:blip r:embed="rId8"/>
          <a:srcRect/>
          <a:stretch>
            <a:fillRect/>
          </a:stretch>
        </p:blipFill>
        <p:spPr>
          <a:xfrm flipH="1">
            <a:off x="9798508" y="42842"/>
            <a:ext cx="2846625" cy="15254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g25b1bb62912_0_392" descr="Picture 2"/>
          <p:cNvPicPr preferRelativeResize="0"/>
          <p:nvPr/>
        </p:nvPicPr>
        <p:blipFill rotWithShape="1">
          <a:blip r:embed="rId3"/>
          <a:srcRect/>
          <a:stretch>
            <a:fillRect/>
          </a:stretch>
        </p:blipFill>
        <p:spPr>
          <a:xfrm>
            <a:off x="8806" y="-2842"/>
            <a:ext cx="12652622" cy="6886241"/>
          </a:xfrm>
          <a:prstGeom prst="rect">
            <a:avLst/>
          </a:prstGeom>
          <a:noFill/>
          <a:ln>
            <a:noFill/>
          </a:ln>
        </p:spPr>
      </p:pic>
      <p:pic>
        <p:nvPicPr>
          <p:cNvPr id="173" name="Google Shape;173;g25b1bb62912_0_392"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74" name="Google Shape;174;g25b1bb62912_0_39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10</a:t>
            </a:fld>
            <a:endParaRPr lang="fr-FR"/>
          </a:p>
        </p:txBody>
      </p:sp>
      <p:sp>
        <p:nvSpPr>
          <p:cNvPr id="177" name="Google Shape;177;g25b1bb62912_0_39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Protocole de communication TCP vs HTTP</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25b1bb62912_0_392"/>
          <p:cNvSpPr txBox="1"/>
          <p:nvPr/>
        </p:nvSpPr>
        <p:spPr>
          <a:xfrm>
            <a:off x="958724" y="1483830"/>
            <a:ext cx="10131097" cy="1084882"/>
          </a:xfrm>
          <a:prstGeom prst="rect">
            <a:avLst/>
          </a:prstGeom>
          <a:noFill/>
          <a:ln>
            <a:noFill/>
          </a:ln>
        </p:spPr>
        <p:txBody>
          <a:bodyPr spcFirstLastPara="1" wrap="square" lIns="91425" tIns="91425" rIns="91425" bIns="91425" anchor="t" anchorCtr="0">
            <a:spAutoFit/>
          </a:bodyPr>
          <a:lstStyle/>
          <a:p>
            <a:pPr marL="457200" lvl="0" indent="-355600" algn="just" rtl="0">
              <a:lnSpc>
                <a:spcPct val="115000"/>
              </a:lnSpc>
              <a:spcBef>
                <a:spcPts val="1500"/>
              </a:spcBef>
              <a:spcAft>
                <a:spcPts val="0"/>
              </a:spcAft>
              <a:buClr>
                <a:schemeClr val="dk1"/>
              </a:buClr>
              <a:buSzPts val="2000"/>
              <a:buFont typeface="Times New Roman" panose="02020603050405020304"/>
              <a:buChar char="❏"/>
            </a:pPr>
            <a:r>
              <a:rPr lang="fr-F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TCP</a:t>
            </a: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(Transmission Control Protocol) est un protocole de la couche de transport qui assure une communication fiable et orientée connexion entre les appareils sur un réseau.</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 name="Google Shape;180;g25b1bb62912_0_392"/>
          <p:cNvSpPr txBox="1"/>
          <p:nvPr/>
        </p:nvSpPr>
        <p:spPr>
          <a:xfrm>
            <a:off x="958724" y="2628120"/>
            <a:ext cx="10131097" cy="2339072"/>
          </a:xfrm>
          <a:prstGeom prst="rect">
            <a:avLst/>
          </a:prstGeom>
          <a:noFill/>
          <a:ln>
            <a:noFill/>
          </a:ln>
        </p:spPr>
        <p:txBody>
          <a:bodyPr spcFirstLastPara="1" wrap="square" lIns="91425" tIns="91425" rIns="91425" bIns="91425" anchor="t" anchorCtr="0">
            <a:spAutoFit/>
          </a:bodyPr>
          <a:lstStyle/>
          <a:p>
            <a:pPr marL="457200" lvl="0" indent="-355600" algn="just" rtl="0">
              <a:lnSpc>
                <a:spcPct val="115000"/>
              </a:lnSpc>
              <a:spcBef>
                <a:spcPts val="1500"/>
              </a:spcBef>
              <a:spcAft>
                <a:spcPts val="0"/>
              </a:spcAft>
              <a:buClr>
                <a:schemeClr val="dk1"/>
              </a:buClr>
              <a:buSzPts val="2000"/>
              <a:buFont typeface="Times New Roman" panose="02020603050405020304"/>
              <a:buChar char="❏"/>
            </a:pPr>
            <a:r>
              <a:rPr lang="fr-F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HTTP</a:t>
            </a: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fr-FR" sz="20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Hypertext</a:t>
            </a: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Transfer Protocol)  est un protocole de la couche application qui s'exécute au-dessus de TCP (ou d'autres protocoles de la couche de transport) et régit le transfert de ressources hypertexte (web) entre les clients et les serveurs sur le World Wide Web.</a:t>
            </a:r>
          </a:p>
          <a:p>
            <a:pPr marL="457200" lvl="0" indent="-355600" algn="just">
              <a:lnSpc>
                <a:spcPct val="115000"/>
              </a:lnSpc>
              <a:spcBef>
                <a:spcPts val="1500"/>
              </a:spcBef>
              <a:buClr>
                <a:schemeClr val="dk1"/>
              </a:buClr>
              <a:buSzPts val="2000"/>
              <a:buFont typeface="Times New Roman" panose="02020603050405020304"/>
              <a:buChar char="❏"/>
            </a:pP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HTTP s'appuie sur TCP pour assurer un transport fiable des données entre les navigateurs et les serveurs web</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Image 1" descr="Une image contenant texte, capture d’écran, Police&#10;&#10;Description générée automatiquement"/>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14088" y="4609794"/>
            <a:ext cx="7402824" cy="1740106"/>
          </a:xfrm>
          <a:prstGeom prst="rect">
            <a:avLst/>
          </a:prstGeom>
        </p:spPr>
      </p:pic>
      <p:pic>
        <p:nvPicPr>
          <p:cNvPr id="3" name="Google Shape;63;p1" descr="Picture 3">
            <a:extLst>
              <a:ext uri="{FF2B5EF4-FFF2-40B4-BE49-F238E27FC236}">
                <a16:creationId xmlns:a16="http://schemas.microsoft.com/office/drawing/2014/main" id="{3D474AD6-2A8E-A9FB-5A0C-93B75DA705EE}"/>
              </a:ext>
            </a:extLst>
          </p:cNvPr>
          <p:cNvPicPr preferRelativeResize="0"/>
          <p:nvPr/>
        </p:nvPicPr>
        <p:blipFill rotWithShape="1">
          <a:blip r:embed="rId6"/>
          <a:srcRect/>
          <a:stretch>
            <a:fillRect/>
          </a:stretch>
        </p:blipFill>
        <p:spPr>
          <a:xfrm flipH="1">
            <a:off x="9798508" y="15303"/>
            <a:ext cx="2846625" cy="15254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g25b1bb62912_0_392"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173" name="Google Shape;173;g25b1bb62912_0_392"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74" name="Google Shape;174;g25b1bb62912_0_39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11</a:t>
            </a:fld>
            <a:endParaRPr lang="fr-FR"/>
          </a:p>
        </p:txBody>
      </p:sp>
      <p:sp>
        <p:nvSpPr>
          <p:cNvPr id="177" name="Google Shape;177;g25b1bb62912_0_39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HTTP: Méthodes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25b1bb62912_0_392"/>
          <p:cNvSpPr txBox="1"/>
          <p:nvPr/>
        </p:nvSpPr>
        <p:spPr>
          <a:xfrm>
            <a:off x="958724" y="1594775"/>
            <a:ext cx="10131097" cy="4274986"/>
          </a:xfrm>
          <a:prstGeom prst="rect">
            <a:avLst/>
          </a:prstGeom>
          <a:noFill/>
          <a:ln>
            <a:noFill/>
          </a:ln>
        </p:spPr>
        <p:txBody>
          <a:bodyPr spcFirstLastPara="1" wrap="square" lIns="91425" tIns="91425" rIns="91425" bIns="91425" anchor="t" anchorCtr="0">
            <a:spAutoFit/>
          </a:bodyPr>
          <a:lstStyle/>
          <a:p>
            <a:pPr marL="457200" lvl="0" indent="-355600" algn="just" rtl="0">
              <a:lnSpc>
                <a:spcPct val="115000"/>
              </a:lnSpc>
              <a:spcBef>
                <a:spcPts val="1500"/>
              </a:spcBef>
              <a:spcAft>
                <a:spcPts val="0"/>
              </a:spcAft>
              <a:buClr>
                <a:schemeClr val="dk1"/>
              </a:buClr>
              <a:buSzPts val="2000"/>
              <a:buFont typeface="Times New Roman" panose="02020603050405020304"/>
              <a:buChar char="❏"/>
            </a:pPr>
            <a:r>
              <a:rPr lang="fr-FR" sz="22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Les méthodes HTTP spécifient l'action à effectuer sur la ressource:</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fr-FR" sz="1800" b="0" i="0" u="none" strike="noStrike" kern="1200" cap="none" spc="0" normalizeH="0" baseline="0" noProof="0" dirty="0">
              <a:ln>
                <a:noFill/>
              </a:ln>
              <a:solidFill>
                <a:srgbClr val="262626"/>
              </a:solidFill>
              <a:effectLst/>
              <a:highlight>
                <a:srgbClr val="FFFFFF"/>
              </a:highlight>
              <a:uLnTx/>
              <a:uFillTx/>
              <a:latin typeface="Franklin Gothic Book" panose="020B0503020102020204"/>
              <a:ea typeface="+mn-ea"/>
              <a:cs typeface="+mn-cs"/>
            </a:endParaRPr>
          </a:p>
          <a:p>
            <a:pPr marL="457200" marR="0" lvl="1" indent="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fr-FR" sz="18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GET</a:t>
            </a:r>
            <a:r>
              <a:rPr kumimoji="0" lang="fr-FR" sz="1800" b="0" i="0" u="none" strike="noStrike" kern="1200" cap="none" spc="0" normalizeH="0" baseline="0" noProof="0" dirty="0">
                <a:ln>
                  <a:noFill/>
                </a:ln>
                <a:solidFill>
                  <a:srgbClr val="262626"/>
                </a:solidFill>
                <a:effectLst/>
                <a:uLnTx/>
                <a:uFillTx/>
                <a:latin typeface="Franklin Gothic Book" panose="020B0503020102020204"/>
                <a:ea typeface="+mn-ea"/>
                <a:cs typeface="+mn-cs"/>
              </a:rPr>
              <a:t> </a:t>
            </a:r>
            <a:r>
              <a:rPr kumimoji="0" lang="fr-FR" sz="18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a:t>
            </a:r>
            <a:r>
              <a:rPr kumimoji="0" lang="fr-FR" sz="1800" b="0" i="0" u="none" strike="noStrike" kern="1200" cap="none" spc="0" normalizeH="0" baseline="0" noProof="0" dirty="0">
                <a:ln>
                  <a:noFill/>
                </a:ln>
                <a:solidFill>
                  <a:srgbClr val="262626"/>
                </a:solidFill>
                <a:effectLst/>
                <a:uLnTx/>
                <a:uFillTx/>
                <a:latin typeface="Franklin Gothic Book" panose="020B0503020102020204"/>
                <a:ea typeface="+mn-ea"/>
                <a:cs typeface="+mn-cs"/>
              </a:rPr>
              <a:t> </a:t>
            </a:r>
            <a:r>
              <a:rPr kumimoji="0" lang="fr-FR" sz="2000" b="0"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Obtenir des informations à partir d'un serveur Web.</a:t>
            </a:r>
            <a:endParaRPr kumimoji="0" lang="fr-FR" sz="1800" b="0"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endParaRPr>
          </a:p>
          <a:p>
            <a:pPr marL="457200" marR="0" lvl="1" indent="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fr-FR" sz="18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POST</a:t>
            </a:r>
            <a:r>
              <a:rPr kumimoji="0" lang="fr-FR" sz="18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lang="fr-FR" sz="2000" kern="1200" dirty="0">
                <a:solidFill>
                  <a:srgbClr val="262626"/>
                </a:solidFill>
                <a:latin typeface="Times New Roman" panose="02020603050405020304" pitchFamily="18" charset="0"/>
                <a:ea typeface="+mn-ea"/>
                <a:cs typeface="Times New Roman" panose="02020603050405020304" pitchFamily="18" charset="0"/>
              </a:rPr>
              <a:t>Soumettre des données au serveur Web et potentiellement créer de nouveaux enregistrements.</a:t>
            </a:r>
          </a:p>
          <a:p>
            <a:pPr marL="457200" lvl="1" algn="just">
              <a:lnSpc>
                <a:spcPct val="150000"/>
              </a:lnSpc>
              <a:buClrTx/>
              <a:buFont typeface="Arial" panose="020B0604020202020204" pitchFamily="34" charset="0"/>
              <a:buChar char="•"/>
              <a:defRPr/>
            </a:pPr>
            <a:r>
              <a:rPr kumimoji="0" lang="fr-FR" sz="18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PUT</a:t>
            </a:r>
            <a:r>
              <a:rPr kumimoji="0" lang="fr-FR" sz="18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lang="fr-FR" sz="2000" kern="1200" dirty="0">
                <a:solidFill>
                  <a:srgbClr val="262626"/>
                </a:solidFill>
                <a:latin typeface="Times New Roman" panose="02020603050405020304" pitchFamily="18" charset="0"/>
                <a:ea typeface="+mn-ea"/>
                <a:cs typeface="Times New Roman" panose="02020603050405020304" pitchFamily="18" charset="0"/>
              </a:rPr>
              <a:t>Mettre à jour une ressource existante avec de nouvelles données.</a:t>
            </a:r>
          </a:p>
          <a:p>
            <a:pPr marL="457200" marR="0" lvl="1" indent="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fr-FR" sz="18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PATCH</a:t>
            </a:r>
            <a:r>
              <a:rPr kumimoji="0" lang="fr-FR" sz="18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lang="fr-FR" sz="2000" kern="1200" dirty="0">
                <a:solidFill>
                  <a:srgbClr val="262626"/>
                </a:solidFill>
                <a:latin typeface="Times New Roman" panose="02020603050405020304" pitchFamily="18" charset="0"/>
                <a:ea typeface="+mn-ea"/>
                <a:cs typeface="Times New Roman" panose="02020603050405020304" pitchFamily="18" charset="0"/>
              </a:rPr>
              <a:t>Mettre à jour une partie d'une ressource existante, sans modifier l'intégralité de la ressource.</a:t>
            </a:r>
          </a:p>
          <a:p>
            <a:pPr marL="457200" marR="0" lvl="1" indent="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fr-FR" sz="18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DELETE</a:t>
            </a:r>
            <a:r>
              <a:rPr kumimoji="0" lang="fr-FR" sz="1800" b="0" i="0" u="none" strike="noStrike" kern="1200" cap="none" spc="0" normalizeH="0" baseline="0" noProof="0" dirty="0">
                <a:ln>
                  <a:noFill/>
                </a:ln>
                <a:solidFill>
                  <a:srgbClr val="262626"/>
                </a:solidFill>
                <a:effectLst/>
                <a:uLnTx/>
                <a:uFillTx/>
                <a:latin typeface="Franklin Gothic Book" panose="020B0503020102020204"/>
                <a:ea typeface="+mn-ea"/>
                <a:cs typeface="+mn-cs"/>
              </a:rPr>
              <a:t> </a:t>
            </a:r>
            <a:r>
              <a:rPr kumimoji="0" lang="fr-FR" sz="18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a:t>
            </a:r>
            <a:r>
              <a:rPr kumimoji="0" lang="fr-FR" sz="1800" b="0" i="0" u="none" strike="noStrike" kern="1200" cap="none" spc="0" normalizeH="0" baseline="0" noProof="0" dirty="0">
                <a:ln>
                  <a:noFill/>
                </a:ln>
                <a:solidFill>
                  <a:srgbClr val="262626"/>
                </a:solidFill>
                <a:effectLst/>
                <a:uLnTx/>
                <a:uFillTx/>
                <a:latin typeface="Franklin Gothic Book" panose="020B0503020102020204"/>
                <a:ea typeface="+mn-ea"/>
                <a:cs typeface="+mn-cs"/>
              </a:rPr>
              <a:t> </a:t>
            </a:r>
            <a:r>
              <a:rPr lang="fr-FR" sz="2000" kern="1200" dirty="0">
                <a:solidFill>
                  <a:srgbClr val="262626"/>
                </a:solidFill>
                <a:latin typeface="Times New Roman" panose="02020603050405020304" pitchFamily="18" charset="0"/>
                <a:ea typeface="+mn-ea"/>
                <a:cs typeface="Times New Roman" panose="02020603050405020304" pitchFamily="18" charset="0"/>
              </a:rPr>
              <a:t>Supprimer des informations/enregistrements d'un serveur Web.</a:t>
            </a:r>
            <a:endParaRPr lang="fr-FR" sz="2000" kern="1200" dirty="0">
              <a:solidFill>
                <a:srgbClr val="262626"/>
              </a:solidFill>
              <a:latin typeface="Times New Roman" panose="02020603050405020304" pitchFamily="18" charset="0"/>
              <a:ea typeface="+mn-ea"/>
              <a:cs typeface="Times New Roman" panose="02020603050405020304" pitchFamily="18" charset="0"/>
              <a:sym typeface="Times New Roman" panose="02020603050405020304"/>
            </a:endParaRPr>
          </a:p>
        </p:txBody>
      </p:sp>
      <p:pic>
        <p:nvPicPr>
          <p:cNvPr id="2" name="Google Shape;63;p1" descr="Picture 3">
            <a:extLst>
              <a:ext uri="{FF2B5EF4-FFF2-40B4-BE49-F238E27FC236}">
                <a16:creationId xmlns:a16="http://schemas.microsoft.com/office/drawing/2014/main" id="{5A071370-9755-F592-CB86-BC7FE5FFE22D}"/>
              </a:ext>
            </a:extLst>
          </p:cNvPr>
          <p:cNvPicPr preferRelativeResize="0"/>
          <p:nvPr/>
        </p:nvPicPr>
        <p:blipFill rotWithShape="1">
          <a:blip r:embed="rId5"/>
          <a:srcRect/>
          <a:stretch>
            <a:fillRect/>
          </a:stretch>
        </p:blipFill>
        <p:spPr>
          <a:xfrm flipH="1">
            <a:off x="9814554" y="69326"/>
            <a:ext cx="2846625" cy="15254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g25b1bb62912_0_392"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173" name="Google Shape;173;g25b1bb62912_0_392"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74" name="Google Shape;174;g25b1bb62912_0_39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12</a:t>
            </a:fld>
            <a:endParaRPr lang="fr-FR"/>
          </a:p>
        </p:txBody>
      </p:sp>
      <p:sp>
        <p:nvSpPr>
          <p:cNvPr id="177" name="Google Shape;177;g25b1bb62912_0_39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HTTP: Méthodes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25b1bb62912_0_392"/>
          <p:cNvSpPr txBox="1"/>
          <p:nvPr/>
        </p:nvSpPr>
        <p:spPr>
          <a:xfrm>
            <a:off x="958724" y="1594775"/>
            <a:ext cx="10131097" cy="5162922"/>
          </a:xfrm>
          <a:prstGeom prst="rect">
            <a:avLst/>
          </a:prstGeom>
          <a:noFill/>
          <a:ln>
            <a:noFill/>
          </a:ln>
        </p:spPr>
        <p:txBody>
          <a:bodyPr spcFirstLastPara="1" wrap="square" lIns="91425" tIns="91425" rIns="91425" bIns="91425" numCol="1"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fr-FR" sz="1800" b="0" i="0" u="none" strike="noStrike" kern="1200" cap="none" spc="0" normalizeH="0" baseline="0" noProof="0" dirty="0">
              <a:ln>
                <a:noFill/>
              </a:ln>
              <a:solidFill>
                <a:srgbClr val="262626"/>
              </a:solidFill>
              <a:effectLst/>
              <a:highlight>
                <a:srgbClr val="FFFFFF"/>
              </a:highlight>
              <a:uLnTx/>
              <a:uFillTx/>
              <a:latin typeface="Franklin Gothic Book" panose="020B0503020102020204"/>
              <a:ea typeface="+mn-ea"/>
              <a:cs typeface="+mn-cs"/>
            </a:endParaRPr>
          </a:p>
          <a:p>
            <a:pPr marL="457200" marR="0" lvl="1" indent="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fr-FR" sz="18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HEAD</a:t>
            </a:r>
            <a:r>
              <a:rPr kumimoji="0" lang="fr-FR" sz="18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kumimoji="0" lang="fr-FR" sz="2000" b="0"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Récupérer les en-têtes de réponse d'une ressource, sans le corps de la réponse. 	 - Souvent pour vérifier si une ressource existe ou a été modifiée depuis la dernière    demande.</a:t>
            </a:r>
          </a:p>
          <a:p>
            <a:pPr marL="457200" marR="0" lvl="1" indent="0" algn="just" defTabSz="914400" rtl="0" eaLnBrk="1" fontAlgn="auto" latinLnBrk="0" hangingPunct="1">
              <a:lnSpc>
                <a:spcPct val="150000"/>
              </a:lnSpc>
              <a:spcBef>
                <a:spcPts val="0"/>
              </a:spcBef>
              <a:spcAft>
                <a:spcPts val="0"/>
              </a:spcAft>
              <a:buClrTx/>
              <a:buSzTx/>
              <a:buFontTx/>
              <a:buNone/>
              <a:defRPr/>
            </a:pPr>
            <a:r>
              <a:rPr kumimoji="0" lang="fr-FR" sz="2000" b="0"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 Exemple: vérifier si une image est toujours disponible sur un serveur externe.</a:t>
            </a:r>
          </a:p>
          <a:p>
            <a:pPr marL="457200" marR="0" lvl="1" indent="0" algn="just" defTabSz="914400" rtl="0" eaLnBrk="1" fontAlgn="auto" latinLnBrk="0" hangingPunct="1">
              <a:lnSpc>
                <a:spcPct val="150000"/>
              </a:lnSpc>
              <a:spcBef>
                <a:spcPts val="0"/>
              </a:spcBef>
              <a:spcAft>
                <a:spcPts val="0"/>
              </a:spcAft>
              <a:buClrTx/>
              <a:buSzTx/>
              <a:buFontTx/>
              <a:buNone/>
              <a:defRPr/>
            </a:pPr>
            <a:endParaRPr kumimoji="0" lang="fr-FR" sz="2000" b="0"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endParaRPr>
          </a:p>
          <a:p>
            <a:pPr marL="457200" marR="0" lvl="1" indent="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fr-FR" sz="18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OPTIONS</a:t>
            </a:r>
            <a:r>
              <a:rPr kumimoji="0" lang="fr-FR" sz="18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lang="fr-FR" sz="2000" kern="1200" dirty="0">
                <a:solidFill>
                  <a:srgbClr val="262626"/>
                </a:solidFill>
                <a:latin typeface="Times New Roman" panose="02020603050405020304" pitchFamily="18" charset="0"/>
                <a:ea typeface="+mn-ea"/>
                <a:cs typeface="Times New Roman" panose="02020603050405020304" pitchFamily="18" charset="0"/>
              </a:rPr>
              <a:t>Découvrir les méthodes HTTP prises en charge par une ressource. </a:t>
            </a:r>
          </a:p>
          <a:p>
            <a:pPr marL="457200" marR="0" lvl="1" indent="0" algn="just" defTabSz="914400" rtl="0" eaLnBrk="1" fontAlgn="auto" latinLnBrk="0" hangingPunct="1">
              <a:lnSpc>
                <a:spcPct val="150000"/>
              </a:lnSpc>
              <a:spcBef>
                <a:spcPts val="0"/>
              </a:spcBef>
              <a:spcAft>
                <a:spcPts val="0"/>
              </a:spcAft>
              <a:buClrTx/>
              <a:buSzTx/>
              <a:buFontTx/>
              <a:buNone/>
              <a:defRPr/>
            </a:pPr>
            <a:r>
              <a:rPr lang="fr-FR" sz="2000" kern="1200" dirty="0">
                <a:solidFill>
                  <a:srgbClr val="262626"/>
                </a:solidFill>
                <a:latin typeface="Times New Roman" panose="02020603050405020304" pitchFamily="18" charset="0"/>
                <a:ea typeface="+mn-ea"/>
                <a:cs typeface="Times New Roman" panose="02020603050405020304" pitchFamily="18" charset="0"/>
              </a:rPr>
              <a:t>          - Cela permet au client d'adapter ses requêtes ultérieures en fonction des actions possibles sur la ressource.</a:t>
            </a:r>
          </a:p>
          <a:p>
            <a:pPr marL="457200" marR="0" lvl="1" indent="0" algn="just" defTabSz="914400" rtl="0" eaLnBrk="1" fontAlgn="auto" latinLnBrk="0" hangingPunct="1">
              <a:lnSpc>
                <a:spcPct val="150000"/>
              </a:lnSpc>
              <a:spcBef>
                <a:spcPts val="0"/>
              </a:spcBef>
              <a:spcAft>
                <a:spcPts val="0"/>
              </a:spcAft>
              <a:buClrTx/>
              <a:buSzTx/>
              <a:buFontTx/>
              <a:buNone/>
              <a:defRPr/>
            </a:pPr>
            <a:r>
              <a:rPr lang="fr-FR" sz="2000" kern="1200" dirty="0">
                <a:solidFill>
                  <a:srgbClr val="262626"/>
                </a:solidFill>
                <a:latin typeface="Times New Roman" panose="02020603050405020304" pitchFamily="18" charset="0"/>
                <a:ea typeface="+mn-ea"/>
                <a:cs typeface="Times New Roman" panose="02020603050405020304" pitchFamily="18" charset="0"/>
              </a:rPr>
              <a:t>         - Exemple: Un client qui rencontre une ressource pour la première fois. </a:t>
            </a:r>
            <a:endParaRPr lang="fr-FR" sz="2000" kern="1200" dirty="0">
              <a:solidFill>
                <a:srgbClr val="262626"/>
              </a:solidFill>
              <a:latin typeface="Times New Roman" panose="02020603050405020304" pitchFamily="18" charset="0"/>
              <a:ea typeface="+mn-ea"/>
              <a:cs typeface="Times New Roman" panose="02020603050405020304" pitchFamily="18" charset="0"/>
              <a:sym typeface="Times New Roman" panose="02020603050405020304"/>
            </a:endParaRPr>
          </a:p>
          <a:p>
            <a:pPr marL="101600" lvl="0" algn="just" rtl="0">
              <a:lnSpc>
                <a:spcPct val="115000"/>
              </a:lnSpc>
              <a:spcBef>
                <a:spcPts val="1500"/>
              </a:spcBef>
              <a:spcAft>
                <a:spcPts val="0"/>
              </a:spcAft>
              <a:buClr>
                <a:schemeClr val="dk1"/>
              </a:buClr>
              <a:buSzPts val="2000"/>
            </a:pPr>
            <a:endPar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Google Shape;63;p1" descr="Picture 3">
            <a:extLst>
              <a:ext uri="{FF2B5EF4-FFF2-40B4-BE49-F238E27FC236}">
                <a16:creationId xmlns:a16="http://schemas.microsoft.com/office/drawing/2014/main" id="{55BFBAE9-8EB2-263D-29C0-4E2AA5EFBF4C}"/>
              </a:ext>
            </a:extLst>
          </p:cNvPr>
          <p:cNvPicPr preferRelativeResize="0"/>
          <p:nvPr/>
        </p:nvPicPr>
        <p:blipFill rotWithShape="1">
          <a:blip r:embed="rId5"/>
          <a:srcRect/>
          <a:stretch>
            <a:fillRect/>
          </a:stretch>
        </p:blipFill>
        <p:spPr>
          <a:xfrm flipH="1">
            <a:off x="9798508" y="62049"/>
            <a:ext cx="2846625" cy="15254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g25b1bb62912_0_392"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173" name="Google Shape;173;g25b1bb62912_0_392"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74" name="Google Shape;174;g25b1bb62912_0_39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13</a:t>
            </a:fld>
            <a:endParaRPr lang="fr-FR"/>
          </a:p>
        </p:txBody>
      </p:sp>
      <p:sp>
        <p:nvSpPr>
          <p:cNvPr id="177" name="Google Shape;177;g25b1bb62912_0_39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HTTP: Structure de Requête</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25b1bb62912_0_392"/>
          <p:cNvSpPr txBox="1"/>
          <p:nvPr/>
        </p:nvSpPr>
        <p:spPr>
          <a:xfrm>
            <a:off x="578894" y="1677790"/>
            <a:ext cx="6472590" cy="4479658"/>
          </a:xfrm>
          <a:prstGeom prst="rect">
            <a:avLst/>
          </a:prstGeom>
          <a:noFill/>
          <a:ln>
            <a:noFill/>
          </a:ln>
        </p:spPr>
        <p:txBody>
          <a:bodyPr spcFirstLastPara="1" wrap="square" lIns="91425" tIns="91425" rIns="91425" bIns="91425" numCol="1" anchor="t" anchorCtr="0">
            <a:spAutoFit/>
          </a:bodyPr>
          <a:lstStyle/>
          <a:p>
            <a:pPr marL="0" marR="0" lvl="0" indent="0" algn="just" defTabSz="914400" rtl="0" eaLnBrk="1" fontAlgn="auto" latinLnBrk="0" hangingPunct="1">
              <a:lnSpc>
                <a:spcPct val="90000"/>
              </a:lnSpc>
              <a:spcBef>
                <a:spcPts val="1800"/>
              </a:spcBef>
              <a:spcAft>
                <a:spcPts val="0"/>
              </a:spcAft>
              <a:buClrTx/>
              <a:buSzTx/>
              <a:buFont typeface="Arial" panose="020B0604020202020204" pitchFamily="34" charset="0"/>
              <a:buNone/>
              <a:defRPr/>
            </a:pPr>
            <a:r>
              <a:rPr kumimoji="0" lang="fr-FR"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La requête HTTP est composée de trois parties principales :</a:t>
            </a:r>
          </a:p>
          <a:p>
            <a:pPr marL="0" marR="0" lvl="0" indent="0" algn="just" defTabSz="914400" rtl="0" eaLnBrk="1" fontAlgn="auto" latinLnBrk="0" hangingPunct="1">
              <a:lnSpc>
                <a:spcPct val="90000"/>
              </a:lnSpc>
              <a:spcBef>
                <a:spcPts val="1800"/>
              </a:spcBef>
              <a:spcAft>
                <a:spcPts val="0"/>
              </a:spcAft>
              <a:buClrTx/>
              <a:buSzTx/>
              <a:buFont typeface="Arial" panose="020B0604020202020204" pitchFamily="34" charset="0"/>
              <a:buChar char="•"/>
              <a:defRPr/>
            </a:pPr>
            <a:r>
              <a:rPr kumimoji="0" lang="fr-FR" sz="19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Ligne de Requête</a:t>
            </a:r>
            <a:r>
              <a:rPr kumimoji="0" lang="fr-FR" sz="19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kumimoji="0" lang="fr-FR"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Indique la méthode HTTP, l'URL de la ressource demandée et la version du protocole HTTP.</a:t>
            </a:r>
          </a:p>
          <a:p>
            <a:pPr algn="just">
              <a:lnSpc>
                <a:spcPct val="90000"/>
              </a:lnSpc>
              <a:spcBef>
                <a:spcPts val="1800"/>
              </a:spcBef>
              <a:buClrTx/>
              <a:buFont typeface="Arial" panose="020B0604020202020204" pitchFamily="34" charset="0"/>
              <a:buChar char="•"/>
              <a:defRPr/>
            </a:pPr>
            <a:r>
              <a:rPr kumimoji="0" lang="fr-FR" sz="19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En-têtes de Requête</a:t>
            </a:r>
            <a:r>
              <a:rPr kumimoji="0" lang="fr-FR" sz="19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lang="fr-FR" sz="2000" kern="1200" dirty="0">
                <a:latin typeface="Times New Roman" panose="02020603050405020304" pitchFamily="18" charset="0"/>
                <a:ea typeface="+mn-ea"/>
                <a:cs typeface="Times New Roman" panose="02020603050405020304" pitchFamily="18" charset="0"/>
              </a:rPr>
              <a:t>Fournissent des informations supplémentaires sur la requête, telles que le type de contenu, les cookies, etc.</a:t>
            </a:r>
          </a:p>
          <a:p>
            <a:pPr marL="0" marR="0" lvl="0" indent="0" algn="just" defTabSz="914400" rtl="0" eaLnBrk="1" fontAlgn="auto" latinLnBrk="0" hangingPunct="1">
              <a:lnSpc>
                <a:spcPct val="90000"/>
              </a:lnSpc>
              <a:spcBef>
                <a:spcPts val="1800"/>
              </a:spcBef>
              <a:spcAft>
                <a:spcPts val="0"/>
              </a:spcAft>
              <a:buClrTx/>
              <a:buSzTx/>
              <a:buFont typeface="Arial" panose="020B0604020202020204" pitchFamily="34" charset="0"/>
              <a:buChar char="•"/>
              <a:defRPr/>
            </a:pPr>
            <a:r>
              <a:rPr kumimoji="0" lang="fr-FR" sz="19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Corps de Requête (facultatif)</a:t>
            </a:r>
            <a:r>
              <a:rPr kumimoji="0" lang="fr-FR" sz="19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kumimoji="0" lang="fr-FR"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Contient des données envoyées au serveur généralement utilisé avec les méthodes POST, PUT et PATCH).</a:t>
            </a:r>
          </a:p>
          <a:p>
            <a:pPr marL="101600" lvl="0" algn="just" rtl="0">
              <a:lnSpc>
                <a:spcPct val="115000"/>
              </a:lnSpc>
              <a:spcBef>
                <a:spcPts val="1500"/>
              </a:spcBef>
              <a:spcAft>
                <a:spcPts val="0"/>
              </a:spcAft>
              <a:buClr>
                <a:schemeClr val="dk1"/>
              </a:buClr>
              <a:buSzPts val="2000"/>
            </a:pPr>
            <a:endPar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Image 1" descr="Une image contenant texte, capture d’écran, Police, nombr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92185" y="2025748"/>
            <a:ext cx="5315841" cy="3830424"/>
          </a:xfrm>
          <a:prstGeom prst="rect">
            <a:avLst/>
          </a:prstGeom>
          <a:noFill/>
        </p:spPr>
      </p:pic>
      <p:pic>
        <p:nvPicPr>
          <p:cNvPr id="3" name="Google Shape;63;p1" descr="Picture 3">
            <a:extLst>
              <a:ext uri="{FF2B5EF4-FFF2-40B4-BE49-F238E27FC236}">
                <a16:creationId xmlns:a16="http://schemas.microsoft.com/office/drawing/2014/main" id="{F52B78B6-1983-03C2-4577-0C2CD825B58B}"/>
              </a:ext>
            </a:extLst>
          </p:cNvPr>
          <p:cNvPicPr preferRelativeResize="0"/>
          <p:nvPr/>
        </p:nvPicPr>
        <p:blipFill rotWithShape="1">
          <a:blip r:embed="rId6"/>
          <a:srcRect/>
          <a:stretch>
            <a:fillRect/>
          </a:stretch>
        </p:blipFill>
        <p:spPr>
          <a:xfrm flipH="1">
            <a:off x="9802103" y="117251"/>
            <a:ext cx="2846625" cy="15254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g25b1bb62912_0_392"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173" name="Google Shape;173;g25b1bb62912_0_392"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74" name="Google Shape;174;g25b1bb62912_0_39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14</a:t>
            </a:fld>
            <a:endParaRPr lang="fr-FR"/>
          </a:p>
        </p:txBody>
      </p:sp>
      <p:sp>
        <p:nvSpPr>
          <p:cNvPr id="177" name="Google Shape;177;g25b1bb62912_0_39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HTTP: Structure de Réponse</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25b1bb62912_0_392"/>
          <p:cNvSpPr txBox="1"/>
          <p:nvPr/>
        </p:nvSpPr>
        <p:spPr>
          <a:xfrm>
            <a:off x="578894" y="1677790"/>
            <a:ext cx="6472590" cy="4479658"/>
          </a:xfrm>
          <a:prstGeom prst="rect">
            <a:avLst/>
          </a:prstGeom>
          <a:noFill/>
          <a:ln>
            <a:noFill/>
          </a:ln>
        </p:spPr>
        <p:txBody>
          <a:bodyPr spcFirstLastPara="1" wrap="square" lIns="91425" tIns="91425" rIns="91425" bIns="91425" numCol="1" anchor="t" anchorCtr="0">
            <a:spAutoFit/>
          </a:bodyPr>
          <a:lstStyle/>
          <a:p>
            <a:pPr marL="0" marR="0" lvl="0" indent="0" algn="just" defTabSz="914400" rtl="0" eaLnBrk="1" fontAlgn="auto" latinLnBrk="0" hangingPunct="1">
              <a:lnSpc>
                <a:spcPct val="90000"/>
              </a:lnSpc>
              <a:spcBef>
                <a:spcPts val="1800"/>
              </a:spcBef>
              <a:spcAft>
                <a:spcPts val="0"/>
              </a:spcAft>
              <a:buClrTx/>
              <a:buSzTx/>
              <a:buFont typeface="Arial" panose="020B0604020202020204" pitchFamily="34" charset="0"/>
              <a:buNone/>
              <a:defRPr/>
            </a:pPr>
            <a:r>
              <a:rPr kumimoji="0" lang="fr-FR"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La réponse HTTP est aussi composée de trois parties principales :</a:t>
            </a:r>
          </a:p>
          <a:p>
            <a:pPr marL="0" marR="0" lvl="0" indent="0" algn="just" defTabSz="914400" rtl="0" eaLnBrk="1" fontAlgn="auto" latinLnBrk="0" hangingPunct="1">
              <a:lnSpc>
                <a:spcPct val="90000"/>
              </a:lnSpc>
              <a:spcBef>
                <a:spcPts val="1800"/>
              </a:spcBef>
              <a:spcAft>
                <a:spcPts val="0"/>
              </a:spcAft>
              <a:buClrTx/>
              <a:buSzTx/>
              <a:buFont typeface="Arial" panose="020B0604020202020204" pitchFamily="34" charset="0"/>
              <a:buChar char="•"/>
              <a:defRPr/>
            </a:pPr>
            <a:r>
              <a:rPr kumimoji="0" lang="fr-FR" sz="19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Ligne de Statut</a:t>
            </a:r>
            <a:r>
              <a:rPr kumimoji="0" lang="fr-FR" sz="19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kumimoji="0" lang="fr-FR"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Indique la version du protocole HTTP, le code du statut HTTP et sa description.</a:t>
            </a:r>
          </a:p>
          <a:p>
            <a:pPr algn="just">
              <a:lnSpc>
                <a:spcPct val="90000"/>
              </a:lnSpc>
              <a:spcBef>
                <a:spcPts val="1800"/>
              </a:spcBef>
              <a:buClrTx/>
              <a:buFont typeface="Arial" panose="020B0604020202020204" pitchFamily="34" charset="0"/>
              <a:buChar char="•"/>
              <a:defRPr/>
            </a:pPr>
            <a:r>
              <a:rPr kumimoji="0" lang="fr-FR" sz="19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En-têtes de R</a:t>
            </a:r>
            <a:r>
              <a:rPr lang="fr-FR" sz="1900" b="1" kern="1200" dirty="0" err="1">
                <a:solidFill>
                  <a:srgbClr val="A9D4DB">
                    <a:lumMod val="50000"/>
                  </a:srgbClr>
                </a:solidFill>
                <a:latin typeface="Franklin Gothic Book" panose="020B0503020102020204"/>
                <a:ea typeface="+mn-ea"/>
                <a:cs typeface="+mn-cs"/>
              </a:rPr>
              <a:t>épons</a:t>
            </a:r>
            <a:r>
              <a:rPr kumimoji="0" lang="fr-FR" sz="19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e</a:t>
            </a:r>
            <a:r>
              <a:rPr kumimoji="0" lang="fr-FR" sz="19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lang="fr-FR" sz="2000" kern="1200" dirty="0">
                <a:latin typeface="Times New Roman" panose="02020603050405020304" pitchFamily="18" charset="0"/>
                <a:ea typeface="+mn-ea"/>
                <a:cs typeface="Times New Roman" panose="02020603050405020304" pitchFamily="18" charset="0"/>
              </a:rPr>
              <a:t>Fournissent des informations supplémentaires sur la réponse, telles que le type de contenu, la date de dernière modification et les cookies.</a:t>
            </a:r>
          </a:p>
          <a:p>
            <a:pPr marL="0" marR="0" lvl="0" indent="0" algn="just" defTabSz="914400" rtl="0" eaLnBrk="1" fontAlgn="auto" latinLnBrk="0" hangingPunct="1">
              <a:lnSpc>
                <a:spcPct val="90000"/>
              </a:lnSpc>
              <a:spcBef>
                <a:spcPts val="1800"/>
              </a:spcBef>
              <a:spcAft>
                <a:spcPts val="0"/>
              </a:spcAft>
              <a:buClrTx/>
              <a:buSzTx/>
              <a:buFont typeface="Arial" panose="020B0604020202020204" pitchFamily="34" charset="0"/>
              <a:buChar char="•"/>
              <a:defRPr/>
            </a:pPr>
            <a:r>
              <a:rPr kumimoji="0" lang="fr-FR" sz="1900" b="1"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Corps de Réponse (facultatif)</a:t>
            </a:r>
            <a:r>
              <a:rPr kumimoji="0" lang="fr-FR" sz="1900" b="0" i="0" u="none" strike="noStrike" kern="1200" cap="none" spc="0" normalizeH="0" baseline="0" noProof="0" dirty="0">
                <a:ln>
                  <a:noFill/>
                </a:ln>
                <a:solidFill>
                  <a:srgbClr val="A9D4DB">
                    <a:lumMod val="50000"/>
                  </a:srgbClr>
                </a:solidFill>
                <a:effectLst/>
                <a:uLnTx/>
                <a:uFillTx/>
                <a:latin typeface="Franklin Gothic Book" panose="020B0503020102020204"/>
                <a:ea typeface="+mn-ea"/>
                <a:cs typeface="+mn-cs"/>
              </a:rPr>
              <a:t> — </a:t>
            </a:r>
            <a:r>
              <a:rPr kumimoji="0" lang="fr-FR"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Contient le contenu demandé par le client, généralement du HTML, des images, des vidéos ou des données JSON.</a:t>
            </a:r>
          </a:p>
          <a:p>
            <a:pPr marL="101600" lvl="0" algn="just" rtl="0">
              <a:lnSpc>
                <a:spcPct val="115000"/>
              </a:lnSpc>
              <a:spcBef>
                <a:spcPts val="1500"/>
              </a:spcBef>
              <a:spcAft>
                <a:spcPts val="0"/>
              </a:spcAft>
              <a:buClr>
                <a:schemeClr val="dk1"/>
              </a:buClr>
              <a:buSzPts val="2000"/>
            </a:pPr>
            <a:endPar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Image 2" descr="Une image contenant texte, Police, nombre, lign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1368" y="2039815"/>
            <a:ext cx="5202946" cy="3816357"/>
          </a:xfrm>
          <a:prstGeom prst="rect">
            <a:avLst/>
          </a:prstGeom>
        </p:spPr>
      </p:pic>
      <p:pic>
        <p:nvPicPr>
          <p:cNvPr id="2" name="Google Shape;63;p1" descr="Picture 3">
            <a:extLst>
              <a:ext uri="{FF2B5EF4-FFF2-40B4-BE49-F238E27FC236}">
                <a16:creationId xmlns:a16="http://schemas.microsoft.com/office/drawing/2014/main" id="{39031856-606C-E7EA-A3B8-19307C215A89}"/>
              </a:ext>
            </a:extLst>
          </p:cNvPr>
          <p:cNvPicPr preferRelativeResize="0"/>
          <p:nvPr/>
        </p:nvPicPr>
        <p:blipFill rotWithShape="1">
          <a:blip r:embed="rId6"/>
          <a:srcRect/>
          <a:stretch>
            <a:fillRect/>
          </a:stretch>
        </p:blipFill>
        <p:spPr>
          <a:xfrm flipH="1">
            <a:off x="9802103" y="0"/>
            <a:ext cx="2846625" cy="15254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g25b1bb62912_0_392"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pic>
        <p:nvPicPr>
          <p:cNvPr id="173" name="Google Shape;173;g25b1bb62912_0_392"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74" name="Google Shape;174;g25b1bb62912_0_39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15</a:t>
            </a:fld>
            <a:endParaRPr lang="fr-FR"/>
          </a:p>
        </p:txBody>
      </p:sp>
      <p:sp>
        <p:nvSpPr>
          <p:cNvPr id="177" name="Google Shape;177;g25b1bb62912_0_39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HTTP: Structure de Réponse</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Google Shape;178;g25b1bb62912_0_392"/>
          <p:cNvSpPr txBox="1"/>
          <p:nvPr/>
        </p:nvSpPr>
        <p:spPr>
          <a:xfrm>
            <a:off x="367665" y="1931904"/>
            <a:ext cx="12102465" cy="4683760"/>
          </a:xfrm>
          <a:prstGeom prst="rect">
            <a:avLst/>
          </a:prstGeom>
          <a:noFill/>
          <a:ln>
            <a:noFill/>
          </a:ln>
        </p:spPr>
        <p:txBody>
          <a:bodyPr spcFirstLastPara="1" wrap="square" lIns="91425" tIns="91425" rIns="91425" bIns="91425" numCol="2" anchor="t" anchorCtr="0">
            <a:noAutofit/>
          </a:bodyPr>
          <a:lstStyle/>
          <a:p>
            <a:pPr marL="0" marR="0" lvl="0" indent="0" defTabSz="914400" rtl="0" eaLnBrk="1" fontAlgn="auto" latinLnBrk="0" hangingPunct="1">
              <a:lnSpc>
                <a:spcPct val="90000"/>
              </a:lnSpc>
              <a:spcBef>
                <a:spcPts val="1800"/>
              </a:spcBef>
              <a:spcAft>
                <a:spcPts val="0"/>
              </a:spcAft>
              <a:buClrTx/>
              <a:buSzTx/>
              <a:defRPr/>
            </a:pPr>
            <a:r>
              <a:rPr kumimoji="0" lang="fr-FR" sz="1800" b="1" i="0"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rPr>
              <a:t>1xx (Informationnel)</a:t>
            </a:r>
            <a:r>
              <a:rPr kumimoji="0" lang="fr-FR" sz="1800" b="0" i="0"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rPr>
              <a:t> </a:t>
            </a:r>
          </a:p>
          <a:p>
            <a:pPr lvl="2">
              <a:lnSpc>
                <a:spcPct val="90000"/>
              </a:lnSpc>
              <a:spcBef>
                <a:spcPts val="1800"/>
              </a:spcBef>
              <a:buClrTx/>
              <a:defRPr/>
            </a:pPr>
            <a:r>
              <a:rPr kumimoji="0" lang="fr-FR" sz="1800" b="0"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La requête a été reçue et le processus est en cours. </a:t>
            </a:r>
            <a:endParaRPr lang="fr-FR" sz="1800" kern="1200" dirty="0">
              <a:solidFill>
                <a:srgbClr val="262626"/>
              </a:solidFill>
              <a:latin typeface="Times New Roman" panose="02020603050405020304" pitchFamily="18" charset="0"/>
              <a:ea typeface="+mn-ea"/>
              <a:cs typeface="Times New Roman" panose="02020603050405020304" pitchFamily="18" charset="0"/>
            </a:endParaRPr>
          </a:p>
          <a:p>
            <a:pPr lvl="2">
              <a:lnSpc>
                <a:spcPct val="90000"/>
              </a:lnSpc>
              <a:spcBef>
                <a:spcPts val="1800"/>
              </a:spcBef>
              <a:buClrTx/>
              <a:defRPr/>
            </a:pPr>
            <a:r>
              <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Exemple: 100 Continue	</a:t>
            </a:r>
          </a:p>
          <a:p>
            <a:pPr marL="0" marR="0" lvl="0" indent="0" defTabSz="914400" rtl="0" eaLnBrk="1" fontAlgn="auto" latinLnBrk="0" hangingPunct="1">
              <a:lnSpc>
                <a:spcPct val="90000"/>
              </a:lnSpc>
              <a:spcBef>
                <a:spcPts val="1800"/>
              </a:spcBef>
              <a:spcAft>
                <a:spcPts val="0"/>
              </a:spcAft>
              <a:buClrTx/>
              <a:buSzTx/>
              <a:defRPr/>
            </a:pPr>
            <a:r>
              <a:rPr kumimoji="0" lang="fr-FR" sz="1800" b="1" i="0"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rPr>
              <a:t> 2xx (Succès)  </a:t>
            </a:r>
            <a:endParaRPr kumimoji="0" lang="fr-FR" sz="1800" b="0" i="0"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endParaRPr>
          </a:p>
          <a:p>
            <a:pPr marL="0" marR="0" lvl="0" indent="0" defTabSz="914400" rtl="0" eaLnBrk="1" fontAlgn="auto" latinLnBrk="0" hangingPunct="1">
              <a:lnSpc>
                <a:spcPct val="90000"/>
              </a:lnSpc>
              <a:spcBef>
                <a:spcPts val="1800"/>
              </a:spcBef>
              <a:spcAft>
                <a:spcPts val="0"/>
              </a:spcAft>
              <a:buClrTx/>
              <a:buSzTx/>
              <a:defRPr/>
            </a:pPr>
            <a:r>
              <a:rPr kumimoji="0" lang="fr-FR" sz="1800" b="0" i="0"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rPr>
              <a:t>   </a:t>
            </a:r>
            <a:r>
              <a:rPr lang="fr-FR" sz="1800" kern="1200" dirty="0">
                <a:solidFill>
                  <a:srgbClr val="262626"/>
                </a:solidFill>
                <a:latin typeface="Times New Roman" panose="02020603050405020304" pitchFamily="18" charset="0"/>
                <a:ea typeface="+mn-ea"/>
                <a:cs typeface="Times New Roman" panose="02020603050405020304" pitchFamily="18" charset="0"/>
              </a:rPr>
              <a:t>La requête a été reçue, comprise et acceptée.</a:t>
            </a:r>
            <a:br>
              <a:rPr lang="fr-FR" sz="1800" kern="1200" dirty="0">
                <a:solidFill>
                  <a:srgbClr val="262626"/>
                </a:solidFill>
                <a:latin typeface="Times New Roman" panose="02020603050405020304" pitchFamily="18" charset="0"/>
                <a:ea typeface="+mn-ea"/>
                <a:cs typeface="Times New Roman" panose="02020603050405020304" pitchFamily="18" charset="0"/>
              </a:rPr>
            </a:br>
            <a:r>
              <a:rPr lang="fr-FR" sz="1800" kern="1200" dirty="0">
                <a:solidFill>
                  <a:srgbClr val="262626"/>
                </a:solidFill>
                <a:latin typeface="Times New Roman" panose="02020603050405020304" pitchFamily="18" charset="0"/>
                <a:ea typeface="+mn-ea"/>
                <a:cs typeface="Times New Roman" panose="02020603050405020304" pitchFamily="18" charset="0"/>
              </a:rPr>
              <a:t>  </a:t>
            </a:r>
            <a:r>
              <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a:t>
            </a:r>
            <a:br>
              <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br>
            <a:r>
              <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Exemple: 200 OK | 201 </a:t>
            </a:r>
            <a:r>
              <a:rPr kumimoji="0" lang="fr-FR" sz="1800" b="1" i="0" strike="noStrike" kern="1200" cap="none" spc="0" normalizeH="0" baseline="0" noProof="0" dirty="0" err="1">
                <a:ln>
                  <a:noFill/>
                </a:ln>
                <a:solidFill>
                  <a:srgbClr val="262626"/>
                </a:solidFill>
                <a:effectLst/>
                <a:uLnTx/>
                <a:uFillTx/>
                <a:latin typeface="Times New Roman" panose="02020603050405020304" pitchFamily="18" charset="0"/>
                <a:ea typeface="+mn-ea"/>
                <a:cs typeface="Times New Roman" panose="02020603050405020304" pitchFamily="18" charset="0"/>
              </a:rPr>
              <a:t>Created</a:t>
            </a:r>
            <a:r>
              <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 204 No Content              </a:t>
            </a:r>
          </a:p>
          <a:p>
            <a:pPr marL="0" marR="0" lvl="0" indent="0" defTabSz="914400" rtl="0" eaLnBrk="1" fontAlgn="auto" latinLnBrk="0" hangingPunct="1">
              <a:lnSpc>
                <a:spcPct val="90000"/>
              </a:lnSpc>
              <a:spcBef>
                <a:spcPts val="1800"/>
              </a:spcBef>
              <a:spcAft>
                <a:spcPts val="0"/>
              </a:spcAft>
              <a:buClrTx/>
              <a:buSzTx/>
              <a:defRPr/>
            </a:pPr>
            <a:r>
              <a:rPr kumimoji="0" lang="fr-FR" sz="1800" b="1" i="0"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rPr>
              <a:t>     3xx (Redirection)</a:t>
            </a:r>
            <a:endParaRPr kumimoji="0" lang="fr-FR" sz="1800" b="0" i="0"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endParaRPr>
          </a:p>
          <a:p>
            <a:pPr marL="0" marR="0" lvl="0" indent="0" defTabSz="914400" rtl="0" eaLnBrk="1" fontAlgn="auto" latinLnBrk="0" hangingPunct="1">
              <a:lnSpc>
                <a:spcPct val="90000"/>
              </a:lnSpc>
              <a:spcBef>
                <a:spcPts val="1800"/>
              </a:spcBef>
              <a:spcAft>
                <a:spcPts val="0"/>
              </a:spcAft>
              <a:buClrTx/>
              <a:buSzTx/>
              <a:defRPr/>
            </a:pPr>
            <a:r>
              <a:rPr lang="fr-FR" sz="1800" kern="1200" dirty="0">
                <a:solidFill>
                  <a:srgbClr val="4495A2"/>
                </a:solidFill>
                <a:latin typeface="Times New Roman" panose="02020603050405020304" pitchFamily="18" charset="0"/>
                <a:ea typeface="+mn-ea"/>
                <a:cs typeface="Times New Roman" panose="02020603050405020304" pitchFamily="18" charset="0"/>
              </a:rPr>
              <a:t>   </a:t>
            </a:r>
            <a:r>
              <a:rPr lang="fr-FR" sz="1800" kern="1200" dirty="0">
                <a:solidFill>
                  <a:srgbClr val="262626"/>
                </a:solidFill>
                <a:latin typeface="Times New Roman" panose="02020603050405020304" pitchFamily="18" charset="0"/>
                <a:ea typeface="+mn-ea"/>
                <a:cs typeface="Times New Roman" panose="02020603050405020304" pitchFamily="18" charset="0"/>
              </a:rPr>
              <a:t>Des actions supplémentaires doivent être prises par le client pour terminer la requête.</a:t>
            </a:r>
            <a:br>
              <a:rPr lang="fr-FR" sz="1800" kern="1200" dirty="0">
                <a:solidFill>
                  <a:srgbClr val="262626"/>
                </a:solidFill>
                <a:latin typeface="Times New Roman" panose="02020603050405020304" pitchFamily="18" charset="0"/>
                <a:ea typeface="+mn-ea"/>
                <a:cs typeface="Times New Roman" panose="02020603050405020304" pitchFamily="18" charset="0"/>
              </a:rPr>
            </a:br>
            <a:r>
              <a:rPr lang="fr-FR" sz="1800" kern="1200" dirty="0">
                <a:solidFill>
                  <a:srgbClr val="262626"/>
                </a:solidFill>
                <a:latin typeface="Times New Roman" panose="02020603050405020304" pitchFamily="18" charset="0"/>
                <a:ea typeface="+mn-ea"/>
                <a:cs typeface="Times New Roman" panose="02020603050405020304" pitchFamily="18" charset="0"/>
              </a:rPr>
              <a:t>   </a:t>
            </a:r>
            <a:r>
              <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Exemple: 302 </a:t>
            </a:r>
            <a:r>
              <a:rPr kumimoji="0" lang="fr-FR" sz="1800" b="1" i="0" strike="noStrike" kern="1200" cap="none" spc="0" normalizeH="0" baseline="0" noProof="0" dirty="0" err="1">
                <a:ln>
                  <a:noFill/>
                </a:ln>
                <a:solidFill>
                  <a:srgbClr val="262626"/>
                </a:solidFill>
                <a:effectLst/>
                <a:uLnTx/>
                <a:uFillTx/>
                <a:latin typeface="Times New Roman" panose="02020603050405020304" pitchFamily="18" charset="0"/>
                <a:ea typeface="+mn-ea"/>
                <a:cs typeface="Times New Roman" panose="02020603050405020304" pitchFamily="18" charset="0"/>
              </a:rPr>
              <a:t>Found</a:t>
            </a:r>
            <a:r>
              <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 304 Not </a:t>
            </a:r>
            <a:r>
              <a:rPr kumimoji="0" lang="fr-FR" sz="1800" b="1" i="0" strike="noStrike" kern="1200" cap="none" spc="0" normalizeH="0" baseline="0" noProof="0" dirty="0" err="1">
                <a:ln>
                  <a:noFill/>
                </a:ln>
                <a:solidFill>
                  <a:srgbClr val="262626"/>
                </a:solidFill>
                <a:effectLst/>
                <a:uLnTx/>
                <a:uFillTx/>
                <a:latin typeface="Times New Roman" panose="02020603050405020304" pitchFamily="18" charset="0"/>
                <a:ea typeface="+mn-ea"/>
                <a:cs typeface="Times New Roman" panose="02020603050405020304" pitchFamily="18" charset="0"/>
              </a:rPr>
              <a:t>Modified</a:t>
            </a:r>
            <a:endParaRPr kumimoji="0" lang="fr-FR" sz="1800" b="1" i="0"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endParaRPr>
          </a:p>
          <a:p>
            <a:pPr marL="450850" marR="0" lvl="0" algn="just" defTabSz="914400" rtl="0" eaLnBrk="1" fontAlgn="auto" latinLnBrk="0" hangingPunct="1">
              <a:lnSpc>
                <a:spcPct val="90000"/>
              </a:lnSpc>
              <a:spcBef>
                <a:spcPts val="1800"/>
              </a:spcBef>
              <a:spcAft>
                <a:spcPts val="0"/>
              </a:spcAft>
              <a:buClrTx/>
              <a:buSzTx/>
              <a:defRPr/>
            </a:pPr>
            <a:endParaRPr lang="fr-FR" sz="1800" b="1" kern="1200" dirty="0">
              <a:solidFill>
                <a:srgbClr val="262626"/>
              </a:solidFill>
              <a:latin typeface="Times New Roman" panose="02020603050405020304" pitchFamily="18" charset="0"/>
              <a:ea typeface="+mn-ea"/>
              <a:cs typeface="Times New Roman" panose="02020603050405020304" pitchFamily="18" charset="0"/>
            </a:endParaRPr>
          </a:p>
          <a:p>
            <a:pPr marL="450850" lvl="4" algn="just">
              <a:lnSpc>
                <a:spcPct val="90000"/>
              </a:lnSpc>
              <a:spcBef>
                <a:spcPts val="1800"/>
              </a:spcBef>
              <a:buClrTx/>
              <a:defRPr/>
            </a:pPr>
            <a:endPar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endParaRPr>
          </a:p>
          <a:p>
            <a:pPr lvl="8">
              <a:buClrTx/>
              <a:defRPr/>
            </a:pPr>
            <a:r>
              <a:rPr kumimoji="0" lang="fr-FR" sz="1800" b="1" i="0" u="none" strike="noStrike" kern="1200" cap="none" spc="0" normalizeH="0" baseline="0" noProof="0" dirty="0">
                <a:ln>
                  <a:noFill/>
                </a:ln>
                <a:solidFill>
                  <a:srgbClr val="4495A2"/>
                </a:solidFill>
                <a:effectLst/>
                <a:uLnTx/>
                <a:uFillTx/>
                <a:latin typeface="Times New Roman" panose="02020603050405020304" pitchFamily="18" charset="0"/>
                <a:ea typeface="+mn-ea"/>
                <a:cs typeface="Times New Roman" panose="02020603050405020304" pitchFamily="18" charset="0"/>
              </a:rPr>
              <a:t> 4xx (Erreur Client)</a:t>
            </a:r>
            <a:br>
              <a:rPr lang="fr-FR" sz="1800" kern="1200" dirty="0">
                <a:solidFill>
                  <a:srgbClr val="4495A2"/>
                </a:solidFill>
                <a:latin typeface="Times New Roman" panose="02020603050405020304" pitchFamily="18" charset="0"/>
                <a:ea typeface="+mn-ea"/>
                <a:cs typeface="Times New Roman" panose="02020603050405020304" pitchFamily="18" charset="0"/>
              </a:rPr>
            </a:br>
            <a:r>
              <a:rPr lang="fr-FR" sz="1800" kern="1200" dirty="0">
                <a:solidFill>
                  <a:srgbClr val="4495A2"/>
                </a:solidFill>
                <a:latin typeface="Times New Roman" panose="02020603050405020304" pitchFamily="18" charset="0"/>
                <a:ea typeface="+mn-ea"/>
                <a:cs typeface="Times New Roman" panose="02020603050405020304" pitchFamily="18" charset="0"/>
              </a:rPr>
              <a:t>   </a:t>
            </a:r>
            <a:r>
              <a:rPr lang="fr-FR" sz="1800" kern="1200" dirty="0">
                <a:solidFill>
                  <a:srgbClr val="262626"/>
                </a:solidFill>
                <a:latin typeface="Times New Roman" panose="02020603050405020304" pitchFamily="18" charset="0"/>
                <a:ea typeface="+mn-ea"/>
                <a:cs typeface="Times New Roman" panose="02020603050405020304" pitchFamily="18" charset="0"/>
              </a:rPr>
              <a:t>La requête contient une mauvaise syntaxe ou ne peut être s </a:t>
            </a:r>
            <a:br>
              <a:rPr lang="fr-FR" sz="1800" kern="1200" dirty="0">
                <a:solidFill>
                  <a:srgbClr val="262626"/>
                </a:solidFill>
                <a:latin typeface="Times New Roman" panose="02020603050405020304" pitchFamily="18" charset="0"/>
                <a:ea typeface="+mn-ea"/>
                <a:cs typeface="Times New Roman" panose="02020603050405020304" pitchFamily="18" charset="0"/>
              </a:rPr>
            </a:br>
            <a:r>
              <a:rPr lang="fr-FR" sz="1800" kern="1200" dirty="0">
                <a:solidFill>
                  <a:srgbClr val="262626"/>
                </a:solidFill>
                <a:latin typeface="Times New Roman" panose="02020603050405020304" pitchFamily="18" charset="0"/>
                <a:ea typeface="+mn-ea"/>
                <a:cs typeface="Times New Roman" panose="02020603050405020304" pitchFamily="18" charset="0"/>
              </a:rPr>
              <a:t>   satisfaite. </a:t>
            </a:r>
            <a:r>
              <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a:t>
            </a:r>
            <a:br>
              <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br>
            <a:r>
              <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a:t>
            </a:r>
          </a:p>
          <a:p>
            <a:pPr lvl="8">
              <a:buClrTx/>
              <a:defRPr/>
            </a:pPr>
            <a:r>
              <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Exemple: 400 Bad Request | 401 Unauthorized | 404 Not  </a:t>
            </a:r>
            <a:br>
              <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br>
            <a:r>
              <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rPr>
              <a:t>   </a:t>
            </a:r>
            <a:r>
              <a:rPr kumimoji="0" lang="fr-FR" sz="1800" b="1" i="0" u="none" strike="noStrike" kern="1200" cap="none" spc="0" normalizeH="0" baseline="0" noProof="0" dirty="0" err="1">
                <a:ln>
                  <a:noFill/>
                </a:ln>
                <a:solidFill>
                  <a:srgbClr val="262626"/>
                </a:solidFill>
                <a:effectLst/>
                <a:uLnTx/>
                <a:uFillTx/>
                <a:latin typeface="Times New Roman" panose="02020603050405020304" pitchFamily="18" charset="0"/>
                <a:ea typeface="+mn-ea"/>
                <a:cs typeface="Times New Roman" panose="02020603050405020304" pitchFamily="18" charset="0"/>
              </a:rPr>
              <a:t>Found</a:t>
            </a:r>
            <a:endPar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endParaRPr>
          </a:p>
          <a:p>
            <a:pPr lvl="8">
              <a:buClrTx/>
              <a:defRPr/>
            </a:pPr>
            <a:endParaRPr kumimoji="0" lang="en-US"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endParaRPr>
          </a:p>
          <a:p>
            <a:pPr lvl="8">
              <a:buClrTx/>
              <a:defRPr/>
            </a:pPr>
            <a:r>
              <a:rPr lang="fr-FR" sz="1800" b="1" kern="1200" dirty="0">
                <a:solidFill>
                  <a:srgbClr val="4495A2"/>
                </a:solidFill>
                <a:latin typeface="Times New Roman" panose="02020603050405020304" pitchFamily="18" charset="0"/>
                <a:ea typeface="+mn-ea"/>
                <a:cs typeface="Times New Roman" panose="02020603050405020304" pitchFamily="18" charset="0"/>
                <a:sym typeface="+mn-ea"/>
              </a:rPr>
              <a:t> </a:t>
            </a:r>
            <a:r>
              <a:rPr lang="fr-FR" sz="1800" b="1" kern="1200" noProof="0" dirty="0">
                <a:ln>
                  <a:noFill/>
                </a:ln>
                <a:solidFill>
                  <a:srgbClr val="4495A2"/>
                </a:solidFill>
                <a:effectLst/>
                <a:uLnTx/>
                <a:uFillTx/>
                <a:latin typeface="Times New Roman" panose="02020603050405020304" pitchFamily="18" charset="0"/>
                <a:ea typeface="+mn-ea"/>
                <a:cs typeface="Times New Roman" panose="02020603050405020304" pitchFamily="18" charset="0"/>
                <a:sym typeface="+mn-ea"/>
              </a:rPr>
              <a:t>5xx (Erreur Serveur) </a:t>
            </a:r>
            <a:br>
              <a:rPr lang="fr-FR" sz="1800" b="1" kern="1200" noProof="0" dirty="0">
                <a:ln>
                  <a:noFill/>
                </a:ln>
                <a:solidFill>
                  <a:srgbClr val="4495A2"/>
                </a:solidFill>
                <a:effectLst/>
                <a:uLnTx/>
                <a:uFillTx/>
                <a:latin typeface="Times New Roman" panose="02020603050405020304" pitchFamily="18" charset="0"/>
                <a:ea typeface="+mn-ea"/>
                <a:cs typeface="Times New Roman" panose="02020603050405020304" pitchFamily="18" charset="0"/>
                <a:sym typeface="+mn-ea"/>
              </a:rPr>
            </a:br>
            <a:r>
              <a:rPr lang="fr-FR" sz="1800" b="1" kern="1200" noProof="0" dirty="0">
                <a:ln>
                  <a:noFill/>
                </a:ln>
                <a:solidFill>
                  <a:srgbClr val="4495A2"/>
                </a:solidFill>
                <a:effectLst/>
                <a:uLnTx/>
                <a:uFillTx/>
                <a:latin typeface="Times New Roman" panose="02020603050405020304" pitchFamily="18" charset="0"/>
                <a:ea typeface="+mn-ea"/>
                <a:cs typeface="Times New Roman" panose="02020603050405020304" pitchFamily="18" charset="0"/>
                <a:sym typeface="+mn-ea"/>
              </a:rPr>
              <a:t>       </a:t>
            </a:r>
            <a:r>
              <a:rPr lang="fr-FR" sz="1800" kern="1200" dirty="0">
                <a:solidFill>
                  <a:srgbClr val="262626"/>
                </a:solidFill>
                <a:latin typeface="Times New Roman" panose="02020603050405020304" pitchFamily="18" charset="0"/>
                <a:ea typeface="+mn-ea"/>
                <a:cs typeface="Times New Roman" panose="02020603050405020304" pitchFamily="18" charset="0"/>
                <a:sym typeface="+mn-ea"/>
              </a:rPr>
              <a:t>Le serveur a échoué à satisfaire une requête valide.</a:t>
            </a:r>
            <a:endParaRPr lang="fr-FR" sz="1800" kern="1200" dirty="0">
              <a:solidFill>
                <a:srgbClr val="262626"/>
              </a:solidFill>
              <a:latin typeface="Times New Roman" panose="02020603050405020304" pitchFamily="18" charset="0"/>
              <a:ea typeface="+mn-ea"/>
              <a:cs typeface="Times New Roman" panose="02020603050405020304" pitchFamily="18" charset="0"/>
            </a:endParaRPr>
          </a:p>
          <a:p>
            <a:pPr lvl="8">
              <a:buClrTx/>
              <a:defRPr/>
            </a:pPr>
            <a:r>
              <a:rPr lang="fr-FR" sz="1800" b="1" kern="1200" dirty="0">
                <a:solidFill>
                  <a:srgbClr val="262626"/>
                </a:solidFill>
                <a:latin typeface="Times New Roman" panose="02020603050405020304" pitchFamily="18" charset="0"/>
                <a:ea typeface="+mn-ea"/>
                <a:cs typeface="Times New Roman" panose="02020603050405020304" pitchFamily="18" charset="0"/>
                <a:sym typeface="+mn-ea"/>
              </a:rPr>
              <a:t>     </a:t>
            </a:r>
          </a:p>
          <a:p>
            <a:pPr lvl="8">
              <a:buClrTx/>
              <a:defRPr/>
            </a:pPr>
            <a:r>
              <a:rPr lang="fr-FR" sz="1800" b="1" kern="1200" dirty="0">
                <a:solidFill>
                  <a:srgbClr val="262626"/>
                </a:solidFill>
                <a:latin typeface="Times New Roman" panose="02020603050405020304" pitchFamily="18" charset="0"/>
                <a:ea typeface="+mn-ea"/>
                <a:cs typeface="Times New Roman" panose="02020603050405020304" pitchFamily="18" charset="0"/>
                <a:sym typeface="+mn-ea"/>
              </a:rPr>
              <a:t>     </a:t>
            </a:r>
            <a:r>
              <a:rPr lang="fr-FR" sz="1800" b="1" kern="1200" noProof="0" dirty="0">
                <a:ln>
                  <a:noFill/>
                </a:ln>
                <a:solidFill>
                  <a:srgbClr val="262626"/>
                </a:solidFill>
                <a:effectLst/>
                <a:uLnTx/>
                <a:uFillTx/>
                <a:latin typeface="Times New Roman" panose="02020603050405020304" pitchFamily="18" charset="0"/>
                <a:ea typeface="+mn-ea"/>
                <a:cs typeface="Times New Roman" panose="02020603050405020304" pitchFamily="18" charset="0"/>
                <a:sym typeface="+mn-ea"/>
              </a:rPr>
              <a:t>Exemple: 500 </a:t>
            </a:r>
            <a:r>
              <a:rPr lang="fr-FR" sz="1800" b="1" kern="1200" noProof="0" dirty="0" err="1">
                <a:ln>
                  <a:noFill/>
                </a:ln>
                <a:solidFill>
                  <a:srgbClr val="262626"/>
                </a:solidFill>
                <a:effectLst/>
                <a:uLnTx/>
                <a:uFillTx/>
                <a:latin typeface="Times New Roman" panose="02020603050405020304" pitchFamily="18" charset="0"/>
                <a:ea typeface="+mn-ea"/>
                <a:cs typeface="Times New Roman" panose="02020603050405020304" pitchFamily="18" charset="0"/>
                <a:sym typeface="+mn-ea"/>
              </a:rPr>
              <a:t>Internal</a:t>
            </a:r>
            <a:r>
              <a:rPr lang="fr-FR" sz="1800" b="1" kern="1200" noProof="0" dirty="0">
                <a:ln>
                  <a:noFill/>
                </a:ln>
                <a:solidFill>
                  <a:srgbClr val="262626"/>
                </a:solidFill>
                <a:effectLst/>
                <a:uLnTx/>
                <a:uFillTx/>
                <a:latin typeface="Times New Roman" panose="02020603050405020304" pitchFamily="18" charset="0"/>
                <a:ea typeface="+mn-ea"/>
                <a:cs typeface="Times New Roman" panose="02020603050405020304" pitchFamily="18" charset="0"/>
                <a:sym typeface="+mn-ea"/>
              </a:rPr>
              <a:t> Server </a:t>
            </a:r>
            <a:r>
              <a:rPr lang="fr-FR" sz="1800" b="1" kern="1200" noProof="0" dirty="0" err="1">
                <a:ln>
                  <a:noFill/>
                </a:ln>
                <a:solidFill>
                  <a:srgbClr val="262626"/>
                </a:solidFill>
                <a:effectLst/>
                <a:uLnTx/>
                <a:uFillTx/>
                <a:latin typeface="Times New Roman" panose="02020603050405020304" pitchFamily="18" charset="0"/>
                <a:ea typeface="+mn-ea"/>
                <a:cs typeface="Times New Roman" panose="02020603050405020304" pitchFamily="18" charset="0"/>
                <a:sym typeface="+mn-ea"/>
              </a:rPr>
              <a:t>Error</a:t>
            </a:r>
            <a:endParaRPr lang="fr-FR" sz="1800" kern="1200" dirty="0">
              <a:solidFill>
                <a:srgbClr val="262626"/>
              </a:solidFill>
              <a:latin typeface="Times New Roman" panose="02020603050405020304" pitchFamily="18" charset="0"/>
              <a:ea typeface="+mn-ea"/>
              <a:cs typeface="Times New Roman" panose="02020603050405020304" pitchFamily="18" charset="0"/>
            </a:endParaRPr>
          </a:p>
          <a:p>
            <a:pPr marL="450850" lvl="8">
              <a:buClrTx/>
              <a:defRPr/>
            </a:pPr>
            <a:endParaRPr kumimoji="0" lang="fr-FR" sz="1800" b="1" i="0" u="none" strike="noStrike" kern="1200" cap="none" spc="0" normalizeH="0" baseline="0" noProof="0" dirty="0">
              <a:ln>
                <a:noFill/>
              </a:ln>
              <a:solidFill>
                <a:srgbClr val="262626"/>
              </a:solidFill>
              <a:effectLst/>
              <a:uLnTx/>
              <a:uFillTx/>
              <a:latin typeface="Times New Roman" panose="02020603050405020304" pitchFamily="18" charset="0"/>
              <a:ea typeface="+mn-ea"/>
              <a:cs typeface="Times New Roman" panose="02020603050405020304" pitchFamily="18" charset="0"/>
            </a:endParaRPr>
          </a:p>
          <a:p>
            <a:pPr marL="535305" lvl="4">
              <a:lnSpc>
                <a:spcPct val="90000"/>
              </a:lnSpc>
              <a:spcBef>
                <a:spcPts val="1800"/>
              </a:spcBef>
              <a:buClrTx/>
              <a:defRPr/>
            </a:pPr>
            <a:r>
              <a:rPr lang="fr-FR" sz="1800" kern="1200" dirty="0">
                <a:solidFill>
                  <a:srgbClr val="262626"/>
                </a:solidFill>
                <a:latin typeface="Times New Roman" panose="02020603050405020304" pitchFamily="18" charset="0"/>
                <a:ea typeface="+mn-ea"/>
                <a:cs typeface="Times New Roman" panose="02020603050405020304" pitchFamily="18" charset="0"/>
              </a:rPr>
              <a:t>		</a:t>
            </a:r>
          </a:p>
          <a:p>
            <a:pPr marL="535305" lvl="5" algn="just">
              <a:lnSpc>
                <a:spcPct val="150000"/>
              </a:lnSpc>
              <a:buClrTx/>
              <a:defRPr/>
            </a:pPr>
            <a:r>
              <a:rPr lang="fr-FR" sz="1800" kern="1200" dirty="0">
                <a:solidFill>
                  <a:srgbClr val="262626"/>
                </a:solidFill>
                <a:latin typeface="Times New Roman" panose="02020603050405020304" pitchFamily="18" charset="0"/>
                <a:ea typeface="+mn-ea"/>
                <a:cs typeface="Times New Roman" panose="02020603050405020304" pitchFamily="18" charset="0"/>
              </a:rPr>
              <a:t>         </a:t>
            </a:r>
            <a:endParaRPr lang="fr-FR" sz="18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5" name="Google Shape;164;g25b1bb62912_0_342"/>
          <p:cNvSpPr txBox="1"/>
          <p:nvPr/>
        </p:nvSpPr>
        <p:spPr>
          <a:xfrm>
            <a:off x="0" y="1287664"/>
            <a:ext cx="11774805" cy="561340"/>
          </a:xfrm>
          <a:prstGeom prst="rect">
            <a:avLst/>
          </a:prstGeom>
          <a:noFill/>
          <a:ln>
            <a:noFill/>
          </a:ln>
        </p:spPr>
        <p:txBody>
          <a:bodyPr spcFirstLastPara="1" wrap="square" lIns="91425" tIns="91425" rIns="91425" bIns="91425" anchor="t" anchorCtr="0">
            <a:noAutofit/>
          </a:bodyPr>
          <a:lstStyle/>
          <a:p>
            <a:pPr marL="457200" lvl="0" indent="0" algn="just" rtl="0">
              <a:lnSpc>
                <a:spcPct val="150000"/>
              </a:lnSpc>
              <a:spcBef>
                <a:spcPts val="0"/>
              </a:spcBef>
              <a:spcAft>
                <a:spcPts val="0"/>
              </a:spcAft>
              <a:buClr>
                <a:schemeClr val="dk1"/>
              </a:buClr>
              <a:buSzPts val="1100"/>
              <a:buFont typeface="Arial" panose="020B0604020202020204"/>
              <a:buNone/>
            </a:pPr>
            <a:r>
              <a:rPr lang="fr-FR" sz="22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Les codes de statut HTTP indiquent le résultat de la requête. Ils sont divisés en </a:t>
            </a:r>
            <a:r>
              <a:rPr lang="fr-FR" sz="2200"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cinq catégories </a:t>
            </a:r>
            <a:r>
              <a:rPr lang="fr-FR" sz="22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p:txBody>
      </p:sp>
      <p:pic>
        <p:nvPicPr>
          <p:cNvPr id="3" name="Google Shape;63;p1" descr="Picture 3">
            <a:extLst>
              <a:ext uri="{FF2B5EF4-FFF2-40B4-BE49-F238E27FC236}">
                <a16:creationId xmlns:a16="http://schemas.microsoft.com/office/drawing/2014/main" id="{AC672AAF-7881-C44D-BFC0-C3CA418D4555}"/>
              </a:ext>
            </a:extLst>
          </p:cNvPr>
          <p:cNvPicPr preferRelativeResize="0"/>
          <p:nvPr/>
        </p:nvPicPr>
        <p:blipFill rotWithShape="1">
          <a:blip r:embed="rId5"/>
          <a:srcRect/>
          <a:stretch>
            <a:fillRect/>
          </a:stretch>
        </p:blipFill>
        <p:spPr>
          <a:xfrm flipH="1">
            <a:off x="9759993" y="42885"/>
            <a:ext cx="2846625" cy="15254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25b1bb62912_0_342" descr="Picture 2"/>
          <p:cNvPicPr preferRelativeResize="0"/>
          <p:nvPr/>
        </p:nvPicPr>
        <p:blipFill rotWithShape="1">
          <a:blip r:embed="rId3"/>
          <a:srcRect/>
          <a:stretch>
            <a:fillRect/>
          </a:stretch>
        </p:blipFill>
        <p:spPr>
          <a:xfrm>
            <a:off x="0" y="637"/>
            <a:ext cx="12652622" cy="6886241"/>
          </a:xfrm>
          <a:prstGeom prst="rect">
            <a:avLst/>
          </a:prstGeom>
          <a:noFill/>
          <a:ln>
            <a:noFill/>
          </a:ln>
        </p:spPr>
      </p:pic>
      <p:pic>
        <p:nvPicPr>
          <p:cNvPr id="155" name="Google Shape;155;g25b1bb62912_0_342"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56" name="Google Shape;156;g25b1bb62912_0_34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16</a:t>
            </a:fld>
            <a:endParaRPr lang="fr-FR"/>
          </a:p>
        </p:txBody>
      </p:sp>
      <p:sp>
        <p:nvSpPr>
          <p:cNvPr id="159" name="Google Shape;159;g25b1bb62912_0_34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URL vs URI</a:t>
            </a:r>
          </a:p>
        </p:txBody>
      </p:sp>
      <p:sp>
        <p:nvSpPr>
          <p:cNvPr id="165" name="Google Shape;165;g25b1bb62912_0_342"/>
          <p:cNvSpPr txBox="1"/>
          <p:nvPr/>
        </p:nvSpPr>
        <p:spPr>
          <a:xfrm>
            <a:off x="675492" y="2466069"/>
            <a:ext cx="8556600" cy="2831514"/>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Clr>
                <a:schemeClr val="dk1"/>
              </a:buClr>
              <a:buSzPts val="2000"/>
              <a:buFont typeface="Times New Roman" panose="02020603050405020304"/>
              <a:buChar char="❏"/>
            </a:pPr>
            <a:r>
              <a:rPr lang="fr-F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URI</a:t>
            </a: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fr-F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(Uniform Resource Identifier) : </a:t>
            </a:r>
          </a:p>
          <a:p>
            <a:pPr marL="0" marR="0" lvl="0" indent="0" algn="just" defTabSz="914400" rtl="0" eaLnBrk="1" fontAlgn="auto" latinLnBrk="0" hangingPunct="1">
              <a:lnSpc>
                <a:spcPct val="150000"/>
              </a:lnSpc>
              <a:spcBef>
                <a:spcPts val="0"/>
              </a:spcBef>
              <a:spcAft>
                <a:spcPts val="0"/>
              </a:spcAft>
              <a:buClrTx/>
              <a:buSzTx/>
              <a:buFontTx/>
              <a:buNone/>
              <a:defRPr/>
            </a:pPr>
            <a:r>
              <a:rPr lang="fr-FR" sz="1800" kern="1200" dirty="0">
                <a:latin typeface="Franklin Gothic Book" panose="020B0503020102020204"/>
                <a:ea typeface="+mn-ea"/>
                <a:cs typeface="+mn-cs"/>
              </a:rPr>
              <a:t>   - </a:t>
            </a:r>
            <a:r>
              <a:rPr kumimoji="0" lang="fr-FR" sz="1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Offre un moyen général d'identifier des ressources sur le Web ou dans un réseau.</a:t>
            </a:r>
          </a:p>
          <a:p>
            <a:pPr marL="0" marR="0" lvl="0" indent="0" algn="just" defTabSz="914400" rtl="0" eaLnBrk="1" fontAlgn="auto" latinLnBrk="0" hangingPunct="1">
              <a:lnSpc>
                <a:spcPct val="150000"/>
              </a:lnSpc>
              <a:spcBef>
                <a:spcPts val="0"/>
              </a:spcBef>
              <a:spcAft>
                <a:spcPts val="0"/>
              </a:spcAft>
              <a:buClrTx/>
              <a:buSzTx/>
              <a:buFontTx/>
              <a:buNone/>
              <a:defRPr/>
            </a:pPr>
            <a:r>
              <a:rPr kumimoji="0" lang="fr-FR" sz="1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Il peut s'agir d'une page web, d'une image, d'une vidéo, d'un fichier ou de tout autre type de ressource accessible via un protocole réseau.</a:t>
            </a:r>
          </a:p>
          <a:p>
            <a:pPr marL="0" marR="0" lvl="0" indent="0" algn="just" defTabSz="914400" rtl="0" eaLnBrk="1" fontAlgn="auto" latinLnBrk="0" hangingPunct="1">
              <a:lnSpc>
                <a:spcPct val="150000"/>
              </a:lnSpc>
              <a:spcBef>
                <a:spcPts val="0"/>
              </a:spcBef>
              <a:spcAft>
                <a:spcPts val="0"/>
              </a:spcAft>
              <a:buClrTx/>
              <a:buSzTx/>
              <a:buFontTx/>
              <a:buNone/>
              <a:defRPr/>
            </a:pPr>
            <a:r>
              <a:rPr kumimoji="0" lang="fr-FR" sz="1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Peut utiliser différents protocoles (HTTP, FTP, HTTPS, </a:t>
            </a:r>
            <a:r>
              <a:rPr kumimoji="0" lang="fr-FR" sz="19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etc</a:t>
            </a:r>
            <a:r>
              <a:rPr kumimoji="0" lang="fr-FR" sz="1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defRPr/>
            </a:pPr>
            <a:endParaRPr kumimoji="0" lang="fr-FR" sz="1800" b="0" i="0" u="none" strike="noStrike" kern="1200" cap="none" spc="0" normalizeH="0" baseline="0" noProof="0" dirty="0">
              <a:ln>
                <a:noFill/>
              </a:ln>
              <a:solidFill>
                <a:srgbClr val="000000"/>
              </a:solidFill>
              <a:effectLst/>
              <a:uLnTx/>
              <a:uFillTx/>
              <a:latin typeface="Franklin Gothic Book" panose="020B0503020102020204"/>
              <a:ea typeface="+mn-ea"/>
              <a:cs typeface="+mn-cs"/>
            </a:endParaRPr>
          </a:p>
          <a:p>
            <a:pPr marL="101600" lvl="0" algn="just" rtl="0">
              <a:spcBef>
                <a:spcPts val="0"/>
              </a:spcBef>
              <a:spcAft>
                <a:spcPts val="0"/>
              </a:spcAft>
              <a:buClr>
                <a:schemeClr val="dk1"/>
              </a:buClr>
              <a:buSzPts val="2000"/>
            </a:pPr>
            <a:endParaRPr lang="fr-F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g25b1bb62912_0_342"/>
          <p:cNvSpPr txBox="1"/>
          <p:nvPr/>
        </p:nvSpPr>
        <p:spPr>
          <a:xfrm>
            <a:off x="675492" y="4640139"/>
            <a:ext cx="8556600" cy="2246739"/>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Clr>
                <a:schemeClr val="dk1"/>
              </a:buClr>
              <a:buSzPts val="2000"/>
              <a:buFont typeface="Times New Roman" panose="02020603050405020304"/>
              <a:buChar char="❏"/>
            </a:pPr>
            <a:r>
              <a:rPr lang="fr-F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URL</a:t>
            </a:r>
            <a:r>
              <a:rPr lang="fr-F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fr-F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(Uniform Resource Locator) : </a:t>
            </a:r>
          </a:p>
          <a:p>
            <a:pPr marL="0" marR="0" lvl="0" indent="0" algn="just" defTabSz="914400" rtl="0" eaLnBrk="1" fontAlgn="auto" latinLnBrk="0" hangingPunct="1">
              <a:lnSpc>
                <a:spcPct val="150000"/>
              </a:lnSpc>
              <a:spcBef>
                <a:spcPts val="0"/>
              </a:spcBef>
              <a:spcAft>
                <a:spcPts val="0"/>
              </a:spcAft>
              <a:buClrTx/>
              <a:buSzTx/>
              <a:buFontTx/>
              <a:buNone/>
              <a:defRPr/>
            </a:pPr>
            <a:r>
              <a:rPr kumimoji="0" lang="fr-FR" sz="1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Un type spécifique d’URI.</a:t>
            </a:r>
          </a:p>
          <a:p>
            <a:pPr marL="0" marR="0" lvl="0" indent="0" algn="just" defTabSz="914400" rtl="0" eaLnBrk="1" fontAlgn="auto" latinLnBrk="0" hangingPunct="1">
              <a:lnSpc>
                <a:spcPct val="150000"/>
              </a:lnSpc>
              <a:spcBef>
                <a:spcPts val="0"/>
              </a:spcBef>
              <a:spcAft>
                <a:spcPts val="0"/>
              </a:spcAft>
              <a:buClrTx/>
              <a:buSzTx/>
              <a:buFontTx/>
              <a:buNone/>
              <a:defRPr/>
            </a:pPr>
            <a:r>
              <a:rPr kumimoji="0" lang="fr-FR" sz="1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Spécifiquement conçue pour localiser des ressources web via HTTP.</a:t>
            </a:r>
          </a:p>
          <a:p>
            <a:pPr marL="0" marR="0" lvl="0" indent="0" algn="just" defTabSz="914400" rtl="0" eaLnBrk="1" fontAlgn="auto" latinLnBrk="0" hangingPunct="1">
              <a:lnSpc>
                <a:spcPct val="150000"/>
              </a:lnSpc>
              <a:spcBef>
                <a:spcPts val="0"/>
              </a:spcBef>
              <a:spcAft>
                <a:spcPts val="0"/>
              </a:spcAft>
              <a:buClrTx/>
              <a:buSzTx/>
              <a:buFontTx/>
              <a:buNone/>
              <a:defRPr/>
            </a:pPr>
            <a:r>
              <a:rPr kumimoji="0" lang="fr-FR" sz="19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S'agit de l'adresse la plus courante utilisée pour accéder aux pages web sur Internet.</a:t>
            </a:r>
          </a:p>
        </p:txBody>
      </p:sp>
      <p:pic>
        <p:nvPicPr>
          <p:cNvPr id="2" name="Image 1" descr="Une image contenant texte, cercle, Police, capture d’écra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60646" y="2567355"/>
            <a:ext cx="2763422" cy="2730228"/>
          </a:xfrm>
          <a:prstGeom prst="rect">
            <a:avLst/>
          </a:prstGeom>
        </p:spPr>
      </p:pic>
      <p:sp>
        <p:nvSpPr>
          <p:cNvPr id="3" name="Google Shape;165;g25b1bb62912_0_342"/>
          <p:cNvSpPr txBox="1"/>
          <p:nvPr/>
        </p:nvSpPr>
        <p:spPr>
          <a:xfrm>
            <a:off x="831200" y="1407159"/>
            <a:ext cx="8556600" cy="861744"/>
          </a:xfrm>
          <a:prstGeom prst="rect">
            <a:avLst/>
          </a:prstGeom>
          <a:solidFill>
            <a:schemeClr val="accent2">
              <a:lumMod val="20000"/>
              <a:lumOff val="80000"/>
            </a:schemeClr>
          </a:solid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fr-FR" sz="2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Tous les URL sont des URI, mais tous les URI ne sont pas des URL.</a:t>
            </a:r>
          </a:p>
          <a:p>
            <a:pPr marL="101600" lvl="0" algn="just" rtl="0">
              <a:spcBef>
                <a:spcPts val="0"/>
              </a:spcBef>
              <a:spcAft>
                <a:spcPts val="0"/>
              </a:spcAft>
              <a:buClr>
                <a:schemeClr val="dk1"/>
              </a:buClr>
              <a:buSzPts val="2000"/>
            </a:pPr>
            <a:endParaRPr lang="fr-FR" sz="2200" b="1" dirty="0">
              <a:latin typeface="Times New Roman" panose="02020603050405020304" pitchFamily="18" charset="0"/>
              <a:cs typeface="Times New Roman" panose="02020603050405020304" pitchFamily="18" charset="0"/>
            </a:endParaRPr>
          </a:p>
        </p:txBody>
      </p:sp>
      <p:pic>
        <p:nvPicPr>
          <p:cNvPr id="4" name="Google Shape;63;p1" descr="Picture 3">
            <a:extLst>
              <a:ext uri="{FF2B5EF4-FFF2-40B4-BE49-F238E27FC236}">
                <a16:creationId xmlns:a16="http://schemas.microsoft.com/office/drawing/2014/main" id="{887D739E-911C-234C-E683-B6320853D8A8}"/>
              </a:ext>
            </a:extLst>
          </p:cNvPr>
          <p:cNvPicPr preferRelativeResize="0"/>
          <p:nvPr/>
        </p:nvPicPr>
        <p:blipFill rotWithShape="1">
          <a:blip r:embed="rId6"/>
          <a:srcRect/>
          <a:stretch>
            <a:fillRect/>
          </a:stretch>
        </p:blipFill>
        <p:spPr>
          <a:xfrm flipH="1">
            <a:off x="9758581" y="34968"/>
            <a:ext cx="2846625" cy="15254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grpSp>
        <p:nvGrpSpPr>
          <p:cNvPr id="8" name="Google Shape;89;p5"/>
          <p:cNvGrpSpPr/>
          <p:nvPr/>
        </p:nvGrpSpPr>
        <p:grpSpPr>
          <a:xfrm>
            <a:off x="306491" y="1245230"/>
            <a:ext cx="12192000" cy="5287010"/>
            <a:chOff x="-15240" y="1143000"/>
            <a:chExt cx="12192000" cy="5287010"/>
          </a:xfrm>
        </p:grpSpPr>
        <p:sp>
          <p:nvSpPr>
            <p:cNvPr id="9" name="Google Shape;90;p5"/>
            <p:cNvSpPr/>
            <p:nvPr/>
          </p:nvSpPr>
          <p:spPr>
            <a:xfrm>
              <a:off x="-15240" y="1143000"/>
              <a:ext cx="12192000" cy="52870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solidFill>
              <a:schemeClr val="bg1">
                <a:lumMod val="9500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 name="Google Shape;91;p5"/>
            <p:cNvSpPr/>
            <p:nvPr/>
          </p:nvSpPr>
          <p:spPr>
            <a:xfrm>
              <a:off x="8474964" y="2142744"/>
              <a:ext cx="1621535" cy="1426464"/>
            </a:xfrm>
            <a:prstGeom prst="rect">
              <a:avLst/>
            </a:prstGeom>
            <a:blipFill rotWithShape="1">
              <a:blip r:embed="rId3"/>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 name="Google Shape;92;p5"/>
            <p:cNvSpPr/>
            <p:nvPr/>
          </p:nvSpPr>
          <p:spPr>
            <a:xfrm>
              <a:off x="4704588" y="2566416"/>
              <a:ext cx="598932" cy="621791"/>
            </a:xfrm>
            <a:prstGeom prst="rect">
              <a:avLst/>
            </a:prstGeom>
            <a:blipFill rotWithShape="1">
              <a:blip r:embed="rId4"/>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2" name="Google Shape;93;p5"/>
            <p:cNvSpPr/>
            <p:nvPr/>
          </p:nvSpPr>
          <p:spPr>
            <a:xfrm>
              <a:off x="5600700" y="2630424"/>
              <a:ext cx="3201924" cy="161544"/>
            </a:xfrm>
            <a:prstGeom prst="rect">
              <a:avLst/>
            </a:prstGeom>
            <a:blipFill rotWithShape="1">
              <a:blip r:embed="rId5"/>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pic>
        <p:nvPicPr>
          <p:cNvPr id="85" name="Google Shape;85;g25b1bb62912_0_14" descr="Picture 2"/>
          <p:cNvPicPr preferRelativeResize="0"/>
          <p:nvPr/>
        </p:nvPicPr>
        <p:blipFill rotWithShape="1">
          <a:blip r:embed="rId6"/>
          <a:srcRect/>
          <a:stretch>
            <a:fillRect/>
          </a:stretch>
        </p:blipFill>
        <p:spPr>
          <a:xfrm>
            <a:off x="76180" y="-14121"/>
            <a:ext cx="12652622" cy="6886241"/>
          </a:xfrm>
          <a:prstGeom prst="rect">
            <a:avLst/>
          </a:prstGeom>
          <a:noFill/>
          <a:ln>
            <a:noFill/>
          </a:ln>
        </p:spPr>
      </p:pic>
      <p:pic>
        <p:nvPicPr>
          <p:cNvPr id="89" name="Google Shape;89;g25b1bb62912_0_14" descr="Image 10"/>
          <p:cNvPicPr preferRelativeResize="0"/>
          <p:nvPr/>
        </p:nvPicPr>
        <p:blipFill rotWithShape="1">
          <a:blip r:embed="rId7"/>
          <a:srcRect/>
          <a:stretch>
            <a:fillRect/>
          </a:stretch>
        </p:blipFill>
        <p:spPr>
          <a:xfrm>
            <a:off x="831813" y="359910"/>
            <a:ext cx="585321" cy="579782"/>
          </a:xfrm>
          <a:prstGeom prst="rect">
            <a:avLst/>
          </a:prstGeom>
          <a:noFill/>
          <a:ln>
            <a:noFill/>
          </a:ln>
        </p:spPr>
      </p:pic>
      <p:sp>
        <p:nvSpPr>
          <p:cNvPr id="90" name="Google Shape;90;g25b1bb62912_0_14"/>
          <p:cNvSpPr txBox="1"/>
          <p:nvPr/>
        </p:nvSpPr>
        <p:spPr>
          <a:xfrm>
            <a:off x="1478231" y="275007"/>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Contexte de communication</a:t>
            </a:r>
            <a:endParaRPr sz="27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4" name="Google Shape;95;p5"/>
          <p:cNvSpPr txBox="1"/>
          <p:nvPr/>
        </p:nvSpPr>
        <p:spPr>
          <a:xfrm>
            <a:off x="575211" y="1261368"/>
            <a:ext cx="8759454" cy="1226598"/>
          </a:xfrm>
          <a:prstGeom prst="rect">
            <a:avLst/>
          </a:prstGeom>
          <a:noFill/>
          <a:ln>
            <a:noFill/>
          </a:ln>
        </p:spPr>
        <p:txBody>
          <a:bodyPr spcFirstLastPara="1" wrap="square" lIns="0" tIns="137775" rIns="0" bIns="0" anchor="t" anchorCtr="0">
            <a:spAutoFit/>
          </a:bodyPr>
          <a:lstStyle/>
          <a:p>
            <a:pPr marL="12700" marR="0" lvl="0" indent="0" algn="l" rtl="0">
              <a:lnSpc>
                <a:spcPct val="100000"/>
              </a:lnSpc>
              <a:spcBef>
                <a:spcPts val="0"/>
              </a:spcBef>
              <a:spcAft>
                <a:spcPts val="0"/>
              </a:spcAft>
              <a:buNone/>
            </a:pPr>
            <a:r>
              <a:rPr lang="fr-FR" sz="2400" b="1" dirty="0">
                <a:solidFill>
                  <a:schemeClr val="dk1"/>
                </a:solidFill>
                <a:latin typeface="Times New Roman" panose="02020603050405020304" pitchFamily="18" charset="0"/>
                <a:cs typeface="Times New Roman" panose="02020603050405020304" pitchFamily="18" charset="0"/>
                <a:sym typeface="Arial" panose="020B0604020202020204"/>
              </a:rPr>
              <a:t>Human-</a:t>
            </a:r>
            <a:r>
              <a:rPr lang="fr-FR" sz="2400" b="1" dirty="0" err="1">
                <a:solidFill>
                  <a:schemeClr val="dk1"/>
                </a:solidFill>
                <a:latin typeface="Times New Roman" panose="02020603050405020304" pitchFamily="18" charset="0"/>
                <a:cs typeface="Times New Roman" panose="02020603050405020304" pitchFamily="18" charset="0"/>
                <a:sym typeface="Arial" panose="020B0604020202020204"/>
              </a:rPr>
              <a:t>centric</a:t>
            </a:r>
            <a:r>
              <a:rPr lang="fr-FR" sz="2400" b="1" dirty="0">
                <a:solidFill>
                  <a:schemeClr val="dk1"/>
                </a:solidFill>
                <a:latin typeface="Times New Roman" panose="02020603050405020304" pitchFamily="18" charset="0"/>
                <a:cs typeface="Times New Roman" panose="02020603050405020304" pitchFamily="18" charset="0"/>
                <a:sym typeface="Arial" panose="020B0604020202020204"/>
              </a:rPr>
              <a:t> web</a:t>
            </a:r>
            <a:endParaRPr sz="24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414655" marR="0" lvl="0" indent="-186690" algn="l" rtl="0">
              <a:lnSpc>
                <a:spcPct val="100000"/>
              </a:lnSpc>
              <a:spcBef>
                <a:spcPts val="805"/>
              </a:spcBef>
              <a:spcAft>
                <a:spcPts val="0"/>
              </a:spcAft>
              <a:buClr>
                <a:schemeClr val="dk1"/>
              </a:buClr>
              <a:buSzPts val="20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Le Web centré utilisateur implique que l’humain est l’acteur principal pour l’initialisation de l’ensemble des requêtes</a:t>
            </a:r>
            <a:endParaRPr lang="fr-FR" sz="18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15" name="Google Shape;96;p5"/>
          <p:cNvSpPr txBox="1"/>
          <p:nvPr/>
        </p:nvSpPr>
        <p:spPr>
          <a:xfrm>
            <a:off x="1580681" y="2656786"/>
            <a:ext cx="2220595" cy="574675"/>
          </a:xfrm>
          <a:prstGeom prst="rect">
            <a:avLst/>
          </a:prstGeom>
          <a:noFill/>
          <a:ln>
            <a:noFill/>
          </a:ln>
        </p:spPr>
        <p:txBody>
          <a:bodyPr spcFirstLastPara="1" wrap="square" lIns="0" tIns="12050" rIns="0" bIns="0" anchor="t" anchorCtr="0">
            <a:spAutoFit/>
          </a:bodyPr>
          <a:lstStyle/>
          <a:p>
            <a:pPr marL="20955" marR="0" lvl="0" indent="0" algn="ctr" rtl="0">
              <a:lnSpc>
                <a:spcPct val="100000"/>
              </a:lnSpc>
              <a:spcBef>
                <a:spcPts val="0"/>
              </a:spcBef>
              <a:spcAft>
                <a:spcPts val="0"/>
              </a:spcAft>
              <a:buNone/>
            </a:pPr>
            <a:r>
              <a:rPr lang="fr-FR" sz="2000" b="1">
                <a:solidFill>
                  <a:srgbClr val="FF0000"/>
                </a:solidFill>
                <a:latin typeface="Times New Roman" panose="02020603050405020304" pitchFamily="18" charset="0"/>
                <a:cs typeface="Times New Roman" panose="02020603050405020304" pitchFamily="18" charset="0"/>
                <a:sym typeface="Arial" panose="020B0604020202020204"/>
              </a:rPr>
              <a:t>B2C</a:t>
            </a:r>
            <a:endParaRPr sz="200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ctr" rtl="0">
              <a:lnSpc>
                <a:spcPct val="100000"/>
              </a:lnSpc>
              <a:spcBef>
                <a:spcPts val="5"/>
              </a:spcBef>
              <a:spcAft>
                <a:spcPts val="0"/>
              </a:spcAft>
              <a:buNone/>
            </a:pPr>
            <a:r>
              <a:rPr lang="fr-FR" sz="1600" b="1">
                <a:solidFill>
                  <a:srgbClr val="FF0000"/>
                </a:solidFill>
                <a:latin typeface="Times New Roman" panose="02020603050405020304" pitchFamily="18" charset="0"/>
                <a:cs typeface="Times New Roman" panose="02020603050405020304" pitchFamily="18" charset="0"/>
                <a:sym typeface="Arial" panose="020B0604020202020204"/>
              </a:rPr>
              <a:t>Business ToConsumer</a:t>
            </a:r>
            <a:endParaRPr sz="160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18" name="Google Shape;99;p5"/>
          <p:cNvSpPr txBox="1"/>
          <p:nvPr/>
        </p:nvSpPr>
        <p:spPr>
          <a:xfrm>
            <a:off x="4725802" y="3489689"/>
            <a:ext cx="10369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Times New Roman" panose="02020603050405020304" pitchFamily="18" charset="0"/>
                <a:cs typeface="Times New Roman" panose="02020603050405020304" pitchFamily="18" charset="0"/>
                <a:sym typeface="Arial" panose="020B0604020202020204"/>
              </a:rPr>
              <a:t>Utilisateur</a:t>
            </a:r>
            <a:endParaRPr sz="18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grpSp>
        <p:nvGrpSpPr>
          <p:cNvPr id="26" name="Google Shape;107;p5"/>
          <p:cNvGrpSpPr/>
          <p:nvPr/>
        </p:nvGrpSpPr>
        <p:grpSpPr>
          <a:xfrm>
            <a:off x="5084231" y="5018020"/>
            <a:ext cx="5905499" cy="1429512"/>
            <a:chOff x="4762500" y="4916423"/>
            <a:chExt cx="5905499" cy="1429512"/>
          </a:xfrm>
        </p:grpSpPr>
        <p:sp>
          <p:nvSpPr>
            <p:cNvPr id="27" name="Google Shape;108;p5"/>
            <p:cNvSpPr/>
            <p:nvPr/>
          </p:nvSpPr>
          <p:spPr>
            <a:xfrm>
              <a:off x="4762500" y="4916423"/>
              <a:ext cx="1655064" cy="1383792"/>
            </a:xfrm>
            <a:prstGeom prst="rect">
              <a:avLst/>
            </a:prstGeom>
            <a:blipFill rotWithShape="1">
              <a:blip r:embed="rId8"/>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8" name="Google Shape;109;p5"/>
            <p:cNvSpPr/>
            <p:nvPr/>
          </p:nvSpPr>
          <p:spPr>
            <a:xfrm>
              <a:off x="9012935" y="4960619"/>
              <a:ext cx="1655064" cy="1385316"/>
            </a:xfrm>
            <a:prstGeom prst="rect">
              <a:avLst/>
            </a:prstGeom>
            <a:blipFill rotWithShape="1">
              <a:blip r:embed="rId8"/>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9" name="Google Shape;110;p5"/>
            <p:cNvSpPr/>
            <p:nvPr/>
          </p:nvSpPr>
          <p:spPr>
            <a:xfrm>
              <a:off x="6080760" y="5370575"/>
              <a:ext cx="3268980" cy="158496"/>
            </a:xfrm>
            <a:prstGeom prst="rect">
              <a:avLst/>
            </a:prstGeom>
            <a:blipFill rotWithShape="1">
              <a:blip r:embed="rId9"/>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30" name="Google Shape;111;p5"/>
            <p:cNvSpPr/>
            <p:nvPr/>
          </p:nvSpPr>
          <p:spPr>
            <a:xfrm>
              <a:off x="6019800" y="5739383"/>
              <a:ext cx="3265932" cy="156972"/>
            </a:xfrm>
            <a:prstGeom prst="rect">
              <a:avLst/>
            </a:prstGeom>
            <a:blipFill rotWithShape="1">
              <a:blip r:embed="rId10"/>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sp>
        <p:nvSpPr>
          <p:cNvPr id="31" name="Google Shape;112;p5"/>
          <p:cNvSpPr txBox="1"/>
          <p:nvPr/>
        </p:nvSpPr>
        <p:spPr>
          <a:xfrm>
            <a:off x="5418367" y="6194650"/>
            <a:ext cx="113919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a:solidFill>
                  <a:schemeClr val="dk1"/>
                </a:solidFill>
                <a:latin typeface="Times New Roman" panose="02020603050405020304" pitchFamily="18" charset="0"/>
                <a:cs typeface="Times New Roman" panose="02020603050405020304" pitchFamily="18" charset="0"/>
                <a:sym typeface="Arial" panose="020B0604020202020204"/>
              </a:rPr>
              <a:t>Application</a:t>
            </a:r>
            <a:endParaRPr sz="180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73" name="Google Shape;122;p5"/>
          <p:cNvSpPr txBox="1"/>
          <p:nvPr/>
        </p:nvSpPr>
        <p:spPr>
          <a:xfrm>
            <a:off x="531342" y="3793406"/>
            <a:ext cx="8803323" cy="1312529"/>
          </a:xfrm>
          <a:prstGeom prst="rect">
            <a:avLst/>
          </a:prstGeom>
          <a:noFill/>
          <a:ln>
            <a:noFill/>
          </a:ln>
        </p:spPr>
        <p:txBody>
          <a:bodyPr spcFirstLastPara="1" wrap="square" lIns="0" tIns="184775" rIns="0" bIns="0" anchor="t" anchorCtr="0">
            <a:spAutoFit/>
          </a:bodyPr>
          <a:lstStyle/>
          <a:p>
            <a:pPr marL="12700" marR="0" lvl="0" indent="0" algn="l" rtl="0">
              <a:lnSpc>
                <a:spcPct val="100000"/>
              </a:lnSpc>
              <a:spcBef>
                <a:spcPts val="0"/>
              </a:spcBef>
              <a:spcAft>
                <a:spcPts val="0"/>
              </a:spcAft>
              <a:buNone/>
            </a:pPr>
            <a:r>
              <a:rPr lang="fr-FR" sz="2400" b="1" dirty="0">
                <a:solidFill>
                  <a:schemeClr val="dk1"/>
                </a:solidFill>
                <a:latin typeface="Times New Roman" panose="02020603050405020304" pitchFamily="18" charset="0"/>
                <a:cs typeface="Times New Roman" panose="02020603050405020304" pitchFamily="18" charset="0"/>
                <a:sym typeface="Arial" panose="020B0604020202020204"/>
              </a:rPr>
              <a:t>Application-</a:t>
            </a:r>
            <a:r>
              <a:rPr lang="fr-FR" sz="2400" b="1" dirty="0" err="1">
                <a:solidFill>
                  <a:schemeClr val="dk1"/>
                </a:solidFill>
                <a:latin typeface="Times New Roman" panose="02020603050405020304" pitchFamily="18" charset="0"/>
                <a:cs typeface="Times New Roman" panose="02020603050405020304" pitchFamily="18" charset="0"/>
                <a:sym typeface="Arial" panose="020B0604020202020204"/>
              </a:rPr>
              <a:t>centric</a:t>
            </a:r>
            <a:r>
              <a:rPr lang="fr-FR" sz="2400" b="1" dirty="0">
                <a:solidFill>
                  <a:schemeClr val="dk1"/>
                </a:solidFill>
                <a:latin typeface="Times New Roman" panose="02020603050405020304" pitchFamily="18" charset="0"/>
                <a:cs typeface="Times New Roman" panose="02020603050405020304" pitchFamily="18" charset="0"/>
                <a:sym typeface="Arial" panose="020B0604020202020204"/>
              </a:rPr>
              <a:t> web</a:t>
            </a:r>
            <a:endParaRPr sz="24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339725" marR="0" lvl="0" indent="-114300" algn="l" rtl="0">
              <a:lnSpc>
                <a:spcPct val="100000"/>
              </a:lnSpc>
              <a:spcBef>
                <a:spcPts val="1125"/>
              </a:spcBef>
              <a:spcAft>
                <a:spcPts val="0"/>
              </a:spcAft>
              <a:buClr>
                <a:schemeClr val="dk1"/>
              </a:buClr>
              <a:buSzPts val="18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Le Web centré application a pour objectif de permettre à des organisations de communiquer entre elles</a:t>
            </a:r>
            <a:endParaRPr sz="20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74" name="Google Shape;123;p5"/>
          <p:cNvSpPr txBox="1"/>
          <p:nvPr/>
        </p:nvSpPr>
        <p:spPr>
          <a:xfrm>
            <a:off x="9575524" y="6202505"/>
            <a:ext cx="113919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Times New Roman" panose="02020603050405020304" pitchFamily="18" charset="0"/>
                <a:cs typeface="Times New Roman" panose="02020603050405020304" pitchFamily="18" charset="0"/>
                <a:sym typeface="Arial" panose="020B0604020202020204"/>
              </a:rPr>
              <a:t>Application</a:t>
            </a:r>
            <a:endParaRPr sz="18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75" name="Google Shape;124;p5"/>
          <p:cNvSpPr txBox="1"/>
          <p:nvPr/>
        </p:nvSpPr>
        <p:spPr>
          <a:xfrm>
            <a:off x="1642277" y="5299199"/>
            <a:ext cx="2120265" cy="575310"/>
          </a:xfrm>
          <a:prstGeom prst="rect">
            <a:avLst/>
          </a:prstGeom>
          <a:noFill/>
          <a:ln>
            <a:noFill/>
          </a:ln>
        </p:spPr>
        <p:txBody>
          <a:bodyPr spcFirstLastPara="1" wrap="square" lIns="0" tIns="11425" rIns="0" bIns="0" anchor="t" anchorCtr="0">
            <a:spAutoFit/>
          </a:bodyPr>
          <a:lstStyle/>
          <a:p>
            <a:pPr marL="1905" marR="0" lvl="0" indent="0" algn="ctr" rtl="0">
              <a:lnSpc>
                <a:spcPct val="100000"/>
              </a:lnSpc>
              <a:spcBef>
                <a:spcPts val="0"/>
              </a:spcBef>
              <a:spcAft>
                <a:spcPts val="0"/>
              </a:spcAft>
              <a:buNone/>
            </a:pPr>
            <a:r>
              <a:rPr lang="fr-FR" sz="2000" b="1" dirty="0">
                <a:solidFill>
                  <a:srgbClr val="FF0000"/>
                </a:solidFill>
                <a:latin typeface="Times New Roman" panose="02020603050405020304" pitchFamily="18" charset="0"/>
                <a:cs typeface="Times New Roman" panose="02020603050405020304" pitchFamily="18" charset="0"/>
                <a:sym typeface="Arial" panose="020B0604020202020204"/>
              </a:rPr>
              <a:t>B2B</a:t>
            </a:r>
            <a:endParaRP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ctr" rtl="0">
              <a:lnSpc>
                <a:spcPct val="100000"/>
              </a:lnSpc>
              <a:spcBef>
                <a:spcPts val="15"/>
              </a:spcBef>
              <a:spcAft>
                <a:spcPts val="0"/>
              </a:spcAft>
              <a:buNone/>
            </a:pPr>
            <a:r>
              <a:rPr lang="fr-FR" sz="1600" b="1" dirty="0">
                <a:solidFill>
                  <a:srgbClr val="FF0000"/>
                </a:solidFill>
                <a:latin typeface="Times New Roman" panose="02020603050405020304" pitchFamily="18" charset="0"/>
                <a:cs typeface="Times New Roman" panose="02020603050405020304" pitchFamily="18" charset="0"/>
                <a:sym typeface="Arial" panose="020B0604020202020204"/>
              </a:rPr>
              <a:t>Business To Business</a:t>
            </a:r>
            <a:endParaRPr sz="16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76" name="Google Shape;125;p5"/>
          <p:cNvSpPr txBox="1"/>
          <p:nvPr/>
        </p:nvSpPr>
        <p:spPr>
          <a:xfrm>
            <a:off x="11392066" y="6532240"/>
            <a:ext cx="228600" cy="188503"/>
          </a:xfrm>
          <a:prstGeom prst="rect">
            <a:avLst/>
          </a:prstGeom>
          <a:noFill/>
          <a:ln>
            <a:noFill/>
          </a:ln>
        </p:spPr>
        <p:txBody>
          <a:bodyPr spcFirstLastPara="1" wrap="square" lIns="0" tIns="3800" rIns="0" bIns="0" anchor="t" anchorCtr="0">
            <a:sp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38100" algn="l"/>
            <a:fld id="{00000000-1234-1234-1234-123412341234}" type="slidenum">
              <a:rPr lang="fr-FR" smtClean="0">
                <a:latin typeface="Times New Roman" panose="02020603050405020304" pitchFamily="18" charset="0"/>
                <a:cs typeface="Times New Roman" panose="02020603050405020304" pitchFamily="18" charset="0"/>
              </a:rPr>
              <a:t>17</a:t>
            </a:fld>
            <a:endParaRPr lang="fr-FR">
              <a:latin typeface="Times New Roman" panose="02020603050405020304" pitchFamily="18" charset="0"/>
              <a:cs typeface="Times New Roman" panose="02020603050405020304" pitchFamily="18" charset="0"/>
            </a:endParaRPr>
          </a:p>
        </p:txBody>
      </p:sp>
      <p:sp>
        <p:nvSpPr>
          <p:cNvPr id="4" name="Google Shape;109;p5"/>
          <p:cNvSpPr/>
          <p:nvPr/>
        </p:nvSpPr>
        <p:spPr>
          <a:xfrm>
            <a:off x="8817207" y="2577734"/>
            <a:ext cx="1655064" cy="1385316"/>
          </a:xfrm>
          <a:prstGeom prst="rect">
            <a:avLst/>
          </a:prstGeom>
          <a:blipFill rotWithShape="1">
            <a:blip r:embed="rId8"/>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5" name="Google Shape;123;p5"/>
          <p:cNvSpPr txBox="1"/>
          <p:nvPr/>
        </p:nvSpPr>
        <p:spPr>
          <a:xfrm>
            <a:off x="9121859" y="3739291"/>
            <a:ext cx="113919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Times New Roman" panose="02020603050405020304" pitchFamily="18" charset="0"/>
                <a:cs typeface="Times New Roman" panose="02020603050405020304" pitchFamily="18" charset="0"/>
                <a:sym typeface="Arial" panose="020B0604020202020204"/>
              </a:rPr>
              <a:t>Application</a:t>
            </a:r>
            <a:endParaRPr sz="18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7" name="Google Shape;111;p5"/>
          <p:cNvSpPr/>
          <p:nvPr/>
        </p:nvSpPr>
        <p:spPr>
          <a:xfrm>
            <a:off x="5770908" y="3335235"/>
            <a:ext cx="3265932" cy="156972"/>
          </a:xfrm>
          <a:prstGeom prst="rect">
            <a:avLst/>
          </a:prstGeom>
          <a:blipFill rotWithShape="1">
            <a:blip r:embed="rId10"/>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6" name="Google Shape;110;p5"/>
          <p:cNvSpPr/>
          <p:nvPr/>
        </p:nvSpPr>
        <p:spPr>
          <a:xfrm>
            <a:off x="5831868" y="2966427"/>
            <a:ext cx="3268980" cy="158496"/>
          </a:xfrm>
          <a:prstGeom prst="rect">
            <a:avLst/>
          </a:prstGeom>
          <a:blipFill rotWithShape="1">
            <a:blip r:embed="rId9"/>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nvGrpSpPr>
          <p:cNvPr id="64" name="Google Shape;113;p5"/>
          <p:cNvGrpSpPr/>
          <p:nvPr/>
        </p:nvGrpSpPr>
        <p:grpSpPr>
          <a:xfrm>
            <a:off x="7534823" y="5333681"/>
            <a:ext cx="1132966" cy="700155"/>
            <a:chOff x="7213092" y="5320283"/>
            <a:chExt cx="1132966" cy="633222"/>
          </a:xfrm>
        </p:grpSpPr>
        <p:sp>
          <p:nvSpPr>
            <p:cNvPr id="65" name="Google Shape;114;p5"/>
            <p:cNvSpPr/>
            <p:nvPr/>
          </p:nvSpPr>
          <p:spPr>
            <a:xfrm>
              <a:off x="7213092" y="5320283"/>
              <a:ext cx="1132205" cy="632460"/>
            </a:xfrm>
            <a:custGeom>
              <a:avLst/>
              <a:gdLst/>
              <a:ahLst/>
              <a:cxnLst/>
              <a:rect l="l" t="t" r="r" b="b"/>
              <a:pathLst>
                <a:path w="1132204" h="632460" extrusionOk="0">
                  <a:moveTo>
                    <a:pt x="988314" y="48006"/>
                  </a:moveTo>
                  <a:lnTo>
                    <a:pt x="976122" y="34671"/>
                  </a:lnTo>
                  <a:lnTo>
                    <a:pt x="975360" y="34163"/>
                  </a:lnTo>
                  <a:lnTo>
                    <a:pt x="960628" y="22860"/>
                  </a:lnTo>
                  <a:lnTo>
                    <a:pt x="916432" y="4318"/>
                  </a:lnTo>
                  <a:lnTo>
                    <a:pt x="867918" y="381"/>
                  </a:lnTo>
                  <a:lnTo>
                    <a:pt x="821055" y="10414"/>
                  </a:lnTo>
                  <a:lnTo>
                    <a:pt x="781431" y="34163"/>
                  </a:lnTo>
                  <a:lnTo>
                    <a:pt x="772922" y="26543"/>
                  </a:lnTo>
                  <a:lnTo>
                    <a:pt x="763270" y="19812"/>
                  </a:lnTo>
                  <a:lnTo>
                    <a:pt x="752856" y="13970"/>
                  </a:lnTo>
                  <a:lnTo>
                    <a:pt x="741426" y="9017"/>
                  </a:lnTo>
                  <a:lnTo>
                    <a:pt x="697611" y="0"/>
                  </a:lnTo>
                  <a:lnTo>
                    <a:pt x="654177" y="4318"/>
                  </a:lnTo>
                  <a:lnTo>
                    <a:pt x="616077" y="20828"/>
                  </a:lnTo>
                  <a:lnTo>
                    <a:pt x="588137" y="48006"/>
                  </a:lnTo>
                  <a:lnTo>
                    <a:pt x="988314" y="48006"/>
                  </a:lnTo>
                  <a:close/>
                </a:path>
                <a:path w="1132204" h="632460" extrusionOk="0">
                  <a:moveTo>
                    <a:pt x="1131951" y="302920"/>
                  </a:moveTo>
                  <a:lnTo>
                    <a:pt x="1122299" y="261874"/>
                  </a:lnTo>
                  <a:lnTo>
                    <a:pt x="1095375" y="223901"/>
                  </a:lnTo>
                  <a:lnTo>
                    <a:pt x="1097915" y="219456"/>
                  </a:lnTo>
                  <a:lnTo>
                    <a:pt x="1099947" y="214757"/>
                  </a:lnTo>
                  <a:lnTo>
                    <a:pt x="1101598" y="209931"/>
                  </a:lnTo>
                  <a:lnTo>
                    <a:pt x="1105408" y="167767"/>
                  </a:lnTo>
                  <a:lnTo>
                    <a:pt x="1088136" y="129159"/>
                  </a:lnTo>
                  <a:lnTo>
                    <a:pt x="1053211" y="98298"/>
                  </a:lnTo>
                  <a:lnTo>
                    <a:pt x="1003681" y="79375"/>
                  </a:lnTo>
                  <a:lnTo>
                    <a:pt x="1001649" y="73914"/>
                  </a:lnTo>
                  <a:lnTo>
                    <a:pt x="366776" y="73914"/>
                  </a:lnTo>
                  <a:lnTo>
                    <a:pt x="340233" y="64262"/>
                  </a:lnTo>
                  <a:lnTo>
                    <a:pt x="312039" y="58039"/>
                  </a:lnTo>
                  <a:lnTo>
                    <a:pt x="199390" y="69215"/>
                  </a:lnTo>
                  <a:lnTo>
                    <a:pt x="154686" y="93091"/>
                  </a:lnTo>
                  <a:lnTo>
                    <a:pt x="121920" y="125857"/>
                  </a:lnTo>
                  <a:lnTo>
                    <a:pt x="103505" y="164973"/>
                  </a:lnTo>
                  <a:lnTo>
                    <a:pt x="102235" y="208026"/>
                  </a:lnTo>
                  <a:lnTo>
                    <a:pt x="101219" y="209931"/>
                  </a:lnTo>
                  <a:lnTo>
                    <a:pt x="51308" y="223266"/>
                  </a:lnTo>
                  <a:lnTo>
                    <a:pt x="14732" y="252476"/>
                  </a:lnTo>
                  <a:lnTo>
                    <a:pt x="0" y="285140"/>
                  </a:lnTo>
                  <a:lnTo>
                    <a:pt x="2794" y="318427"/>
                  </a:lnTo>
                  <a:lnTo>
                    <a:pt x="21717" y="348475"/>
                  </a:lnTo>
                  <a:lnTo>
                    <a:pt x="55372" y="371487"/>
                  </a:lnTo>
                  <a:lnTo>
                    <a:pt x="40386" y="386588"/>
                  </a:lnTo>
                  <a:lnTo>
                    <a:pt x="30226" y="403593"/>
                  </a:lnTo>
                  <a:lnTo>
                    <a:pt x="25019" y="421843"/>
                  </a:lnTo>
                  <a:lnTo>
                    <a:pt x="25273" y="440715"/>
                  </a:lnTo>
                  <a:lnTo>
                    <a:pt x="39370" y="473392"/>
                  </a:lnTo>
                  <a:lnTo>
                    <a:pt x="67945" y="498551"/>
                  </a:lnTo>
                  <a:lnTo>
                    <a:pt x="106807" y="513765"/>
                  </a:lnTo>
                  <a:lnTo>
                    <a:pt x="152019" y="516597"/>
                  </a:lnTo>
                  <a:lnTo>
                    <a:pt x="154178" y="519379"/>
                  </a:lnTo>
                  <a:lnTo>
                    <a:pt x="195961" y="557098"/>
                  </a:lnTo>
                  <a:lnTo>
                    <a:pt x="249174" y="582091"/>
                  </a:lnTo>
                  <a:lnTo>
                    <a:pt x="309118" y="593496"/>
                  </a:lnTo>
                  <a:lnTo>
                    <a:pt x="371475" y="590448"/>
                  </a:lnTo>
                  <a:lnTo>
                    <a:pt x="431546" y="572084"/>
                  </a:lnTo>
                  <a:lnTo>
                    <a:pt x="450596" y="590194"/>
                  </a:lnTo>
                  <a:lnTo>
                    <a:pt x="473329" y="605459"/>
                  </a:lnTo>
                  <a:lnTo>
                    <a:pt x="499110" y="617550"/>
                  </a:lnTo>
                  <a:lnTo>
                    <a:pt x="527304" y="626173"/>
                  </a:lnTo>
                  <a:lnTo>
                    <a:pt x="583438" y="631939"/>
                  </a:lnTo>
                  <a:lnTo>
                    <a:pt x="637159" y="624344"/>
                  </a:lnTo>
                  <a:lnTo>
                    <a:pt x="684911" y="604875"/>
                  </a:lnTo>
                  <a:lnTo>
                    <a:pt x="723011" y="575017"/>
                  </a:lnTo>
                  <a:lnTo>
                    <a:pt x="724916" y="572084"/>
                  </a:lnTo>
                  <a:lnTo>
                    <a:pt x="747903" y="536244"/>
                  </a:lnTo>
                  <a:lnTo>
                    <a:pt x="766318" y="543687"/>
                  </a:lnTo>
                  <a:lnTo>
                    <a:pt x="785876" y="549122"/>
                  </a:lnTo>
                  <a:lnTo>
                    <a:pt x="806069" y="552475"/>
                  </a:lnTo>
                  <a:lnTo>
                    <a:pt x="826897" y="553694"/>
                  </a:lnTo>
                  <a:lnTo>
                    <a:pt x="885952" y="545007"/>
                  </a:lnTo>
                  <a:lnTo>
                    <a:pt x="903351" y="536244"/>
                  </a:lnTo>
                  <a:lnTo>
                    <a:pt x="934466" y="520649"/>
                  </a:lnTo>
                  <a:lnTo>
                    <a:pt x="967232" y="484263"/>
                  </a:lnTo>
                  <a:lnTo>
                    <a:pt x="979551" y="439559"/>
                  </a:lnTo>
                  <a:lnTo>
                    <a:pt x="1001903" y="436003"/>
                  </a:lnTo>
                  <a:lnTo>
                    <a:pt x="1062609" y="413016"/>
                  </a:lnTo>
                  <a:lnTo>
                    <a:pt x="1101598" y="381596"/>
                  </a:lnTo>
                  <a:lnTo>
                    <a:pt x="1124839" y="343865"/>
                  </a:lnTo>
                  <a:lnTo>
                    <a:pt x="1131951" y="30292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66" name="Google Shape;115;p5"/>
            <p:cNvSpPr/>
            <p:nvPr/>
          </p:nvSpPr>
          <p:spPr>
            <a:xfrm>
              <a:off x="7213853" y="5321045"/>
              <a:ext cx="1132205" cy="632460"/>
            </a:xfrm>
            <a:custGeom>
              <a:avLst/>
              <a:gdLst/>
              <a:ahLst/>
              <a:cxnLst/>
              <a:rect l="l" t="t" r="r" b="b"/>
              <a:pathLst>
                <a:path w="1132204" h="632460" extrusionOk="0">
                  <a:moveTo>
                    <a:pt x="102235" y="208025"/>
                  </a:moveTo>
                  <a:lnTo>
                    <a:pt x="103504" y="164972"/>
                  </a:lnTo>
                  <a:lnTo>
                    <a:pt x="121920" y="125856"/>
                  </a:lnTo>
                  <a:lnTo>
                    <a:pt x="154686" y="93090"/>
                  </a:lnTo>
                  <a:lnTo>
                    <a:pt x="199390" y="69214"/>
                  </a:lnTo>
                  <a:lnTo>
                    <a:pt x="253492" y="56768"/>
                  </a:lnTo>
                  <a:lnTo>
                    <a:pt x="282955" y="55625"/>
                  </a:lnTo>
                  <a:lnTo>
                    <a:pt x="312039" y="58038"/>
                  </a:lnTo>
                  <a:lnTo>
                    <a:pt x="340232" y="64261"/>
                  </a:lnTo>
                  <a:lnTo>
                    <a:pt x="366775" y="73913"/>
                  </a:lnTo>
                  <a:lnTo>
                    <a:pt x="401954" y="41274"/>
                  </a:lnTo>
                  <a:lnTo>
                    <a:pt x="449199" y="22097"/>
                  </a:lnTo>
                  <a:lnTo>
                    <a:pt x="502412" y="17906"/>
                  </a:lnTo>
                  <a:lnTo>
                    <a:pt x="555625" y="29971"/>
                  </a:lnTo>
                  <a:lnTo>
                    <a:pt x="564388" y="33781"/>
                  </a:lnTo>
                  <a:lnTo>
                    <a:pt x="572770" y="38099"/>
                  </a:lnTo>
                  <a:lnTo>
                    <a:pt x="580644" y="42798"/>
                  </a:lnTo>
                  <a:lnTo>
                    <a:pt x="588137" y="48005"/>
                  </a:lnTo>
                  <a:lnTo>
                    <a:pt x="616076" y="20827"/>
                  </a:lnTo>
                  <a:lnTo>
                    <a:pt x="654176" y="4317"/>
                  </a:lnTo>
                  <a:lnTo>
                    <a:pt x="697611" y="0"/>
                  </a:lnTo>
                  <a:lnTo>
                    <a:pt x="741426" y="9016"/>
                  </a:lnTo>
                  <a:lnTo>
                    <a:pt x="752855" y="13969"/>
                  </a:lnTo>
                  <a:lnTo>
                    <a:pt x="763270" y="19811"/>
                  </a:lnTo>
                  <a:lnTo>
                    <a:pt x="772922" y="26542"/>
                  </a:lnTo>
                  <a:lnTo>
                    <a:pt x="781430" y="34162"/>
                  </a:lnTo>
                  <a:lnTo>
                    <a:pt x="821054" y="10413"/>
                  </a:lnTo>
                  <a:lnTo>
                    <a:pt x="867918" y="380"/>
                  </a:lnTo>
                  <a:lnTo>
                    <a:pt x="916431" y="4317"/>
                  </a:lnTo>
                  <a:lnTo>
                    <a:pt x="960627" y="22859"/>
                  </a:lnTo>
                  <a:lnTo>
                    <a:pt x="976122" y="34670"/>
                  </a:lnTo>
                  <a:lnTo>
                    <a:pt x="988568" y="48259"/>
                  </a:lnTo>
                  <a:lnTo>
                    <a:pt x="997839" y="63245"/>
                  </a:lnTo>
                  <a:lnTo>
                    <a:pt x="1003680" y="79374"/>
                  </a:lnTo>
                  <a:lnTo>
                    <a:pt x="1053211" y="98297"/>
                  </a:lnTo>
                  <a:lnTo>
                    <a:pt x="1088136" y="129158"/>
                  </a:lnTo>
                  <a:lnTo>
                    <a:pt x="1105407" y="167766"/>
                  </a:lnTo>
                  <a:lnTo>
                    <a:pt x="1101598" y="209930"/>
                  </a:lnTo>
                  <a:lnTo>
                    <a:pt x="1099947" y="214756"/>
                  </a:lnTo>
                  <a:lnTo>
                    <a:pt x="1097915" y="219455"/>
                  </a:lnTo>
                  <a:lnTo>
                    <a:pt x="1095375" y="223900"/>
                  </a:lnTo>
                  <a:lnTo>
                    <a:pt x="1122299" y="261873"/>
                  </a:lnTo>
                  <a:lnTo>
                    <a:pt x="1131951" y="302920"/>
                  </a:lnTo>
                  <a:lnTo>
                    <a:pt x="1124839" y="343865"/>
                  </a:lnTo>
                  <a:lnTo>
                    <a:pt x="1101598" y="381596"/>
                  </a:lnTo>
                  <a:lnTo>
                    <a:pt x="1062609" y="413016"/>
                  </a:lnTo>
                  <a:lnTo>
                    <a:pt x="1001902" y="436003"/>
                  </a:lnTo>
                  <a:lnTo>
                    <a:pt x="979551" y="439559"/>
                  </a:lnTo>
                  <a:lnTo>
                    <a:pt x="967231" y="484263"/>
                  </a:lnTo>
                  <a:lnTo>
                    <a:pt x="934466" y="520649"/>
                  </a:lnTo>
                  <a:lnTo>
                    <a:pt x="885951" y="545007"/>
                  </a:lnTo>
                  <a:lnTo>
                    <a:pt x="826897" y="553694"/>
                  </a:lnTo>
                  <a:lnTo>
                    <a:pt x="806069" y="552475"/>
                  </a:lnTo>
                  <a:lnTo>
                    <a:pt x="785876" y="549122"/>
                  </a:lnTo>
                  <a:lnTo>
                    <a:pt x="766318" y="543686"/>
                  </a:lnTo>
                  <a:lnTo>
                    <a:pt x="747902" y="536244"/>
                  </a:lnTo>
                  <a:lnTo>
                    <a:pt x="723011" y="575017"/>
                  </a:lnTo>
                  <a:lnTo>
                    <a:pt x="684911" y="604875"/>
                  </a:lnTo>
                  <a:lnTo>
                    <a:pt x="637159" y="624344"/>
                  </a:lnTo>
                  <a:lnTo>
                    <a:pt x="583438" y="631939"/>
                  </a:lnTo>
                  <a:lnTo>
                    <a:pt x="527303" y="626173"/>
                  </a:lnTo>
                  <a:lnTo>
                    <a:pt x="499110" y="617550"/>
                  </a:lnTo>
                  <a:lnTo>
                    <a:pt x="473328" y="605459"/>
                  </a:lnTo>
                  <a:lnTo>
                    <a:pt x="450596" y="590194"/>
                  </a:lnTo>
                  <a:lnTo>
                    <a:pt x="431546" y="572084"/>
                  </a:lnTo>
                  <a:lnTo>
                    <a:pt x="371475" y="590448"/>
                  </a:lnTo>
                  <a:lnTo>
                    <a:pt x="309118" y="593496"/>
                  </a:lnTo>
                  <a:lnTo>
                    <a:pt x="249174" y="582091"/>
                  </a:lnTo>
                  <a:lnTo>
                    <a:pt x="195961" y="557098"/>
                  </a:lnTo>
                  <a:lnTo>
                    <a:pt x="154177" y="519379"/>
                  </a:lnTo>
                  <a:lnTo>
                    <a:pt x="152019" y="516597"/>
                  </a:lnTo>
                  <a:lnTo>
                    <a:pt x="106806" y="513765"/>
                  </a:lnTo>
                  <a:lnTo>
                    <a:pt x="67945" y="498551"/>
                  </a:lnTo>
                  <a:lnTo>
                    <a:pt x="39370" y="473392"/>
                  </a:lnTo>
                  <a:lnTo>
                    <a:pt x="25273" y="440715"/>
                  </a:lnTo>
                  <a:lnTo>
                    <a:pt x="25019" y="421843"/>
                  </a:lnTo>
                  <a:lnTo>
                    <a:pt x="30225" y="403593"/>
                  </a:lnTo>
                  <a:lnTo>
                    <a:pt x="40386" y="386587"/>
                  </a:lnTo>
                  <a:lnTo>
                    <a:pt x="55372" y="371487"/>
                  </a:lnTo>
                  <a:lnTo>
                    <a:pt x="21717" y="348475"/>
                  </a:lnTo>
                  <a:lnTo>
                    <a:pt x="2794" y="318427"/>
                  </a:lnTo>
                  <a:lnTo>
                    <a:pt x="0" y="285140"/>
                  </a:lnTo>
                  <a:lnTo>
                    <a:pt x="14731" y="252475"/>
                  </a:lnTo>
                  <a:lnTo>
                    <a:pt x="30861" y="236092"/>
                  </a:lnTo>
                  <a:lnTo>
                    <a:pt x="51307" y="223265"/>
                  </a:lnTo>
                  <a:lnTo>
                    <a:pt x="75056" y="214375"/>
                  </a:lnTo>
                  <a:lnTo>
                    <a:pt x="101219" y="209930"/>
                  </a:lnTo>
                  <a:lnTo>
                    <a:pt x="102235" y="208025"/>
                  </a:lnTo>
                  <a:close/>
                </a:path>
                <a:path w="1132204" h="632460" extrusionOk="0">
                  <a:moveTo>
                    <a:pt x="122809" y="380593"/>
                  </a:moveTo>
                  <a:lnTo>
                    <a:pt x="105410" y="380606"/>
                  </a:lnTo>
                  <a:lnTo>
                    <a:pt x="88392" y="378612"/>
                  </a:lnTo>
                  <a:lnTo>
                    <a:pt x="72009" y="374662"/>
                  </a:lnTo>
                  <a:lnTo>
                    <a:pt x="56388" y="368807"/>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67" name="Google Shape;116;p5"/>
            <p:cNvSpPr/>
            <p:nvPr/>
          </p:nvSpPr>
          <p:spPr>
            <a:xfrm>
              <a:off x="7366253" y="5830061"/>
              <a:ext cx="29845" cy="5080"/>
            </a:xfrm>
            <a:custGeom>
              <a:avLst/>
              <a:gdLst/>
              <a:ahLst/>
              <a:cxnLst/>
              <a:rect l="l" t="t" r="r" b="b"/>
              <a:pathLst>
                <a:path w="29845" h="5079" extrusionOk="0">
                  <a:moveTo>
                    <a:pt x="29718" y="0"/>
                  </a:moveTo>
                  <a:lnTo>
                    <a:pt x="20320" y="2260"/>
                  </a:lnTo>
                  <a:lnTo>
                    <a:pt x="10287" y="3759"/>
                  </a:lnTo>
                  <a:lnTo>
                    <a:pt x="0" y="447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68" name="Google Shape;117;p5"/>
            <p:cNvSpPr/>
            <p:nvPr/>
          </p:nvSpPr>
          <p:spPr>
            <a:xfrm>
              <a:off x="7628381" y="5353049"/>
              <a:ext cx="679450" cy="537845"/>
            </a:xfrm>
            <a:custGeom>
              <a:avLst/>
              <a:gdLst/>
              <a:ahLst/>
              <a:cxnLst/>
              <a:rect l="l" t="t" r="r" b="b"/>
              <a:pathLst>
                <a:path w="679450" h="537845" extrusionOk="0">
                  <a:moveTo>
                    <a:pt x="16383" y="537387"/>
                  </a:moveTo>
                  <a:lnTo>
                    <a:pt x="11684" y="531329"/>
                  </a:lnTo>
                  <a:lnTo>
                    <a:pt x="7366" y="525081"/>
                  </a:lnTo>
                  <a:lnTo>
                    <a:pt x="3428" y="518655"/>
                  </a:lnTo>
                  <a:lnTo>
                    <a:pt x="0" y="512063"/>
                  </a:lnTo>
                </a:path>
                <a:path w="679450" h="537845" extrusionOk="0">
                  <a:moveTo>
                    <a:pt x="340741" y="473963"/>
                  </a:moveTo>
                  <a:lnTo>
                    <a:pt x="339725" y="480910"/>
                  </a:lnTo>
                  <a:lnTo>
                    <a:pt x="338200" y="487819"/>
                  </a:lnTo>
                  <a:lnTo>
                    <a:pt x="336169" y="494639"/>
                  </a:lnTo>
                  <a:lnTo>
                    <a:pt x="333756" y="501383"/>
                  </a:lnTo>
                </a:path>
                <a:path w="679450" h="537845" extrusionOk="0">
                  <a:moveTo>
                    <a:pt x="478536" y="301752"/>
                  </a:moveTo>
                  <a:lnTo>
                    <a:pt x="513969" y="320078"/>
                  </a:lnTo>
                  <a:lnTo>
                    <a:pt x="540893" y="344741"/>
                  </a:lnTo>
                  <a:lnTo>
                    <a:pt x="557784" y="374091"/>
                  </a:lnTo>
                  <a:lnTo>
                    <a:pt x="563499" y="406501"/>
                  </a:lnTo>
                </a:path>
                <a:path w="679450" h="537845" extrusionOk="0">
                  <a:moveTo>
                    <a:pt x="679323" y="190500"/>
                  </a:moveTo>
                  <a:lnTo>
                    <a:pt x="672211" y="201549"/>
                  </a:lnTo>
                  <a:lnTo>
                    <a:pt x="663448" y="211962"/>
                  </a:lnTo>
                  <a:lnTo>
                    <a:pt x="653288" y="221361"/>
                  </a:lnTo>
                  <a:lnTo>
                    <a:pt x="641603" y="229869"/>
                  </a:lnTo>
                </a:path>
                <a:path w="679450" h="537845" extrusionOk="0">
                  <a:moveTo>
                    <a:pt x="588264" y="45719"/>
                  </a:moveTo>
                  <a:lnTo>
                    <a:pt x="589915" y="51815"/>
                  </a:lnTo>
                  <a:lnTo>
                    <a:pt x="590676" y="57912"/>
                  </a:lnTo>
                  <a:lnTo>
                    <a:pt x="590550" y="64008"/>
                  </a:lnTo>
                </a:path>
                <a:path w="679450" h="537845" extrusionOk="0">
                  <a:moveTo>
                    <a:pt x="347472" y="24384"/>
                  </a:moveTo>
                  <a:lnTo>
                    <a:pt x="351282" y="17906"/>
                  </a:lnTo>
                  <a:lnTo>
                    <a:pt x="355600" y="11556"/>
                  </a:lnTo>
                  <a:lnTo>
                    <a:pt x="360425" y="5587"/>
                  </a:lnTo>
                  <a:lnTo>
                    <a:pt x="365760" y="0"/>
                  </a:lnTo>
                </a:path>
                <a:path w="679450" h="537845" extrusionOk="0">
                  <a:moveTo>
                    <a:pt x="164592" y="35052"/>
                  </a:moveTo>
                  <a:lnTo>
                    <a:pt x="166750" y="28066"/>
                  </a:lnTo>
                  <a:lnTo>
                    <a:pt x="170052" y="21462"/>
                  </a:lnTo>
                  <a:lnTo>
                    <a:pt x="174498" y="1524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69" name="Google Shape;118;p5"/>
            <p:cNvSpPr/>
            <p:nvPr/>
          </p:nvSpPr>
          <p:spPr>
            <a:xfrm>
              <a:off x="7581137" y="5394197"/>
              <a:ext cx="33020" cy="20320"/>
            </a:xfrm>
            <a:custGeom>
              <a:avLst/>
              <a:gdLst/>
              <a:ahLst/>
              <a:cxnLst/>
              <a:rect l="l" t="t" r="r" b="b"/>
              <a:pathLst>
                <a:path w="33020" h="20320" extrusionOk="0">
                  <a:moveTo>
                    <a:pt x="0" y="0"/>
                  </a:moveTo>
                  <a:lnTo>
                    <a:pt x="8762" y="4317"/>
                  </a:lnTo>
                  <a:lnTo>
                    <a:pt x="17271" y="9143"/>
                  </a:lnTo>
                  <a:lnTo>
                    <a:pt x="25272" y="14223"/>
                  </a:lnTo>
                  <a:lnTo>
                    <a:pt x="32892" y="19811"/>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70" name="Google Shape;119;p5"/>
            <p:cNvSpPr/>
            <p:nvPr/>
          </p:nvSpPr>
          <p:spPr>
            <a:xfrm>
              <a:off x="7315961" y="5529833"/>
              <a:ext cx="6350" cy="19685"/>
            </a:xfrm>
            <a:custGeom>
              <a:avLst/>
              <a:gdLst/>
              <a:ahLst/>
              <a:cxnLst/>
              <a:rect l="l" t="t" r="r" b="b"/>
              <a:pathLst>
                <a:path w="6350" h="19685" extrusionOk="0">
                  <a:moveTo>
                    <a:pt x="6096" y="19557"/>
                  </a:moveTo>
                  <a:lnTo>
                    <a:pt x="3302" y="13207"/>
                  </a:lnTo>
                  <a:lnTo>
                    <a:pt x="1270" y="6603"/>
                  </a:lnTo>
                  <a:lnTo>
                    <a:pt x="0" y="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sp>
        <p:nvSpPr>
          <p:cNvPr id="86" name="Google Shape;106;p5"/>
          <p:cNvSpPr txBox="1"/>
          <p:nvPr/>
        </p:nvSpPr>
        <p:spPr>
          <a:xfrm>
            <a:off x="7634013" y="5527631"/>
            <a:ext cx="906269"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Times New Roman" panose="02020603050405020304" pitchFamily="18" charset="0"/>
                <a:ea typeface="Verdana" panose="020B0604030504040204"/>
                <a:cs typeface="Times New Roman" panose="02020603050405020304" pitchFamily="18" charset="0"/>
                <a:sym typeface="Verdana" panose="020B0604030504040204"/>
              </a:rPr>
              <a:t>Internet</a:t>
            </a:r>
            <a:endParaRPr sz="1800" dirty="0">
              <a:solidFill>
                <a:schemeClr val="dk1"/>
              </a:solidFill>
              <a:latin typeface="Times New Roman" panose="02020603050405020304" pitchFamily="18" charset="0"/>
              <a:ea typeface="Verdana" panose="020B0604030504040204"/>
              <a:cs typeface="Times New Roman" panose="02020603050405020304" pitchFamily="18" charset="0"/>
              <a:sym typeface="Verdana" panose="020B0604030504040204"/>
            </a:endParaRPr>
          </a:p>
        </p:txBody>
      </p:sp>
      <p:grpSp>
        <p:nvGrpSpPr>
          <p:cNvPr id="88" name="Google Shape;113;p5"/>
          <p:cNvGrpSpPr/>
          <p:nvPr/>
        </p:nvGrpSpPr>
        <p:grpSpPr>
          <a:xfrm>
            <a:off x="6912829" y="2880546"/>
            <a:ext cx="1307757" cy="700155"/>
            <a:chOff x="7213092" y="5320283"/>
            <a:chExt cx="1132966" cy="633222"/>
          </a:xfrm>
        </p:grpSpPr>
        <p:sp>
          <p:nvSpPr>
            <p:cNvPr id="91" name="Google Shape;114;p5"/>
            <p:cNvSpPr/>
            <p:nvPr/>
          </p:nvSpPr>
          <p:spPr>
            <a:xfrm>
              <a:off x="7213092" y="5320283"/>
              <a:ext cx="1132205" cy="632460"/>
            </a:xfrm>
            <a:custGeom>
              <a:avLst/>
              <a:gdLst/>
              <a:ahLst/>
              <a:cxnLst/>
              <a:rect l="l" t="t" r="r" b="b"/>
              <a:pathLst>
                <a:path w="1132204" h="632460" extrusionOk="0">
                  <a:moveTo>
                    <a:pt x="988314" y="48006"/>
                  </a:moveTo>
                  <a:lnTo>
                    <a:pt x="976122" y="34671"/>
                  </a:lnTo>
                  <a:lnTo>
                    <a:pt x="975360" y="34163"/>
                  </a:lnTo>
                  <a:lnTo>
                    <a:pt x="960628" y="22860"/>
                  </a:lnTo>
                  <a:lnTo>
                    <a:pt x="916432" y="4318"/>
                  </a:lnTo>
                  <a:lnTo>
                    <a:pt x="867918" y="381"/>
                  </a:lnTo>
                  <a:lnTo>
                    <a:pt x="821055" y="10414"/>
                  </a:lnTo>
                  <a:lnTo>
                    <a:pt x="781431" y="34163"/>
                  </a:lnTo>
                  <a:lnTo>
                    <a:pt x="772922" y="26543"/>
                  </a:lnTo>
                  <a:lnTo>
                    <a:pt x="763270" y="19812"/>
                  </a:lnTo>
                  <a:lnTo>
                    <a:pt x="752856" y="13970"/>
                  </a:lnTo>
                  <a:lnTo>
                    <a:pt x="741426" y="9017"/>
                  </a:lnTo>
                  <a:lnTo>
                    <a:pt x="697611" y="0"/>
                  </a:lnTo>
                  <a:lnTo>
                    <a:pt x="654177" y="4318"/>
                  </a:lnTo>
                  <a:lnTo>
                    <a:pt x="616077" y="20828"/>
                  </a:lnTo>
                  <a:lnTo>
                    <a:pt x="588137" y="48006"/>
                  </a:lnTo>
                  <a:lnTo>
                    <a:pt x="988314" y="48006"/>
                  </a:lnTo>
                  <a:close/>
                </a:path>
                <a:path w="1132204" h="632460" extrusionOk="0">
                  <a:moveTo>
                    <a:pt x="1131951" y="302920"/>
                  </a:moveTo>
                  <a:lnTo>
                    <a:pt x="1122299" y="261874"/>
                  </a:lnTo>
                  <a:lnTo>
                    <a:pt x="1095375" y="223901"/>
                  </a:lnTo>
                  <a:lnTo>
                    <a:pt x="1097915" y="219456"/>
                  </a:lnTo>
                  <a:lnTo>
                    <a:pt x="1099947" y="214757"/>
                  </a:lnTo>
                  <a:lnTo>
                    <a:pt x="1101598" y="209931"/>
                  </a:lnTo>
                  <a:lnTo>
                    <a:pt x="1105408" y="167767"/>
                  </a:lnTo>
                  <a:lnTo>
                    <a:pt x="1088136" y="129159"/>
                  </a:lnTo>
                  <a:lnTo>
                    <a:pt x="1053211" y="98298"/>
                  </a:lnTo>
                  <a:lnTo>
                    <a:pt x="1003681" y="79375"/>
                  </a:lnTo>
                  <a:lnTo>
                    <a:pt x="1001649" y="73914"/>
                  </a:lnTo>
                  <a:lnTo>
                    <a:pt x="366776" y="73914"/>
                  </a:lnTo>
                  <a:lnTo>
                    <a:pt x="340233" y="64262"/>
                  </a:lnTo>
                  <a:lnTo>
                    <a:pt x="312039" y="58039"/>
                  </a:lnTo>
                  <a:lnTo>
                    <a:pt x="199390" y="69215"/>
                  </a:lnTo>
                  <a:lnTo>
                    <a:pt x="154686" y="93091"/>
                  </a:lnTo>
                  <a:lnTo>
                    <a:pt x="121920" y="125857"/>
                  </a:lnTo>
                  <a:lnTo>
                    <a:pt x="103505" y="164973"/>
                  </a:lnTo>
                  <a:lnTo>
                    <a:pt x="102235" y="208026"/>
                  </a:lnTo>
                  <a:lnTo>
                    <a:pt x="101219" y="209931"/>
                  </a:lnTo>
                  <a:lnTo>
                    <a:pt x="51308" y="223266"/>
                  </a:lnTo>
                  <a:lnTo>
                    <a:pt x="14732" y="252476"/>
                  </a:lnTo>
                  <a:lnTo>
                    <a:pt x="0" y="285140"/>
                  </a:lnTo>
                  <a:lnTo>
                    <a:pt x="2794" y="318427"/>
                  </a:lnTo>
                  <a:lnTo>
                    <a:pt x="21717" y="348475"/>
                  </a:lnTo>
                  <a:lnTo>
                    <a:pt x="55372" y="371487"/>
                  </a:lnTo>
                  <a:lnTo>
                    <a:pt x="40386" y="386588"/>
                  </a:lnTo>
                  <a:lnTo>
                    <a:pt x="30226" y="403593"/>
                  </a:lnTo>
                  <a:lnTo>
                    <a:pt x="25019" y="421843"/>
                  </a:lnTo>
                  <a:lnTo>
                    <a:pt x="25273" y="440715"/>
                  </a:lnTo>
                  <a:lnTo>
                    <a:pt x="39370" y="473392"/>
                  </a:lnTo>
                  <a:lnTo>
                    <a:pt x="67945" y="498551"/>
                  </a:lnTo>
                  <a:lnTo>
                    <a:pt x="106807" y="513765"/>
                  </a:lnTo>
                  <a:lnTo>
                    <a:pt x="152019" y="516597"/>
                  </a:lnTo>
                  <a:lnTo>
                    <a:pt x="154178" y="519379"/>
                  </a:lnTo>
                  <a:lnTo>
                    <a:pt x="195961" y="557098"/>
                  </a:lnTo>
                  <a:lnTo>
                    <a:pt x="249174" y="582091"/>
                  </a:lnTo>
                  <a:lnTo>
                    <a:pt x="309118" y="593496"/>
                  </a:lnTo>
                  <a:lnTo>
                    <a:pt x="371475" y="590448"/>
                  </a:lnTo>
                  <a:lnTo>
                    <a:pt x="431546" y="572084"/>
                  </a:lnTo>
                  <a:lnTo>
                    <a:pt x="450596" y="590194"/>
                  </a:lnTo>
                  <a:lnTo>
                    <a:pt x="473329" y="605459"/>
                  </a:lnTo>
                  <a:lnTo>
                    <a:pt x="499110" y="617550"/>
                  </a:lnTo>
                  <a:lnTo>
                    <a:pt x="527304" y="626173"/>
                  </a:lnTo>
                  <a:lnTo>
                    <a:pt x="583438" y="631939"/>
                  </a:lnTo>
                  <a:lnTo>
                    <a:pt x="637159" y="624344"/>
                  </a:lnTo>
                  <a:lnTo>
                    <a:pt x="684911" y="604875"/>
                  </a:lnTo>
                  <a:lnTo>
                    <a:pt x="723011" y="575017"/>
                  </a:lnTo>
                  <a:lnTo>
                    <a:pt x="724916" y="572084"/>
                  </a:lnTo>
                  <a:lnTo>
                    <a:pt x="747903" y="536244"/>
                  </a:lnTo>
                  <a:lnTo>
                    <a:pt x="766318" y="543687"/>
                  </a:lnTo>
                  <a:lnTo>
                    <a:pt x="785876" y="549122"/>
                  </a:lnTo>
                  <a:lnTo>
                    <a:pt x="806069" y="552475"/>
                  </a:lnTo>
                  <a:lnTo>
                    <a:pt x="826897" y="553694"/>
                  </a:lnTo>
                  <a:lnTo>
                    <a:pt x="885952" y="545007"/>
                  </a:lnTo>
                  <a:lnTo>
                    <a:pt x="903351" y="536244"/>
                  </a:lnTo>
                  <a:lnTo>
                    <a:pt x="934466" y="520649"/>
                  </a:lnTo>
                  <a:lnTo>
                    <a:pt x="967232" y="484263"/>
                  </a:lnTo>
                  <a:lnTo>
                    <a:pt x="979551" y="439559"/>
                  </a:lnTo>
                  <a:lnTo>
                    <a:pt x="1001903" y="436003"/>
                  </a:lnTo>
                  <a:lnTo>
                    <a:pt x="1062609" y="413016"/>
                  </a:lnTo>
                  <a:lnTo>
                    <a:pt x="1101598" y="381596"/>
                  </a:lnTo>
                  <a:lnTo>
                    <a:pt x="1124839" y="343865"/>
                  </a:lnTo>
                  <a:lnTo>
                    <a:pt x="1131951" y="30292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92" name="Google Shape;115;p5"/>
            <p:cNvSpPr/>
            <p:nvPr/>
          </p:nvSpPr>
          <p:spPr>
            <a:xfrm>
              <a:off x="7213853" y="5321045"/>
              <a:ext cx="1132205" cy="632460"/>
            </a:xfrm>
            <a:custGeom>
              <a:avLst/>
              <a:gdLst/>
              <a:ahLst/>
              <a:cxnLst/>
              <a:rect l="l" t="t" r="r" b="b"/>
              <a:pathLst>
                <a:path w="1132204" h="632460" extrusionOk="0">
                  <a:moveTo>
                    <a:pt x="102235" y="208025"/>
                  </a:moveTo>
                  <a:lnTo>
                    <a:pt x="103504" y="164972"/>
                  </a:lnTo>
                  <a:lnTo>
                    <a:pt x="121920" y="125856"/>
                  </a:lnTo>
                  <a:lnTo>
                    <a:pt x="154686" y="93090"/>
                  </a:lnTo>
                  <a:lnTo>
                    <a:pt x="199390" y="69214"/>
                  </a:lnTo>
                  <a:lnTo>
                    <a:pt x="253492" y="56768"/>
                  </a:lnTo>
                  <a:lnTo>
                    <a:pt x="282955" y="55625"/>
                  </a:lnTo>
                  <a:lnTo>
                    <a:pt x="312039" y="58038"/>
                  </a:lnTo>
                  <a:lnTo>
                    <a:pt x="340232" y="64261"/>
                  </a:lnTo>
                  <a:lnTo>
                    <a:pt x="366775" y="73913"/>
                  </a:lnTo>
                  <a:lnTo>
                    <a:pt x="401954" y="41274"/>
                  </a:lnTo>
                  <a:lnTo>
                    <a:pt x="449199" y="22097"/>
                  </a:lnTo>
                  <a:lnTo>
                    <a:pt x="502412" y="17906"/>
                  </a:lnTo>
                  <a:lnTo>
                    <a:pt x="555625" y="29971"/>
                  </a:lnTo>
                  <a:lnTo>
                    <a:pt x="564388" y="33781"/>
                  </a:lnTo>
                  <a:lnTo>
                    <a:pt x="572770" y="38099"/>
                  </a:lnTo>
                  <a:lnTo>
                    <a:pt x="580644" y="42798"/>
                  </a:lnTo>
                  <a:lnTo>
                    <a:pt x="588137" y="48005"/>
                  </a:lnTo>
                  <a:lnTo>
                    <a:pt x="616076" y="20827"/>
                  </a:lnTo>
                  <a:lnTo>
                    <a:pt x="654176" y="4317"/>
                  </a:lnTo>
                  <a:lnTo>
                    <a:pt x="697611" y="0"/>
                  </a:lnTo>
                  <a:lnTo>
                    <a:pt x="741426" y="9016"/>
                  </a:lnTo>
                  <a:lnTo>
                    <a:pt x="752855" y="13969"/>
                  </a:lnTo>
                  <a:lnTo>
                    <a:pt x="763270" y="19811"/>
                  </a:lnTo>
                  <a:lnTo>
                    <a:pt x="772922" y="26542"/>
                  </a:lnTo>
                  <a:lnTo>
                    <a:pt x="781430" y="34162"/>
                  </a:lnTo>
                  <a:lnTo>
                    <a:pt x="821054" y="10413"/>
                  </a:lnTo>
                  <a:lnTo>
                    <a:pt x="867918" y="380"/>
                  </a:lnTo>
                  <a:lnTo>
                    <a:pt x="916431" y="4317"/>
                  </a:lnTo>
                  <a:lnTo>
                    <a:pt x="960627" y="22859"/>
                  </a:lnTo>
                  <a:lnTo>
                    <a:pt x="976122" y="34670"/>
                  </a:lnTo>
                  <a:lnTo>
                    <a:pt x="988568" y="48259"/>
                  </a:lnTo>
                  <a:lnTo>
                    <a:pt x="997839" y="63245"/>
                  </a:lnTo>
                  <a:lnTo>
                    <a:pt x="1003680" y="79374"/>
                  </a:lnTo>
                  <a:lnTo>
                    <a:pt x="1053211" y="98297"/>
                  </a:lnTo>
                  <a:lnTo>
                    <a:pt x="1088136" y="129158"/>
                  </a:lnTo>
                  <a:lnTo>
                    <a:pt x="1105407" y="167766"/>
                  </a:lnTo>
                  <a:lnTo>
                    <a:pt x="1101598" y="209930"/>
                  </a:lnTo>
                  <a:lnTo>
                    <a:pt x="1099947" y="214756"/>
                  </a:lnTo>
                  <a:lnTo>
                    <a:pt x="1097915" y="219455"/>
                  </a:lnTo>
                  <a:lnTo>
                    <a:pt x="1095375" y="223900"/>
                  </a:lnTo>
                  <a:lnTo>
                    <a:pt x="1122299" y="261873"/>
                  </a:lnTo>
                  <a:lnTo>
                    <a:pt x="1131951" y="302920"/>
                  </a:lnTo>
                  <a:lnTo>
                    <a:pt x="1124839" y="343865"/>
                  </a:lnTo>
                  <a:lnTo>
                    <a:pt x="1101598" y="381596"/>
                  </a:lnTo>
                  <a:lnTo>
                    <a:pt x="1062609" y="413016"/>
                  </a:lnTo>
                  <a:lnTo>
                    <a:pt x="1001902" y="436003"/>
                  </a:lnTo>
                  <a:lnTo>
                    <a:pt x="979551" y="439559"/>
                  </a:lnTo>
                  <a:lnTo>
                    <a:pt x="967231" y="484263"/>
                  </a:lnTo>
                  <a:lnTo>
                    <a:pt x="934466" y="520649"/>
                  </a:lnTo>
                  <a:lnTo>
                    <a:pt x="885951" y="545007"/>
                  </a:lnTo>
                  <a:lnTo>
                    <a:pt x="826897" y="553694"/>
                  </a:lnTo>
                  <a:lnTo>
                    <a:pt x="806069" y="552475"/>
                  </a:lnTo>
                  <a:lnTo>
                    <a:pt x="785876" y="549122"/>
                  </a:lnTo>
                  <a:lnTo>
                    <a:pt x="766318" y="543686"/>
                  </a:lnTo>
                  <a:lnTo>
                    <a:pt x="747902" y="536244"/>
                  </a:lnTo>
                  <a:lnTo>
                    <a:pt x="723011" y="575017"/>
                  </a:lnTo>
                  <a:lnTo>
                    <a:pt x="684911" y="604875"/>
                  </a:lnTo>
                  <a:lnTo>
                    <a:pt x="637159" y="624344"/>
                  </a:lnTo>
                  <a:lnTo>
                    <a:pt x="583438" y="631939"/>
                  </a:lnTo>
                  <a:lnTo>
                    <a:pt x="527303" y="626173"/>
                  </a:lnTo>
                  <a:lnTo>
                    <a:pt x="499110" y="617550"/>
                  </a:lnTo>
                  <a:lnTo>
                    <a:pt x="473328" y="605459"/>
                  </a:lnTo>
                  <a:lnTo>
                    <a:pt x="450596" y="590194"/>
                  </a:lnTo>
                  <a:lnTo>
                    <a:pt x="431546" y="572084"/>
                  </a:lnTo>
                  <a:lnTo>
                    <a:pt x="371475" y="590448"/>
                  </a:lnTo>
                  <a:lnTo>
                    <a:pt x="309118" y="593496"/>
                  </a:lnTo>
                  <a:lnTo>
                    <a:pt x="249174" y="582091"/>
                  </a:lnTo>
                  <a:lnTo>
                    <a:pt x="195961" y="557098"/>
                  </a:lnTo>
                  <a:lnTo>
                    <a:pt x="154177" y="519379"/>
                  </a:lnTo>
                  <a:lnTo>
                    <a:pt x="152019" y="516597"/>
                  </a:lnTo>
                  <a:lnTo>
                    <a:pt x="106806" y="513765"/>
                  </a:lnTo>
                  <a:lnTo>
                    <a:pt x="67945" y="498551"/>
                  </a:lnTo>
                  <a:lnTo>
                    <a:pt x="39370" y="473392"/>
                  </a:lnTo>
                  <a:lnTo>
                    <a:pt x="25273" y="440715"/>
                  </a:lnTo>
                  <a:lnTo>
                    <a:pt x="25019" y="421843"/>
                  </a:lnTo>
                  <a:lnTo>
                    <a:pt x="30225" y="403593"/>
                  </a:lnTo>
                  <a:lnTo>
                    <a:pt x="40386" y="386587"/>
                  </a:lnTo>
                  <a:lnTo>
                    <a:pt x="55372" y="371487"/>
                  </a:lnTo>
                  <a:lnTo>
                    <a:pt x="21717" y="348475"/>
                  </a:lnTo>
                  <a:lnTo>
                    <a:pt x="2794" y="318427"/>
                  </a:lnTo>
                  <a:lnTo>
                    <a:pt x="0" y="285140"/>
                  </a:lnTo>
                  <a:lnTo>
                    <a:pt x="14731" y="252475"/>
                  </a:lnTo>
                  <a:lnTo>
                    <a:pt x="30861" y="236092"/>
                  </a:lnTo>
                  <a:lnTo>
                    <a:pt x="51307" y="223265"/>
                  </a:lnTo>
                  <a:lnTo>
                    <a:pt x="75056" y="214375"/>
                  </a:lnTo>
                  <a:lnTo>
                    <a:pt x="101219" y="209930"/>
                  </a:lnTo>
                  <a:lnTo>
                    <a:pt x="102235" y="208025"/>
                  </a:lnTo>
                  <a:close/>
                </a:path>
                <a:path w="1132204" h="632460" extrusionOk="0">
                  <a:moveTo>
                    <a:pt x="122809" y="380593"/>
                  </a:moveTo>
                  <a:lnTo>
                    <a:pt x="105410" y="380606"/>
                  </a:lnTo>
                  <a:lnTo>
                    <a:pt x="88392" y="378612"/>
                  </a:lnTo>
                  <a:lnTo>
                    <a:pt x="72009" y="374662"/>
                  </a:lnTo>
                  <a:lnTo>
                    <a:pt x="56388" y="368807"/>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93" name="Google Shape;116;p5"/>
            <p:cNvSpPr/>
            <p:nvPr/>
          </p:nvSpPr>
          <p:spPr>
            <a:xfrm>
              <a:off x="7366253" y="5830061"/>
              <a:ext cx="29845" cy="5080"/>
            </a:xfrm>
            <a:custGeom>
              <a:avLst/>
              <a:gdLst/>
              <a:ahLst/>
              <a:cxnLst/>
              <a:rect l="l" t="t" r="r" b="b"/>
              <a:pathLst>
                <a:path w="29845" h="5079" extrusionOk="0">
                  <a:moveTo>
                    <a:pt x="29718" y="0"/>
                  </a:moveTo>
                  <a:lnTo>
                    <a:pt x="20320" y="2260"/>
                  </a:lnTo>
                  <a:lnTo>
                    <a:pt x="10287" y="3759"/>
                  </a:lnTo>
                  <a:lnTo>
                    <a:pt x="0" y="447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94" name="Google Shape;117;p5"/>
            <p:cNvSpPr/>
            <p:nvPr/>
          </p:nvSpPr>
          <p:spPr>
            <a:xfrm>
              <a:off x="7628381" y="5353049"/>
              <a:ext cx="679450" cy="537845"/>
            </a:xfrm>
            <a:custGeom>
              <a:avLst/>
              <a:gdLst/>
              <a:ahLst/>
              <a:cxnLst/>
              <a:rect l="l" t="t" r="r" b="b"/>
              <a:pathLst>
                <a:path w="679450" h="537845" extrusionOk="0">
                  <a:moveTo>
                    <a:pt x="16383" y="537387"/>
                  </a:moveTo>
                  <a:lnTo>
                    <a:pt x="11684" y="531329"/>
                  </a:lnTo>
                  <a:lnTo>
                    <a:pt x="7366" y="525081"/>
                  </a:lnTo>
                  <a:lnTo>
                    <a:pt x="3428" y="518655"/>
                  </a:lnTo>
                  <a:lnTo>
                    <a:pt x="0" y="512063"/>
                  </a:lnTo>
                </a:path>
                <a:path w="679450" h="537845" extrusionOk="0">
                  <a:moveTo>
                    <a:pt x="340741" y="473963"/>
                  </a:moveTo>
                  <a:lnTo>
                    <a:pt x="339725" y="480910"/>
                  </a:lnTo>
                  <a:lnTo>
                    <a:pt x="338200" y="487819"/>
                  </a:lnTo>
                  <a:lnTo>
                    <a:pt x="336169" y="494639"/>
                  </a:lnTo>
                  <a:lnTo>
                    <a:pt x="333756" y="501383"/>
                  </a:lnTo>
                </a:path>
                <a:path w="679450" h="537845" extrusionOk="0">
                  <a:moveTo>
                    <a:pt x="478536" y="301752"/>
                  </a:moveTo>
                  <a:lnTo>
                    <a:pt x="513969" y="320078"/>
                  </a:lnTo>
                  <a:lnTo>
                    <a:pt x="540893" y="344741"/>
                  </a:lnTo>
                  <a:lnTo>
                    <a:pt x="557784" y="374091"/>
                  </a:lnTo>
                  <a:lnTo>
                    <a:pt x="563499" y="406501"/>
                  </a:lnTo>
                </a:path>
                <a:path w="679450" h="537845" extrusionOk="0">
                  <a:moveTo>
                    <a:pt x="679323" y="190500"/>
                  </a:moveTo>
                  <a:lnTo>
                    <a:pt x="672211" y="201549"/>
                  </a:lnTo>
                  <a:lnTo>
                    <a:pt x="663448" y="211962"/>
                  </a:lnTo>
                  <a:lnTo>
                    <a:pt x="653288" y="221361"/>
                  </a:lnTo>
                  <a:lnTo>
                    <a:pt x="641603" y="229869"/>
                  </a:lnTo>
                </a:path>
                <a:path w="679450" h="537845" extrusionOk="0">
                  <a:moveTo>
                    <a:pt x="588264" y="45719"/>
                  </a:moveTo>
                  <a:lnTo>
                    <a:pt x="589915" y="51815"/>
                  </a:lnTo>
                  <a:lnTo>
                    <a:pt x="590676" y="57912"/>
                  </a:lnTo>
                  <a:lnTo>
                    <a:pt x="590550" y="64008"/>
                  </a:lnTo>
                </a:path>
                <a:path w="679450" h="537845" extrusionOk="0">
                  <a:moveTo>
                    <a:pt x="347472" y="24384"/>
                  </a:moveTo>
                  <a:lnTo>
                    <a:pt x="351282" y="17906"/>
                  </a:lnTo>
                  <a:lnTo>
                    <a:pt x="355600" y="11556"/>
                  </a:lnTo>
                  <a:lnTo>
                    <a:pt x="360425" y="5587"/>
                  </a:lnTo>
                  <a:lnTo>
                    <a:pt x="365760" y="0"/>
                  </a:lnTo>
                </a:path>
                <a:path w="679450" h="537845" extrusionOk="0">
                  <a:moveTo>
                    <a:pt x="164592" y="35052"/>
                  </a:moveTo>
                  <a:lnTo>
                    <a:pt x="166750" y="28066"/>
                  </a:lnTo>
                  <a:lnTo>
                    <a:pt x="170052" y="21462"/>
                  </a:lnTo>
                  <a:lnTo>
                    <a:pt x="174498" y="1524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95" name="Google Shape;118;p5"/>
            <p:cNvSpPr/>
            <p:nvPr/>
          </p:nvSpPr>
          <p:spPr>
            <a:xfrm>
              <a:off x="7581137" y="5394197"/>
              <a:ext cx="33020" cy="20320"/>
            </a:xfrm>
            <a:custGeom>
              <a:avLst/>
              <a:gdLst/>
              <a:ahLst/>
              <a:cxnLst/>
              <a:rect l="l" t="t" r="r" b="b"/>
              <a:pathLst>
                <a:path w="33020" h="20320" extrusionOk="0">
                  <a:moveTo>
                    <a:pt x="0" y="0"/>
                  </a:moveTo>
                  <a:lnTo>
                    <a:pt x="8762" y="4317"/>
                  </a:lnTo>
                  <a:lnTo>
                    <a:pt x="17271" y="9143"/>
                  </a:lnTo>
                  <a:lnTo>
                    <a:pt x="25272" y="14223"/>
                  </a:lnTo>
                  <a:lnTo>
                    <a:pt x="32892" y="19811"/>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96" name="Google Shape;119;p5"/>
            <p:cNvSpPr/>
            <p:nvPr/>
          </p:nvSpPr>
          <p:spPr>
            <a:xfrm>
              <a:off x="7315961" y="5529833"/>
              <a:ext cx="6350" cy="19685"/>
            </a:xfrm>
            <a:custGeom>
              <a:avLst/>
              <a:gdLst/>
              <a:ahLst/>
              <a:cxnLst/>
              <a:rect l="l" t="t" r="r" b="b"/>
              <a:pathLst>
                <a:path w="6350" h="19685" extrusionOk="0">
                  <a:moveTo>
                    <a:pt x="6096" y="19557"/>
                  </a:moveTo>
                  <a:lnTo>
                    <a:pt x="3302" y="13207"/>
                  </a:lnTo>
                  <a:lnTo>
                    <a:pt x="1270" y="6603"/>
                  </a:lnTo>
                  <a:lnTo>
                    <a:pt x="0" y="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sp>
        <p:nvSpPr>
          <p:cNvPr id="97" name="Google Shape;101;p5"/>
          <p:cNvSpPr/>
          <p:nvPr/>
        </p:nvSpPr>
        <p:spPr>
          <a:xfrm>
            <a:off x="4983314" y="2990360"/>
            <a:ext cx="431291" cy="377951"/>
          </a:xfrm>
          <a:prstGeom prst="rect">
            <a:avLst/>
          </a:prstGeom>
          <a:blipFill rotWithShape="1">
            <a:blip r:embed="rId11"/>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83" name="Google Shape;106;p5"/>
          <p:cNvSpPr txBox="1"/>
          <p:nvPr/>
        </p:nvSpPr>
        <p:spPr>
          <a:xfrm>
            <a:off x="7156759" y="3052816"/>
            <a:ext cx="940457"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Times New Roman" panose="02020603050405020304" pitchFamily="18" charset="0"/>
                <a:ea typeface="Verdana" panose="020B0604030504040204"/>
                <a:cs typeface="Times New Roman" panose="02020603050405020304" pitchFamily="18" charset="0"/>
                <a:sym typeface="Verdana" panose="020B0604030504040204"/>
              </a:rPr>
              <a:t>Internet</a:t>
            </a:r>
            <a:endParaRPr sz="1800" dirty="0">
              <a:solidFill>
                <a:schemeClr val="dk1"/>
              </a:solidFill>
              <a:latin typeface="Times New Roman" panose="02020603050405020304" pitchFamily="18" charset="0"/>
              <a:ea typeface="Verdana" panose="020B0604030504040204"/>
              <a:cs typeface="Times New Roman" panose="02020603050405020304" pitchFamily="18" charset="0"/>
              <a:sym typeface="Verdana" panose="020B0604030504040204"/>
            </a:endParaRPr>
          </a:p>
        </p:txBody>
      </p:sp>
      <p:pic>
        <p:nvPicPr>
          <p:cNvPr id="2" name="Google Shape;63;p1" descr="Picture 3">
            <a:extLst>
              <a:ext uri="{FF2B5EF4-FFF2-40B4-BE49-F238E27FC236}">
                <a16:creationId xmlns:a16="http://schemas.microsoft.com/office/drawing/2014/main" id="{8FC7F7E7-9F40-B7F8-0D75-F445A3E1E911}"/>
              </a:ext>
            </a:extLst>
          </p:cNvPr>
          <p:cNvPicPr preferRelativeResize="0"/>
          <p:nvPr/>
        </p:nvPicPr>
        <p:blipFill rotWithShape="1">
          <a:blip r:embed="rId12"/>
          <a:srcRect/>
          <a:stretch>
            <a:fillRect/>
          </a:stretch>
        </p:blipFill>
        <p:spPr>
          <a:xfrm flipH="1">
            <a:off x="9882177" y="49723"/>
            <a:ext cx="2846625" cy="15254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2" name="Google Shape;59;p1"/>
          <p:cNvGrpSpPr/>
          <p:nvPr/>
        </p:nvGrpSpPr>
        <p:grpSpPr>
          <a:xfrm>
            <a:off x="0" y="0"/>
            <a:ext cx="12504712" cy="8829600"/>
            <a:chOff x="0" y="0"/>
            <a:chExt cx="12192000" cy="6858000"/>
          </a:xfrm>
        </p:grpSpPr>
        <p:sp>
          <p:nvSpPr>
            <p:cNvPr id="60" name="Google Shape;60;p1"/>
            <p:cNvSpPr/>
            <p:nvPr/>
          </p:nvSpPr>
          <p:spPr>
            <a:xfrm>
              <a:off x="0" y="0"/>
              <a:ext cx="12192000" cy="6858000"/>
            </a:xfrm>
            <a:prstGeom prst="rect">
              <a:avLst/>
            </a:prstGeom>
            <a:blipFill rotWithShape="1">
              <a:blip r:embed="rId3" cstate="print"/>
              <a:tile tx="0" ty="0" sx="100000" sy="100000" flip="none" algn="tl"/>
            </a:blip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61" name="Google Shape;61;p1" descr="image2.png"/>
            <p:cNvPicPr preferRelativeResize="0"/>
            <p:nvPr/>
          </p:nvPicPr>
          <p:blipFill rotWithShape="1">
            <a:blip r:embed="rId4" cstate="print"/>
            <a:srcRect/>
            <a:stretch>
              <a:fillRect/>
            </a:stretch>
          </p:blipFill>
          <p:spPr>
            <a:xfrm>
              <a:off x="0" y="0"/>
              <a:ext cx="12192000" cy="6858000"/>
            </a:xfrm>
            <a:prstGeom prst="rect">
              <a:avLst/>
            </a:prstGeom>
            <a:noFill/>
            <a:ln>
              <a:noFill/>
            </a:ln>
          </p:spPr>
        </p:pic>
      </p:grpSp>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18</a:t>
            </a:fld>
            <a:endParaRPr lang="fr-FR"/>
          </a:p>
        </p:txBody>
      </p:sp>
      <p:sp>
        <p:nvSpPr>
          <p:cNvPr id="5" name="Espace réservé du texte 2"/>
          <p:cNvSpPr>
            <a:spLocks noGrp="1"/>
          </p:cNvSpPr>
          <p:nvPr>
            <p:ph type="body" idx="1"/>
          </p:nvPr>
        </p:nvSpPr>
        <p:spPr>
          <a:xfrm>
            <a:off x="1842856" y="2217587"/>
            <a:ext cx="8202636" cy="2422825"/>
          </a:xfrm>
        </p:spPr>
        <p:txBody>
          <a:bodyPr>
            <a:normAutofit/>
          </a:bodyPr>
          <a:lstStyle/>
          <a:p>
            <a:pPr marL="114300" indent="0">
              <a:buNone/>
            </a:pPr>
            <a:r>
              <a:rPr kumimoji="0" lang="fr-FR" sz="6000" b="1" i="0" u="none" strike="noStrike" kern="1200" cap="none" spc="10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sym typeface="Times New Roman" panose="02020603050405020304"/>
              </a:rPr>
              <a:t>Les paradigmes logiciels</a:t>
            </a:r>
            <a:endParaRPr lang="fr-FR" sz="2800" dirty="0">
              <a:solidFill>
                <a:srgbClr val="C00000"/>
              </a:solidFill>
              <a:latin typeface="Times New Roman" panose="02020603050405020304" pitchFamily="18" charset="0"/>
              <a:cs typeface="Times New Roman" panose="02020603050405020304" pitchFamily="18" charset="0"/>
            </a:endParaRPr>
          </a:p>
        </p:txBody>
      </p:sp>
      <p:pic>
        <p:nvPicPr>
          <p:cNvPr id="3" name="Google Shape;63;p1" descr="Picture 3">
            <a:extLst>
              <a:ext uri="{FF2B5EF4-FFF2-40B4-BE49-F238E27FC236}">
                <a16:creationId xmlns:a16="http://schemas.microsoft.com/office/drawing/2014/main" id="{52FEFE8D-549C-FAF1-759C-F11A4A8E0377}"/>
              </a:ext>
            </a:extLst>
          </p:cNvPr>
          <p:cNvPicPr preferRelativeResize="0"/>
          <p:nvPr/>
        </p:nvPicPr>
        <p:blipFill rotWithShape="1">
          <a:blip r:embed="rId5"/>
          <a:srcRect/>
          <a:stretch>
            <a:fillRect/>
          </a:stretch>
        </p:blipFill>
        <p:spPr>
          <a:xfrm flipH="1">
            <a:off x="9614545" y="61519"/>
            <a:ext cx="2846625" cy="15254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g25b1bb62912_0_18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186" name="Google Shape;186;g25b1bb62912_0_180"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187" name="Google Shape;187;g25b1bb62912_0_18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19</a:t>
            </a:fld>
            <a:endParaRPr lang="fr-FR"/>
          </a:p>
        </p:txBody>
      </p:sp>
      <p:pic>
        <p:nvPicPr>
          <p:cNvPr id="190" name="Google Shape;190;g25b1bb62912_0_180"/>
          <p:cNvPicPr preferRelativeResize="0"/>
          <p:nvPr/>
        </p:nvPicPr>
        <p:blipFill rotWithShape="1">
          <a:blip r:embed="rId5"/>
          <a:srcRect t="2731" b="2741"/>
          <a:stretch>
            <a:fillRect/>
          </a:stretch>
        </p:blipFill>
        <p:spPr>
          <a:xfrm>
            <a:off x="5747674" y="2873625"/>
            <a:ext cx="5434300" cy="2957650"/>
          </a:xfrm>
          <a:prstGeom prst="rect">
            <a:avLst/>
          </a:prstGeom>
          <a:noFill/>
          <a:ln>
            <a:noFill/>
          </a:ln>
        </p:spPr>
      </p:pic>
      <p:sp>
        <p:nvSpPr>
          <p:cNvPr id="191" name="Google Shape;191;g25b1bb62912_0_180"/>
          <p:cNvSpPr txBox="1"/>
          <p:nvPr/>
        </p:nvSpPr>
        <p:spPr>
          <a:xfrm>
            <a:off x="921425" y="1382125"/>
            <a:ext cx="80163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dirty="0">
                <a:latin typeface="Times New Roman" panose="02020603050405020304"/>
                <a:ea typeface="Times New Roman" panose="02020603050405020304"/>
                <a:cs typeface="Times New Roman" panose="02020603050405020304"/>
                <a:sym typeface="Times New Roman" panose="02020603050405020304"/>
              </a:rPr>
              <a:t>Le terme de paradigme est employé pour exprimer la façon dont un système a été conçu et pensé dans ses grandes lignes.</a:t>
            </a:r>
            <a:endParaRPr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92" name="Google Shape;192;g25b1bb62912_0_180"/>
          <p:cNvSpPr txBox="1"/>
          <p:nvPr/>
        </p:nvSpPr>
        <p:spPr>
          <a:xfrm>
            <a:off x="2198250" y="2579975"/>
            <a:ext cx="387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dirty="0">
                <a:latin typeface="Times New Roman" panose="02020603050405020304"/>
                <a:ea typeface="Times New Roman" panose="02020603050405020304"/>
                <a:cs typeface="Times New Roman" panose="02020603050405020304"/>
                <a:sym typeface="Times New Roman" panose="02020603050405020304"/>
              </a:rPr>
              <a:t>Objectif:</a:t>
            </a:r>
            <a:endParaRPr sz="20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fr-FR" sz="2000" dirty="0">
                <a:latin typeface="Times New Roman" panose="02020603050405020304"/>
                <a:ea typeface="Times New Roman" panose="02020603050405020304"/>
                <a:cs typeface="Times New Roman" panose="02020603050405020304"/>
                <a:sym typeface="Times New Roman" panose="02020603050405020304"/>
              </a:rPr>
              <a:t>Développer une application de facturation</a:t>
            </a:r>
            <a:endParaRPr sz="2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93" name="Google Shape;193;g25b1bb62912_0_180"/>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Paradigmes des architectures logicielles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94" name="Google Shape;194;g25b1bb62912_0_180"/>
          <p:cNvPicPr preferRelativeResize="0"/>
          <p:nvPr/>
        </p:nvPicPr>
        <p:blipFill>
          <a:blip r:embed="rId6"/>
          <a:stretch>
            <a:fillRect/>
          </a:stretch>
        </p:blipFill>
        <p:spPr>
          <a:xfrm>
            <a:off x="1032575" y="2550600"/>
            <a:ext cx="1047200" cy="1047200"/>
          </a:xfrm>
          <a:prstGeom prst="rect">
            <a:avLst/>
          </a:prstGeom>
          <a:noFill/>
          <a:ln>
            <a:noFill/>
          </a:ln>
        </p:spPr>
      </p:pic>
      <p:pic>
        <p:nvPicPr>
          <p:cNvPr id="2" name="Google Shape;63;p1" descr="Picture 3">
            <a:extLst>
              <a:ext uri="{FF2B5EF4-FFF2-40B4-BE49-F238E27FC236}">
                <a16:creationId xmlns:a16="http://schemas.microsoft.com/office/drawing/2014/main" id="{22292655-2131-08B5-9D89-73E74903A14E}"/>
              </a:ext>
            </a:extLst>
          </p:cNvPr>
          <p:cNvPicPr preferRelativeResize="0"/>
          <p:nvPr/>
        </p:nvPicPr>
        <p:blipFill rotWithShape="1">
          <a:blip r:embed="rId7"/>
          <a:srcRect/>
          <a:stretch>
            <a:fillRect/>
          </a:stretch>
        </p:blipFill>
        <p:spPr>
          <a:xfrm flipH="1">
            <a:off x="9798508" y="0"/>
            <a:ext cx="2846625" cy="15254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g25b1bb62912_0_194"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200" name="Google Shape;200;g25b1bb62912_0_194"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01" name="Google Shape;201;g25b1bb62912_0_19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20</a:t>
            </a:fld>
            <a:endParaRPr lang="fr-FR"/>
          </a:p>
        </p:txBody>
      </p:sp>
      <p:sp>
        <p:nvSpPr>
          <p:cNvPr id="204" name="Google Shape;204;g25b1bb62912_0_194"/>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Paradigmes des architectures logicielles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5" name="Google Shape;205;g25b1bb62912_0_194"/>
          <p:cNvSpPr txBox="1"/>
          <p:nvPr/>
        </p:nvSpPr>
        <p:spPr>
          <a:xfrm>
            <a:off x="1102179" y="1587498"/>
            <a:ext cx="7897800" cy="2554515"/>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Les révolutions informatiques coïncident généralement avec un changement de paradigme.</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Niveau d’abstraction grandissant avec l’évolution des paradigmes</a:t>
            </a:r>
          </a:p>
          <a:p>
            <a:pPr marL="457200" lvl="0" indent="-355600" algn="l" rtl="0">
              <a:spcBef>
                <a:spcPts val="0"/>
              </a:spcBef>
              <a:spcAft>
                <a:spcPts val="0"/>
              </a:spcAft>
              <a:buSzPts val="2000"/>
              <a:buFont typeface="Times New Roman" panose="02020603050405020304"/>
              <a:buChar char="❏"/>
            </a:pPr>
            <a:endParaRPr lang="fr-FR" sz="2000" dirty="0">
              <a:latin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cs typeface="Times New Roman" panose="02020603050405020304"/>
                <a:sym typeface="Times New Roman" panose="02020603050405020304"/>
              </a:rPr>
              <a:t>On distingue l’évolution des paradigmes logicielles comme suit:</a:t>
            </a:r>
          </a:p>
          <a:p>
            <a:pPr marL="457200" lvl="0" indent="-355600" algn="l" rtl="0">
              <a:spcBef>
                <a:spcPts val="0"/>
              </a:spcBef>
              <a:spcAft>
                <a:spcPts val="0"/>
              </a:spcAft>
              <a:buSzPts val="2000"/>
              <a:buFont typeface="Times New Roman" panose="02020603050405020304"/>
              <a:buChar char="❏"/>
            </a:pPr>
            <a:endParaRPr lang="fr-FR" sz="2000" dirty="0">
              <a:latin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endParaRPr lang="fr-FR" sz="2000" dirty="0">
              <a:latin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endParaRPr dirty="0"/>
          </a:p>
        </p:txBody>
      </p:sp>
      <p:graphicFrame>
        <p:nvGraphicFramePr>
          <p:cNvPr id="8" name="Diagramme 7"/>
          <p:cNvGraphicFramePr/>
          <p:nvPr/>
        </p:nvGraphicFramePr>
        <p:xfrm>
          <a:off x="1956547" y="2221878"/>
          <a:ext cx="9133274" cy="43208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 name="Google Shape;63;p1" descr="Picture 3">
            <a:extLst>
              <a:ext uri="{FF2B5EF4-FFF2-40B4-BE49-F238E27FC236}">
                <a16:creationId xmlns:a16="http://schemas.microsoft.com/office/drawing/2014/main" id="{0E3A25A7-A62B-9B92-B02D-E2DEA85D1420}"/>
              </a:ext>
            </a:extLst>
          </p:cNvPr>
          <p:cNvPicPr preferRelativeResize="0"/>
          <p:nvPr/>
        </p:nvPicPr>
        <p:blipFill rotWithShape="1">
          <a:blip r:embed="rId10"/>
          <a:srcRect/>
          <a:stretch>
            <a:fillRect/>
          </a:stretch>
        </p:blipFill>
        <p:spPr>
          <a:xfrm flipH="1">
            <a:off x="9741962" y="62049"/>
            <a:ext cx="2846625" cy="15254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g25b1bb62912_0_211"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212" name="Google Shape;212;g25b1bb62912_0_211"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13" name="Google Shape;213;g25b1bb62912_0_211"/>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21</a:t>
            </a:fld>
            <a:endParaRPr lang="fr-FR"/>
          </a:p>
        </p:txBody>
      </p:sp>
      <p:sp>
        <p:nvSpPr>
          <p:cNvPr id="216" name="Google Shape;216;g25b1bb62912_0_211"/>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Paradigmes des architectures logicielles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 name="Google Shape;217;g25b1bb62912_0_211"/>
          <p:cNvSpPr txBox="1"/>
          <p:nvPr/>
        </p:nvSpPr>
        <p:spPr>
          <a:xfrm>
            <a:off x="1124473" y="1174631"/>
            <a:ext cx="47913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 procédural</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8" name="Google Shape;218;g25b1bb62912_0_211"/>
          <p:cNvSpPr txBox="1"/>
          <p:nvPr/>
        </p:nvSpPr>
        <p:spPr>
          <a:xfrm>
            <a:off x="1022225" y="1803350"/>
            <a:ext cx="9087000" cy="14160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le code est organisé en procédures (ou fonctions) qui contiennent des séquences d'instructions. Ces procédures sont appelées successivement pour accomplir une tâche spécifique.</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Un Système informatique </a:t>
            </a:r>
            <a:r>
              <a:rPr lang="fr-FR" sz="2000" b="1" dirty="0">
                <a:latin typeface="Times New Roman" panose="02020603050405020304"/>
                <a:ea typeface="Times New Roman" panose="02020603050405020304"/>
                <a:cs typeface="Times New Roman" panose="02020603050405020304"/>
                <a:sym typeface="Times New Roman" panose="02020603050405020304"/>
              </a:rPr>
              <a:t>désordonné</a:t>
            </a:r>
            <a:endParaRPr sz="1200" b="1" dirty="0">
              <a:solidFill>
                <a:srgbClr val="374151"/>
              </a:solidFill>
              <a:highlight>
                <a:srgbClr val="F7F7F8"/>
              </a:highlight>
              <a:latin typeface="Roboto" panose="02000000000000000000"/>
              <a:ea typeface="Roboto" panose="02000000000000000000"/>
              <a:cs typeface="Roboto" panose="02000000000000000000"/>
              <a:sym typeface="Roboto" panose="02000000000000000000"/>
            </a:endParaRPr>
          </a:p>
        </p:txBody>
      </p:sp>
      <p:sp>
        <p:nvSpPr>
          <p:cNvPr id="219" name="Google Shape;219;g25b1bb62912_0_211"/>
          <p:cNvSpPr txBox="1"/>
          <p:nvPr/>
        </p:nvSpPr>
        <p:spPr>
          <a:xfrm>
            <a:off x="1105725" y="3429000"/>
            <a:ext cx="67395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dirty="0">
                <a:latin typeface="Times New Roman" panose="02020603050405020304"/>
                <a:ea typeface="Times New Roman" panose="02020603050405020304"/>
                <a:cs typeface="Times New Roman" panose="02020603050405020304"/>
                <a:sym typeface="Times New Roman" panose="02020603050405020304"/>
              </a:rPr>
              <a:t>Limites :</a:t>
            </a:r>
            <a:endParaRPr sz="2000" b="1"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Tend à générer </a:t>
            </a:r>
            <a:r>
              <a:rPr lang="fr-FR" sz="2000" dirty="0" err="1">
                <a:latin typeface="Times New Roman" panose="02020603050405020304"/>
                <a:ea typeface="Times New Roman" panose="02020603050405020304"/>
                <a:cs typeface="Times New Roman" panose="02020603050405020304"/>
                <a:sym typeface="Times New Roman" panose="02020603050405020304"/>
              </a:rPr>
              <a:t>ducode</a:t>
            </a:r>
            <a:r>
              <a:rPr lang="fr-FR" sz="2000" dirty="0">
                <a:latin typeface="Times New Roman" panose="02020603050405020304"/>
                <a:ea typeface="Times New Roman" panose="02020603050405020304"/>
                <a:cs typeface="Times New Roman" panose="02020603050405020304"/>
                <a:sym typeface="Times New Roman" panose="02020603050405020304"/>
              </a:rPr>
              <a:t> "Spaghetti" </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Maintenance complexe</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Modularité et abstraction absente</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Réutilisation ardue</a:t>
            </a:r>
            <a:endParaRPr dirty="0"/>
          </a:p>
        </p:txBody>
      </p:sp>
      <p:pic>
        <p:nvPicPr>
          <p:cNvPr id="220" name="Google Shape;220;g25b1bb62912_0_211"/>
          <p:cNvPicPr preferRelativeResize="0"/>
          <p:nvPr/>
        </p:nvPicPr>
        <p:blipFill>
          <a:blip r:embed="rId5"/>
          <a:stretch>
            <a:fillRect/>
          </a:stretch>
        </p:blipFill>
        <p:spPr>
          <a:xfrm>
            <a:off x="6262100" y="3152600"/>
            <a:ext cx="3197725" cy="2649200"/>
          </a:xfrm>
          <a:prstGeom prst="rect">
            <a:avLst/>
          </a:prstGeom>
          <a:noFill/>
          <a:ln>
            <a:noFill/>
          </a:ln>
        </p:spPr>
      </p:pic>
      <p:pic>
        <p:nvPicPr>
          <p:cNvPr id="2" name="Google Shape;63;p1" descr="Picture 3">
            <a:extLst>
              <a:ext uri="{FF2B5EF4-FFF2-40B4-BE49-F238E27FC236}">
                <a16:creationId xmlns:a16="http://schemas.microsoft.com/office/drawing/2014/main" id="{C89A3F6F-BB2C-F05A-3A92-843522501049}"/>
              </a:ext>
            </a:extLst>
          </p:cNvPr>
          <p:cNvPicPr preferRelativeResize="0"/>
          <p:nvPr/>
        </p:nvPicPr>
        <p:blipFill rotWithShape="1">
          <a:blip r:embed="rId6"/>
          <a:srcRect/>
          <a:stretch>
            <a:fillRect/>
          </a:stretch>
        </p:blipFill>
        <p:spPr>
          <a:xfrm flipH="1">
            <a:off x="9730246" y="75497"/>
            <a:ext cx="2846625" cy="15254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g25b1bb62912_0_225" descr="Picture 2"/>
          <p:cNvPicPr preferRelativeResize="0"/>
          <p:nvPr/>
        </p:nvPicPr>
        <p:blipFill rotWithShape="1">
          <a:blip r:embed="rId3"/>
          <a:srcRect/>
          <a:stretch>
            <a:fillRect/>
          </a:stretch>
        </p:blipFill>
        <p:spPr>
          <a:xfrm>
            <a:off x="-36552" y="-28242"/>
            <a:ext cx="12652622" cy="6886241"/>
          </a:xfrm>
          <a:prstGeom prst="rect">
            <a:avLst/>
          </a:prstGeom>
          <a:noFill/>
          <a:ln>
            <a:noFill/>
          </a:ln>
        </p:spPr>
      </p:pic>
      <p:pic>
        <p:nvPicPr>
          <p:cNvPr id="226" name="Google Shape;226;g25b1bb62912_0_225"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27" name="Google Shape;227;g25b1bb62912_0_22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22</a:t>
            </a:fld>
            <a:endParaRPr lang="fr-FR"/>
          </a:p>
        </p:txBody>
      </p:sp>
      <p:sp>
        <p:nvSpPr>
          <p:cNvPr id="230" name="Google Shape;230;g25b1bb62912_0_225"/>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Paradigmes des architectures logicielles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1" name="Google Shape;231;g25b1bb62912_0_225"/>
          <p:cNvSpPr txBox="1"/>
          <p:nvPr/>
        </p:nvSpPr>
        <p:spPr>
          <a:xfrm>
            <a:off x="1417134" y="1258592"/>
            <a:ext cx="47913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 objet</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2" name="Google Shape;232;g25b1bb62912_0_225"/>
          <p:cNvSpPr txBox="1"/>
          <p:nvPr/>
        </p:nvSpPr>
        <p:spPr>
          <a:xfrm>
            <a:off x="737150" y="1869175"/>
            <a:ext cx="8365500" cy="1723800"/>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L'idée est de concevoir les programmes non plus comme des lignes de codes qui s'exécutent séquentiellement, mais comme des objets qui dialoguent</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Ses principes incluent l'abstraction </a:t>
            </a:r>
            <a:r>
              <a:rPr lang="fr-FR" sz="2000" dirty="0" err="1">
                <a:latin typeface="Times New Roman" panose="02020603050405020304"/>
                <a:ea typeface="Times New Roman" panose="02020603050405020304"/>
                <a:cs typeface="Times New Roman" panose="02020603050405020304"/>
                <a:sym typeface="Times New Roman" panose="02020603050405020304"/>
              </a:rPr>
              <a:t>encapsulation,de</a:t>
            </a:r>
            <a:r>
              <a:rPr lang="fr-FR" sz="2000" dirty="0">
                <a:latin typeface="Times New Roman" panose="02020603050405020304"/>
                <a:ea typeface="Times New Roman" panose="02020603050405020304"/>
                <a:cs typeface="Times New Roman" panose="02020603050405020304"/>
                <a:sym typeface="Times New Roman" panose="02020603050405020304"/>
              </a:rPr>
              <a:t> données, polymorphisme et héritage.</a:t>
            </a:r>
            <a:endParaRPr dirty="0"/>
          </a:p>
        </p:txBody>
      </p:sp>
      <p:sp>
        <p:nvSpPr>
          <p:cNvPr id="233" name="Google Shape;233;g25b1bb62912_0_225"/>
          <p:cNvSpPr txBox="1"/>
          <p:nvPr/>
        </p:nvSpPr>
        <p:spPr>
          <a:xfrm>
            <a:off x="895100" y="3981850"/>
            <a:ext cx="6739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dirty="0">
                <a:latin typeface="Times New Roman" panose="02020603050405020304"/>
                <a:ea typeface="Times New Roman" panose="02020603050405020304"/>
                <a:cs typeface="Times New Roman" panose="02020603050405020304"/>
                <a:sym typeface="Times New Roman" panose="02020603050405020304"/>
              </a:rPr>
              <a:t>Limites :</a:t>
            </a:r>
            <a:endParaRPr sz="2000" b="1"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Réutilisation difficile </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Couplage fort </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Problème de maintenance </a:t>
            </a:r>
            <a:endParaRPr dirty="0">
              <a:solidFill>
                <a:schemeClr val="dk1"/>
              </a:solidFill>
            </a:endParaRPr>
          </a:p>
        </p:txBody>
      </p:sp>
      <p:pic>
        <p:nvPicPr>
          <p:cNvPr id="234" name="Google Shape;234;g25b1bb62912_0_225"/>
          <p:cNvPicPr preferRelativeResize="0"/>
          <p:nvPr/>
        </p:nvPicPr>
        <p:blipFill>
          <a:blip r:embed="rId5"/>
          <a:stretch>
            <a:fillRect/>
          </a:stretch>
        </p:blipFill>
        <p:spPr>
          <a:xfrm>
            <a:off x="5327500" y="3271050"/>
            <a:ext cx="3197725" cy="2649200"/>
          </a:xfrm>
          <a:prstGeom prst="rect">
            <a:avLst/>
          </a:prstGeom>
          <a:noFill/>
          <a:ln>
            <a:noFill/>
          </a:ln>
        </p:spPr>
      </p:pic>
      <p:cxnSp>
        <p:nvCxnSpPr>
          <p:cNvPr id="235" name="Google Shape;235;g25b1bb62912_0_225"/>
          <p:cNvCxnSpPr/>
          <p:nvPr/>
        </p:nvCxnSpPr>
        <p:spPr>
          <a:xfrm>
            <a:off x="8258300" y="4515250"/>
            <a:ext cx="1104300" cy="0"/>
          </a:xfrm>
          <a:prstGeom prst="straightConnector1">
            <a:avLst/>
          </a:prstGeom>
          <a:noFill/>
          <a:ln w="28575" cap="flat" cmpd="sng">
            <a:solidFill>
              <a:schemeClr val="dk1"/>
            </a:solidFill>
            <a:prstDash val="solid"/>
            <a:round/>
            <a:headEnd type="none" w="med" len="med"/>
            <a:tailEnd type="triangle" w="med" len="med"/>
          </a:ln>
        </p:spPr>
      </p:cxnSp>
      <p:sp>
        <p:nvSpPr>
          <p:cNvPr id="236" name="Google Shape;236;g25b1bb62912_0_225"/>
          <p:cNvSpPr/>
          <p:nvPr/>
        </p:nvSpPr>
        <p:spPr>
          <a:xfrm>
            <a:off x="10130750" y="3604300"/>
            <a:ext cx="1421700" cy="355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g25b1bb62912_0_225"/>
          <p:cNvSpPr/>
          <p:nvPr/>
        </p:nvSpPr>
        <p:spPr>
          <a:xfrm>
            <a:off x="11012000" y="4871400"/>
            <a:ext cx="1421700" cy="50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g25b1bb62912_0_225"/>
          <p:cNvSpPr/>
          <p:nvPr/>
        </p:nvSpPr>
        <p:spPr>
          <a:xfrm>
            <a:off x="9334725" y="4897750"/>
            <a:ext cx="1421700" cy="50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9" name="Google Shape;239;g25b1bb62912_0_225"/>
          <p:cNvCxnSpPr>
            <a:stCxn id="238" idx="0"/>
          </p:cNvCxnSpPr>
          <p:nvPr/>
        </p:nvCxnSpPr>
        <p:spPr>
          <a:xfrm rot="10800000">
            <a:off x="10039575" y="4542550"/>
            <a:ext cx="6000" cy="355200"/>
          </a:xfrm>
          <a:prstGeom prst="straightConnector1">
            <a:avLst/>
          </a:prstGeom>
          <a:noFill/>
          <a:ln w="38100" cap="flat" cmpd="sng">
            <a:solidFill>
              <a:schemeClr val="dk1"/>
            </a:solidFill>
            <a:prstDash val="solid"/>
            <a:round/>
            <a:headEnd type="none" w="med" len="med"/>
            <a:tailEnd type="none" w="med" len="med"/>
          </a:ln>
        </p:spPr>
      </p:cxnSp>
      <p:cxnSp>
        <p:nvCxnSpPr>
          <p:cNvPr id="240" name="Google Shape;240;g25b1bb62912_0_225"/>
          <p:cNvCxnSpPr/>
          <p:nvPr/>
        </p:nvCxnSpPr>
        <p:spPr>
          <a:xfrm rot="10800000" flipH="1">
            <a:off x="11645775" y="4524850"/>
            <a:ext cx="2100" cy="372900"/>
          </a:xfrm>
          <a:prstGeom prst="straightConnector1">
            <a:avLst/>
          </a:prstGeom>
          <a:noFill/>
          <a:ln w="38100" cap="flat" cmpd="sng">
            <a:solidFill>
              <a:schemeClr val="dk1"/>
            </a:solidFill>
            <a:prstDash val="solid"/>
            <a:round/>
            <a:headEnd type="none" w="med" len="med"/>
            <a:tailEnd type="none" w="med" len="med"/>
          </a:ln>
        </p:spPr>
      </p:cxnSp>
      <p:cxnSp>
        <p:nvCxnSpPr>
          <p:cNvPr id="241" name="Google Shape;241;g25b1bb62912_0_225"/>
          <p:cNvCxnSpPr/>
          <p:nvPr/>
        </p:nvCxnSpPr>
        <p:spPr>
          <a:xfrm rot="10800000" flipH="1">
            <a:off x="10028600" y="4506400"/>
            <a:ext cx="1626000" cy="17700"/>
          </a:xfrm>
          <a:prstGeom prst="straightConnector1">
            <a:avLst/>
          </a:prstGeom>
          <a:noFill/>
          <a:ln w="38100" cap="flat" cmpd="sng">
            <a:solidFill>
              <a:schemeClr val="dk1"/>
            </a:solidFill>
            <a:prstDash val="solid"/>
            <a:round/>
            <a:headEnd type="none" w="med" len="med"/>
            <a:tailEnd type="none" w="med" len="med"/>
          </a:ln>
        </p:spPr>
      </p:cxnSp>
      <p:cxnSp>
        <p:nvCxnSpPr>
          <p:cNvPr id="242" name="Google Shape;242;g25b1bb62912_0_225"/>
          <p:cNvCxnSpPr>
            <a:endCxn id="236" idx="2"/>
          </p:cNvCxnSpPr>
          <p:nvPr/>
        </p:nvCxnSpPr>
        <p:spPr>
          <a:xfrm rot="10800000" flipH="1">
            <a:off x="10835000" y="3959500"/>
            <a:ext cx="6600" cy="565500"/>
          </a:xfrm>
          <a:prstGeom prst="straightConnector1">
            <a:avLst/>
          </a:prstGeom>
          <a:noFill/>
          <a:ln w="19050" cap="flat" cmpd="sng">
            <a:solidFill>
              <a:schemeClr val="dk1"/>
            </a:solidFill>
            <a:prstDash val="solid"/>
            <a:round/>
            <a:headEnd type="none" w="med" len="med"/>
            <a:tailEnd type="triangle" w="med" len="med"/>
          </a:ln>
        </p:spPr>
      </p:cxnSp>
      <p:pic>
        <p:nvPicPr>
          <p:cNvPr id="2" name="Google Shape;63;p1" descr="Picture 3">
            <a:extLst>
              <a:ext uri="{FF2B5EF4-FFF2-40B4-BE49-F238E27FC236}">
                <a16:creationId xmlns:a16="http://schemas.microsoft.com/office/drawing/2014/main" id="{E3B4051B-5C40-10DC-C936-7EC1856804C6}"/>
              </a:ext>
            </a:extLst>
          </p:cNvPr>
          <p:cNvPicPr preferRelativeResize="0"/>
          <p:nvPr/>
        </p:nvPicPr>
        <p:blipFill rotWithShape="1">
          <a:blip r:embed="rId6"/>
          <a:srcRect/>
          <a:stretch>
            <a:fillRect/>
          </a:stretch>
        </p:blipFill>
        <p:spPr>
          <a:xfrm flipH="1">
            <a:off x="9765625" y="0"/>
            <a:ext cx="2846625" cy="15254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g25b1bb62912_0_235"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248" name="Google Shape;248;g25b1bb62912_0_235"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49" name="Google Shape;249;g25b1bb62912_0_23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23</a:t>
            </a:fld>
            <a:endParaRPr lang="fr-FR"/>
          </a:p>
        </p:txBody>
      </p:sp>
      <p:sp>
        <p:nvSpPr>
          <p:cNvPr id="252" name="Google Shape;252;g25b1bb62912_0_235"/>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Paradigmes des architectures logicielles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 name="Google Shape;253;g25b1bb62912_0_235"/>
          <p:cNvSpPr txBox="1"/>
          <p:nvPr/>
        </p:nvSpPr>
        <p:spPr>
          <a:xfrm>
            <a:off x="1567002" y="1210596"/>
            <a:ext cx="57786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 composant</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7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4" name="Google Shape;254;g25b1bb62912_0_235"/>
          <p:cNvSpPr txBox="1"/>
          <p:nvPr/>
        </p:nvSpPr>
        <p:spPr>
          <a:xfrm>
            <a:off x="919125" y="1892650"/>
            <a:ext cx="9045900" cy="14160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Times New Roman" panose="02020603050405020304"/>
              <a:buChar char="❏"/>
            </a:pPr>
            <a:r>
              <a:rPr lang="fr-FR" sz="2000">
                <a:latin typeface="Times New Roman" panose="02020603050405020304"/>
                <a:ea typeface="Times New Roman" panose="02020603050405020304"/>
                <a:cs typeface="Times New Roman" panose="02020603050405020304"/>
                <a:sym typeface="Times New Roman" panose="02020603050405020304"/>
              </a:rPr>
              <a:t>Construire une application composée par un ensemble de briques de base configurables et réutilisables.</a:t>
            </a:r>
            <a:endParaRPr sz="200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a:latin typeface="Times New Roman" panose="02020603050405020304"/>
                <a:ea typeface="Times New Roman" panose="02020603050405020304"/>
                <a:cs typeface="Times New Roman" panose="02020603050405020304"/>
                <a:sym typeface="Times New Roman" panose="02020603050405020304"/>
              </a:rPr>
              <a:t>Il s'agit d'externaliser le code fonctionnel d'une application afin de le rendre réutilisable dans d'autres applications</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255" name="Google Shape;255;g25b1bb62912_0_235"/>
          <p:cNvSpPr txBox="1"/>
          <p:nvPr/>
        </p:nvSpPr>
        <p:spPr>
          <a:xfrm>
            <a:off x="1091200" y="3802475"/>
            <a:ext cx="6063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dirty="0">
                <a:latin typeface="Times New Roman" panose="02020603050405020304"/>
                <a:ea typeface="Times New Roman" panose="02020603050405020304"/>
                <a:cs typeface="Times New Roman" panose="02020603050405020304"/>
                <a:sym typeface="Times New Roman" panose="02020603050405020304"/>
              </a:rPr>
              <a:t>Limites :</a:t>
            </a:r>
            <a:endParaRPr sz="2000" b="1"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Complexité de gestion des dépendances</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Interopérabilité entre composants hétérogènes</a:t>
            </a:r>
            <a:endParaRPr dirty="0"/>
          </a:p>
        </p:txBody>
      </p:sp>
      <p:sp>
        <p:nvSpPr>
          <p:cNvPr id="256" name="Google Shape;256;g25b1bb62912_0_235"/>
          <p:cNvSpPr/>
          <p:nvPr/>
        </p:nvSpPr>
        <p:spPr>
          <a:xfrm>
            <a:off x="7772653" y="5175200"/>
            <a:ext cx="1004700" cy="219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g25b1bb62912_0_235"/>
          <p:cNvSpPr/>
          <p:nvPr/>
        </p:nvSpPr>
        <p:spPr>
          <a:xfrm>
            <a:off x="8395462" y="5958117"/>
            <a:ext cx="1004700" cy="309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g25b1bb62912_0_235"/>
          <p:cNvSpPr/>
          <p:nvPr/>
        </p:nvSpPr>
        <p:spPr>
          <a:xfrm>
            <a:off x="7210075" y="5974398"/>
            <a:ext cx="1004700" cy="309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9" name="Google Shape;259;g25b1bb62912_0_235"/>
          <p:cNvCxnSpPr>
            <a:stCxn id="258" idx="0"/>
          </p:cNvCxnSpPr>
          <p:nvPr/>
        </p:nvCxnSpPr>
        <p:spPr>
          <a:xfrm rot="10800000">
            <a:off x="7708225" y="5754798"/>
            <a:ext cx="4200" cy="219600"/>
          </a:xfrm>
          <a:prstGeom prst="straightConnector1">
            <a:avLst/>
          </a:prstGeom>
          <a:noFill/>
          <a:ln w="38100" cap="flat" cmpd="sng">
            <a:solidFill>
              <a:schemeClr val="dk1"/>
            </a:solidFill>
            <a:prstDash val="solid"/>
            <a:round/>
            <a:headEnd type="none" w="med" len="med"/>
            <a:tailEnd type="none" w="med" len="med"/>
          </a:ln>
        </p:spPr>
      </p:cxnSp>
      <p:cxnSp>
        <p:nvCxnSpPr>
          <p:cNvPr id="260" name="Google Shape;260;g25b1bb62912_0_235"/>
          <p:cNvCxnSpPr/>
          <p:nvPr/>
        </p:nvCxnSpPr>
        <p:spPr>
          <a:xfrm rot="10800000" flipH="1">
            <a:off x="8843372" y="5743998"/>
            <a:ext cx="1500" cy="230400"/>
          </a:xfrm>
          <a:prstGeom prst="straightConnector1">
            <a:avLst/>
          </a:prstGeom>
          <a:noFill/>
          <a:ln w="38100" cap="flat" cmpd="sng">
            <a:solidFill>
              <a:schemeClr val="dk1"/>
            </a:solidFill>
            <a:prstDash val="solid"/>
            <a:round/>
            <a:headEnd type="none" w="med" len="med"/>
            <a:tailEnd type="none" w="med" len="med"/>
          </a:ln>
        </p:spPr>
      </p:cxnSp>
      <p:cxnSp>
        <p:nvCxnSpPr>
          <p:cNvPr id="261" name="Google Shape;261;g25b1bb62912_0_235"/>
          <p:cNvCxnSpPr/>
          <p:nvPr/>
        </p:nvCxnSpPr>
        <p:spPr>
          <a:xfrm rot="10800000" flipH="1">
            <a:off x="7700460" y="5732727"/>
            <a:ext cx="1149000" cy="10800"/>
          </a:xfrm>
          <a:prstGeom prst="straightConnector1">
            <a:avLst/>
          </a:prstGeom>
          <a:noFill/>
          <a:ln w="38100" cap="flat" cmpd="sng">
            <a:solidFill>
              <a:schemeClr val="dk1"/>
            </a:solidFill>
            <a:prstDash val="solid"/>
            <a:round/>
            <a:headEnd type="none" w="med" len="med"/>
            <a:tailEnd type="none" w="med" len="med"/>
          </a:ln>
        </p:spPr>
      </p:cxnSp>
      <p:cxnSp>
        <p:nvCxnSpPr>
          <p:cNvPr id="262" name="Google Shape;262;g25b1bb62912_0_235"/>
          <p:cNvCxnSpPr>
            <a:endCxn id="256" idx="2"/>
          </p:cNvCxnSpPr>
          <p:nvPr/>
        </p:nvCxnSpPr>
        <p:spPr>
          <a:xfrm rot="10800000" flipH="1">
            <a:off x="8270203" y="5394800"/>
            <a:ext cx="4800" cy="349500"/>
          </a:xfrm>
          <a:prstGeom prst="straightConnector1">
            <a:avLst/>
          </a:prstGeom>
          <a:noFill/>
          <a:ln w="19050" cap="flat" cmpd="sng">
            <a:solidFill>
              <a:schemeClr val="dk1"/>
            </a:solidFill>
            <a:prstDash val="solid"/>
            <a:round/>
            <a:headEnd type="none" w="med" len="med"/>
            <a:tailEnd type="triangle" w="med" len="med"/>
          </a:ln>
        </p:spPr>
      </p:cxnSp>
      <p:cxnSp>
        <p:nvCxnSpPr>
          <p:cNvPr id="263" name="Google Shape;263;g25b1bb62912_0_235"/>
          <p:cNvCxnSpPr/>
          <p:nvPr/>
        </p:nvCxnSpPr>
        <p:spPr>
          <a:xfrm rot="10800000" flipH="1">
            <a:off x="6844525" y="4847525"/>
            <a:ext cx="4245300" cy="13500"/>
          </a:xfrm>
          <a:prstGeom prst="straightConnector1">
            <a:avLst/>
          </a:prstGeom>
          <a:noFill/>
          <a:ln w="28575" cap="flat" cmpd="sng">
            <a:solidFill>
              <a:schemeClr val="dk2"/>
            </a:solidFill>
            <a:prstDash val="solid"/>
            <a:round/>
            <a:headEnd type="none" w="med" len="med"/>
            <a:tailEnd type="none" w="med" len="med"/>
          </a:ln>
        </p:spPr>
      </p:cxnSp>
      <p:sp>
        <p:nvSpPr>
          <p:cNvPr id="264" name="Google Shape;264;g25b1bb62912_0_235"/>
          <p:cNvSpPr/>
          <p:nvPr/>
        </p:nvSpPr>
        <p:spPr>
          <a:xfrm>
            <a:off x="9159000" y="3688525"/>
            <a:ext cx="870900" cy="7791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g25b1bb62912_0_235"/>
          <p:cNvSpPr/>
          <p:nvPr/>
        </p:nvSpPr>
        <p:spPr>
          <a:xfrm>
            <a:off x="6844525" y="3688538"/>
            <a:ext cx="870900" cy="7791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6" name="Google Shape;266;g25b1bb62912_0_235"/>
          <p:cNvCxnSpPr>
            <a:stCxn id="256" idx="0"/>
          </p:cNvCxnSpPr>
          <p:nvPr/>
        </p:nvCxnSpPr>
        <p:spPr>
          <a:xfrm rot="10800000" flipH="1">
            <a:off x="8275003" y="4156400"/>
            <a:ext cx="1179600" cy="1018800"/>
          </a:xfrm>
          <a:prstGeom prst="straightConnector1">
            <a:avLst/>
          </a:prstGeom>
          <a:noFill/>
          <a:ln w="28575" cap="flat" cmpd="sng">
            <a:solidFill>
              <a:srgbClr val="9E0000"/>
            </a:solidFill>
            <a:prstDash val="solid"/>
            <a:round/>
            <a:headEnd type="none" w="med" len="med"/>
            <a:tailEnd type="triangle" w="med" len="med"/>
          </a:ln>
        </p:spPr>
      </p:cxnSp>
      <p:cxnSp>
        <p:nvCxnSpPr>
          <p:cNvPr id="267" name="Google Shape;267;g25b1bb62912_0_235"/>
          <p:cNvCxnSpPr>
            <a:stCxn id="256" idx="0"/>
          </p:cNvCxnSpPr>
          <p:nvPr/>
        </p:nvCxnSpPr>
        <p:spPr>
          <a:xfrm rot="10800000">
            <a:off x="7345603" y="4142600"/>
            <a:ext cx="929400" cy="1032600"/>
          </a:xfrm>
          <a:prstGeom prst="straightConnector1">
            <a:avLst/>
          </a:prstGeom>
          <a:noFill/>
          <a:ln w="28575" cap="flat" cmpd="sng">
            <a:solidFill>
              <a:srgbClr val="9E0000"/>
            </a:solidFill>
            <a:prstDash val="solid"/>
            <a:round/>
            <a:headEnd type="none" w="med" len="med"/>
            <a:tailEnd type="triangle" w="med" len="med"/>
          </a:ln>
        </p:spPr>
      </p:cxnSp>
      <p:sp>
        <p:nvSpPr>
          <p:cNvPr id="268" name="Google Shape;268;g25b1bb62912_0_235"/>
          <p:cNvSpPr txBox="1"/>
          <p:nvPr/>
        </p:nvSpPr>
        <p:spPr>
          <a:xfrm>
            <a:off x="10208100" y="4110275"/>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Composant</a:t>
            </a:r>
            <a:endParaRPr b="1"/>
          </a:p>
        </p:txBody>
      </p:sp>
      <p:sp>
        <p:nvSpPr>
          <p:cNvPr id="269" name="Google Shape;269;g25b1bb62912_0_235"/>
          <p:cNvSpPr txBox="1"/>
          <p:nvPr/>
        </p:nvSpPr>
        <p:spPr>
          <a:xfrm>
            <a:off x="9454600" y="5325913"/>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Objet</a:t>
            </a:r>
            <a:endParaRPr b="1"/>
          </a:p>
        </p:txBody>
      </p:sp>
      <p:pic>
        <p:nvPicPr>
          <p:cNvPr id="2" name="Google Shape;63;p1" descr="Picture 3">
            <a:extLst>
              <a:ext uri="{FF2B5EF4-FFF2-40B4-BE49-F238E27FC236}">
                <a16:creationId xmlns:a16="http://schemas.microsoft.com/office/drawing/2014/main" id="{64320443-2E97-85E1-EECB-705B490AD049}"/>
              </a:ext>
            </a:extLst>
          </p:cNvPr>
          <p:cNvPicPr preferRelativeResize="0"/>
          <p:nvPr/>
        </p:nvPicPr>
        <p:blipFill rotWithShape="1">
          <a:blip r:embed="rId5"/>
          <a:srcRect/>
          <a:stretch>
            <a:fillRect/>
          </a:stretch>
        </p:blipFill>
        <p:spPr>
          <a:xfrm flipH="1">
            <a:off x="9741132" y="-12699"/>
            <a:ext cx="2846625" cy="15254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g25b1bb62912_0_245" descr="Picture 2"/>
          <p:cNvPicPr preferRelativeResize="0"/>
          <p:nvPr/>
        </p:nvPicPr>
        <p:blipFill rotWithShape="1">
          <a:blip r:embed="rId3"/>
          <a:srcRect/>
          <a:stretch>
            <a:fillRect/>
          </a:stretch>
        </p:blipFill>
        <p:spPr>
          <a:xfrm>
            <a:off x="-1160" y="-50173"/>
            <a:ext cx="12652622" cy="6886241"/>
          </a:xfrm>
          <a:prstGeom prst="rect">
            <a:avLst/>
          </a:prstGeom>
          <a:noFill/>
          <a:ln>
            <a:noFill/>
          </a:ln>
        </p:spPr>
      </p:pic>
      <p:pic>
        <p:nvPicPr>
          <p:cNvPr id="275" name="Google Shape;275;g25b1bb62912_0_245"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76" name="Google Shape;276;g25b1bb62912_0_24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24</a:t>
            </a:fld>
            <a:endParaRPr lang="fr-FR"/>
          </a:p>
        </p:txBody>
      </p:sp>
      <p:sp>
        <p:nvSpPr>
          <p:cNvPr id="279" name="Google Shape;279;g25b1bb62912_0_245"/>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Paradigmes des architectures logicielles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g25b1bb62912_0_245"/>
          <p:cNvSpPr txBox="1"/>
          <p:nvPr/>
        </p:nvSpPr>
        <p:spPr>
          <a:xfrm>
            <a:off x="831813" y="1481043"/>
            <a:ext cx="47913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 service</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g25b1bb62912_0_245"/>
          <p:cNvSpPr txBox="1"/>
          <p:nvPr/>
        </p:nvSpPr>
        <p:spPr>
          <a:xfrm>
            <a:off x="375892" y="2214646"/>
            <a:ext cx="7383503" cy="3262401"/>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Prise en charge de la diversité et de  l’hétérogénéité des termes de langages systèmes de programmation, et de logiciels, en de technologies de conception (et de réalisation) ou de plates-formes d’exécution</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 Le paradigme service permet de:</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réduire le couplage</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améliorer la réutilisation</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augmenter l’abstraction</a:t>
            </a:r>
            <a:endParaRPr dirty="0"/>
          </a:p>
        </p:txBody>
      </p:sp>
      <p:grpSp>
        <p:nvGrpSpPr>
          <p:cNvPr id="2" name="Google Shape;334;p13"/>
          <p:cNvGrpSpPr/>
          <p:nvPr/>
        </p:nvGrpSpPr>
        <p:grpSpPr>
          <a:xfrm>
            <a:off x="8001000" y="3940571"/>
            <a:ext cx="2954401" cy="2215261"/>
            <a:chOff x="8001000" y="3849623"/>
            <a:chExt cx="2954401" cy="2215261"/>
          </a:xfrm>
        </p:grpSpPr>
        <p:sp>
          <p:nvSpPr>
            <p:cNvPr id="3" name="Google Shape;336;p13"/>
            <p:cNvSpPr/>
            <p:nvPr/>
          </p:nvSpPr>
          <p:spPr>
            <a:xfrm>
              <a:off x="9014459" y="5135879"/>
              <a:ext cx="1211579" cy="140207"/>
            </a:xfrm>
            <a:prstGeom prst="rect">
              <a:avLst/>
            </a:prstGeom>
            <a:blipFill rotWithShape="1">
              <a:blip r:embed="rId5"/>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Google Shape;337;p13"/>
            <p:cNvSpPr/>
            <p:nvPr/>
          </p:nvSpPr>
          <p:spPr>
            <a:xfrm>
              <a:off x="9015221" y="5136641"/>
              <a:ext cx="1211580" cy="140335"/>
            </a:xfrm>
            <a:custGeom>
              <a:avLst/>
              <a:gdLst/>
              <a:ahLst/>
              <a:cxnLst/>
              <a:rect l="l" t="t" r="r" b="b"/>
              <a:pathLst>
                <a:path w="1211579" h="140335" extrusionOk="0">
                  <a:moveTo>
                    <a:pt x="0" y="140207"/>
                  </a:moveTo>
                  <a:lnTo>
                    <a:pt x="1211579" y="140207"/>
                  </a:lnTo>
                  <a:lnTo>
                    <a:pt x="1211579" y="0"/>
                  </a:lnTo>
                  <a:lnTo>
                    <a:pt x="0" y="0"/>
                  </a:lnTo>
                  <a:lnTo>
                    <a:pt x="0" y="140207"/>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Google Shape;338;p13"/>
            <p:cNvSpPr/>
            <p:nvPr/>
          </p:nvSpPr>
          <p:spPr>
            <a:xfrm>
              <a:off x="9014459" y="5274564"/>
              <a:ext cx="1211579" cy="185928"/>
            </a:xfrm>
            <a:prstGeom prst="rect">
              <a:avLst/>
            </a:prstGeom>
            <a:blipFill rotWithShape="1">
              <a:blip r:embed="rId6"/>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 name="Google Shape;339;p13"/>
            <p:cNvSpPr/>
            <p:nvPr/>
          </p:nvSpPr>
          <p:spPr>
            <a:xfrm>
              <a:off x="9015221" y="5275262"/>
              <a:ext cx="1211580" cy="187325"/>
            </a:xfrm>
            <a:custGeom>
              <a:avLst/>
              <a:gdLst/>
              <a:ahLst/>
              <a:cxnLst/>
              <a:rect l="l" t="t" r="r" b="b"/>
              <a:pathLst>
                <a:path w="1211579" h="187325" extrusionOk="0">
                  <a:moveTo>
                    <a:pt x="0" y="187134"/>
                  </a:moveTo>
                  <a:lnTo>
                    <a:pt x="1211579" y="187134"/>
                  </a:lnTo>
                  <a:lnTo>
                    <a:pt x="1211579" y="0"/>
                  </a:lnTo>
                  <a:lnTo>
                    <a:pt x="0" y="0"/>
                  </a:lnTo>
                  <a:lnTo>
                    <a:pt x="0" y="187134"/>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Google Shape;340;p13"/>
            <p:cNvSpPr/>
            <p:nvPr/>
          </p:nvSpPr>
          <p:spPr>
            <a:xfrm>
              <a:off x="9741407" y="5739384"/>
              <a:ext cx="1213103" cy="138684"/>
            </a:xfrm>
            <a:prstGeom prst="rect">
              <a:avLst/>
            </a:prstGeom>
            <a:blipFill rotWithShape="1">
              <a:blip r:embed="rId7"/>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 name="Google Shape;341;p13"/>
            <p:cNvSpPr/>
            <p:nvPr/>
          </p:nvSpPr>
          <p:spPr>
            <a:xfrm>
              <a:off x="9742169" y="5740146"/>
              <a:ext cx="1212850" cy="139065"/>
            </a:xfrm>
            <a:custGeom>
              <a:avLst/>
              <a:gdLst/>
              <a:ahLst/>
              <a:cxnLst/>
              <a:rect l="l" t="t" r="r" b="b"/>
              <a:pathLst>
                <a:path w="1212850" h="139064" extrusionOk="0">
                  <a:moveTo>
                    <a:pt x="0" y="138683"/>
                  </a:moveTo>
                  <a:lnTo>
                    <a:pt x="1212684" y="138683"/>
                  </a:lnTo>
                  <a:lnTo>
                    <a:pt x="1212684" y="0"/>
                  </a:lnTo>
                  <a:lnTo>
                    <a:pt x="0" y="0"/>
                  </a:lnTo>
                  <a:lnTo>
                    <a:pt x="0" y="138683"/>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 name="Google Shape;342;p13"/>
            <p:cNvSpPr/>
            <p:nvPr/>
          </p:nvSpPr>
          <p:spPr>
            <a:xfrm>
              <a:off x="9741407" y="5878067"/>
              <a:ext cx="1213103" cy="185927"/>
            </a:xfrm>
            <a:prstGeom prst="rect">
              <a:avLst/>
            </a:prstGeom>
            <a:blipFill rotWithShape="1">
              <a:blip r:embed="rId8"/>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343;p13"/>
            <p:cNvSpPr/>
            <p:nvPr/>
          </p:nvSpPr>
          <p:spPr>
            <a:xfrm>
              <a:off x="9742169" y="5878829"/>
              <a:ext cx="1212850" cy="186055"/>
            </a:xfrm>
            <a:custGeom>
              <a:avLst/>
              <a:gdLst/>
              <a:ahLst/>
              <a:cxnLst/>
              <a:rect l="l" t="t" r="r" b="b"/>
              <a:pathLst>
                <a:path w="1212850" h="186054" extrusionOk="0">
                  <a:moveTo>
                    <a:pt x="0" y="185610"/>
                  </a:moveTo>
                  <a:lnTo>
                    <a:pt x="1212684" y="185610"/>
                  </a:lnTo>
                  <a:lnTo>
                    <a:pt x="1212684" y="0"/>
                  </a:lnTo>
                  <a:lnTo>
                    <a:pt x="0" y="0"/>
                  </a:lnTo>
                  <a:lnTo>
                    <a:pt x="0" y="185610"/>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Google Shape;344;p13"/>
            <p:cNvSpPr/>
            <p:nvPr/>
          </p:nvSpPr>
          <p:spPr>
            <a:xfrm>
              <a:off x="8287511" y="5739384"/>
              <a:ext cx="1211579" cy="138684"/>
            </a:xfrm>
            <a:prstGeom prst="rect">
              <a:avLst/>
            </a:prstGeom>
            <a:blipFill rotWithShape="1">
              <a:blip r:embed="rId7"/>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345;p13"/>
            <p:cNvSpPr/>
            <p:nvPr/>
          </p:nvSpPr>
          <p:spPr>
            <a:xfrm>
              <a:off x="8288273" y="5740146"/>
              <a:ext cx="1212850" cy="139065"/>
            </a:xfrm>
            <a:custGeom>
              <a:avLst/>
              <a:gdLst/>
              <a:ahLst/>
              <a:cxnLst/>
              <a:rect l="l" t="t" r="r" b="b"/>
              <a:pathLst>
                <a:path w="1212850" h="139064" extrusionOk="0">
                  <a:moveTo>
                    <a:pt x="0" y="138683"/>
                  </a:moveTo>
                  <a:lnTo>
                    <a:pt x="1212684" y="138683"/>
                  </a:lnTo>
                  <a:lnTo>
                    <a:pt x="1212684" y="0"/>
                  </a:lnTo>
                  <a:lnTo>
                    <a:pt x="0" y="0"/>
                  </a:lnTo>
                  <a:lnTo>
                    <a:pt x="0" y="138683"/>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346;p13"/>
            <p:cNvSpPr/>
            <p:nvPr/>
          </p:nvSpPr>
          <p:spPr>
            <a:xfrm>
              <a:off x="8287511" y="5878067"/>
              <a:ext cx="1211579" cy="185927"/>
            </a:xfrm>
            <a:prstGeom prst="rect">
              <a:avLst/>
            </a:prstGeom>
            <a:blipFill rotWithShape="1">
              <a:blip r:embed="rId8"/>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 name="Google Shape;347;p13"/>
            <p:cNvSpPr/>
            <p:nvPr/>
          </p:nvSpPr>
          <p:spPr>
            <a:xfrm>
              <a:off x="8288273" y="5878829"/>
              <a:ext cx="1212850" cy="186055"/>
            </a:xfrm>
            <a:custGeom>
              <a:avLst/>
              <a:gdLst/>
              <a:ahLst/>
              <a:cxnLst/>
              <a:rect l="l" t="t" r="r" b="b"/>
              <a:pathLst>
                <a:path w="1212850" h="186054" extrusionOk="0">
                  <a:moveTo>
                    <a:pt x="0" y="185610"/>
                  </a:moveTo>
                  <a:lnTo>
                    <a:pt x="1212684" y="185610"/>
                  </a:lnTo>
                  <a:lnTo>
                    <a:pt x="1212684" y="0"/>
                  </a:lnTo>
                  <a:lnTo>
                    <a:pt x="0" y="0"/>
                  </a:lnTo>
                  <a:lnTo>
                    <a:pt x="0" y="185610"/>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 name="Google Shape;348;p13"/>
            <p:cNvSpPr/>
            <p:nvPr/>
          </p:nvSpPr>
          <p:spPr>
            <a:xfrm>
              <a:off x="9453371" y="5324855"/>
              <a:ext cx="414527" cy="338328"/>
            </a:xfrm>
            <a:prstGeom prst="rect">
              <a:avLst/>
            </a:prstGeom>
            <a:blipFill rotWithShape="1">
              <a:blip r:embed="rId9"/>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349;p13"/>
            <p:cNvSpPr/>
            <p:nvPr/>
          </p:nvSpPr>
          <p:spPr>
            <a:xfrm>
              <a:off x="9581388" y="5460491"/>
              <a:ext cx="158115" cy="140207"/>
            </a:xfrm>
            <a:prstGeom prst="rect">
              <a:avLst/>
            </a:prstGeom>
            <a:blipFill rotWithShape="1">
              <a:blip r:embed="rId10"/>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350;p13"/>
            <p:cNvSpPr/>
            <p:nvPr/>
          </p:nvSpPr>
          <p:spPr>
            <a:xfrm>
              <a:off x="8851392" y="5600700"/>
              <a:ext cx="1537970" cy="0"/>
            </a:xfrm>
            <a:custGeom>
              <a:avLst/>
              <a:gdLst/>
              <a:ahLst/>
              <a:cxnLst/>
              <a:rect l="l" t="t" r="r" b="b"/>
              <a:pathLst>
                <a:path w="1537970" h="120000" extrusionOk="0">
                  <a:moveTo>
                    <a:pt x="0" y="0"/>
                  </a:moveTo>
                  <a:lnTo>
                    <a:pt x="1537715" y="0"/>
                  </a:lnTo>
                </a:path>
              </a:pathLst>
            </a:custGeom>
            <a:noFill/>
            <a:ln w="12700" cap="flat" cmpd="sng">
              <a:solidFill>
                <a:srgbClr val="006DC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351;p13"/>
            <p:cNvSpPr/>
            <p:nvPr/>
          </p:nvSpPr>
          <p:spPr>
            <a:xfrm>
              <a:off x="10386059" y="5600700"/>
              <a:ext cx="2540" cy="138430"/>
            </a:xfrm>
            <a:custGeom>
              <a:avLst/>
              <a:gdLst/>
              <a:ahLst/>
              <a:cxnLst/>
              <a:rect l="l" t="t" r="r" b="b"/>
              <a:pathLst>
                <a:path w="2540" h="138429" extrusionOk="0">
                  <a:moveTo>
                    <a:pt x="1206" y="-6350"/>
                  </a:moveTo>
                  <a:lnTo>
                    <a:pt x="1206" y="144716"/>
                  </a:lnTo>
                </a:path>
              </a:pathLst>
            </a:custGeom>
            <a:noFill/>
            <a:ln w="15100" cap="flat" cmpd="sng">
              <a:solidFill>
                <a:srgbClr val="006DC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 name="Google Shape;352;p13"/>
            <p:cNvSpPr/>
            <p:nvPr/>
          </p:nvSpPr>
          <p:spPr>
            <a:xfrm>
              <a:off x="8851392" y="5600700"/>
              <a:ext cx="2540" cy="138430"/>
            </a:xfrm>
            <a:custGeom>
              <a:avLst/>
              <a:gdLst/>
              <a:ahLst/>
              <a:cxnLst/>
              <a:rect l="l" t="t" r="r" b="b"/>
              <a:pathLst>
                <a:path w="2540" h="138429" extrusionOk="0">
                  <a:moveTo>
                    <a:pt x="1206" y="-6350"/>
                  </a:moveTo>
                  <a:lnTo>
                    <a:pt x="1206" y="144716"/>
                  </a:lnTo>
                </a:path>
              </a:pathLst>
            </a:custGeom>
            <a:noFill/>
            <a:ln w="15100" cap="flat" cmpd="sng">
              <a:solidFill>
                <a:srgbClr val="006DC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 name="Google Shape;353;p13"/>
            <p:cNvSpPr/>
            <p:nvPr/>
          </p:nvSpPr>
          <p:spPr>
            <a:xfrm>
              <a:off x="10181843" y="3849623"/>
              <a:ext cx="772795" cy="715010"/>
            </a:xfrm>
            <a:custGeom>
              <a:avLst/>
              <a:gdLst/>
              <a:ahLst/>
              <a:cxnLst/>
              <a:rect l="l" t="t" r="r" b="b"/>
              <a:pathLst>
                <a:path w="772795" h="715010" extrusionOk="0">
                  <a:moveTo>
                    <a:pt x="772248" y="0"/>
                  </a:moveTo>
                  <a:lnTo>
                    <a:pt x="0" y="0"/>
                  </a:lnTo>
                  <a:lnTo>
                    <a:pt x="0" y="714756"/>
                  </a:lnTo>
                  <a:lnTo>
                    <a:pt x="772248" y="714756"/>
                  </a:lnTo>
                  <a:lnTo>
                    <a:pt x="772248" y="0"/>
                  </a:lnTo>
                  <a:close/>
                </a:path>
              </a:pathLst>
            </a:custGeom>
            <a:solidFill>
              <a:srgbClr val="39899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 name="Google Shape;354;p13"/>
            <p:cNvSpPr/>
            <p:nvPr/>
          </p:nvSpPr>
          <p:spPr>
            <a:xfrm>
              <a:off x="10182606" y="3850385"/>
              <a:ext cx="772795" cy="715010"/>
            </a:xfrm>
            <a:custGeom>
              <a:avLst/>
              <a:gdLst/>
              <a:ahLst/>
              <a:cxnLst/>
              <a:rect l="l" t="t" r="r" b="b"/>
              <a:pathLst>
                <a:path w="772795" h="715010" extrusionOk="0">
                  <a:moveTo>
                    <a:pt x="0" y="714756"/>
                  </a:moveTo>
                  <a:lnTo>
                    <a:pt x="772248" y="714756"/>
                  </a:lnTo>
                  <a:lnTo>
                    <a:pt x="772248" y="0"/>
                  </a:lnTo>
                  <a:lnTo>
                    <a:pt x="0" y="0"/>
                  </a:lnTo>
                  <a:lnTo>
                    <a:pt x="0" y="714756"/>
                  </a:lnTo>
                  <a:close/>
                </a:path>
              </a:pathLst>
            </a:custGeom>
            <a:noFill/>
            <a:ln w="25900" cap="flat" cmpd="sng">
              <a:solidFill>
                <a:srgbClr val="39899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 name="Google Shape;355;p13"/>
            <p:cNvSpPr/>
            <p:nvPr/>
          </p:nvSpPr>
          <p:spPr>
            <a:xfrm>
              <a:off x="9829800" y="4044695"/>
              <a:ext cx="352425" cy="1270"/>
            </a:xfrm>
            <a:custGeom>
              <a:avLst/>
              <a:gdLst/>
              <a:ahLst/>
              <a:cxnLst/>
              <a:rect l="l" t="t" r="r" b="b"/>
              <a:pathLst>
                <a:path w="352425" h="1270" extrusionOk="0">
                  <a:moveTo>
                    <a:pt x="0" y="0"/>
                  </a:moveTo>
                  <a:lnTo>
                    <a:pt x="352044" y="1269"/>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 name="Google Shape;356;p13"/>
            <p:cNvSpPr/>
            <p:nvPr/>
          </p:nvSpPr>
          <p:spPr>
            <a:xfrm>
              <a:off x="9617964" y="3915155"/>
              <a:ext cx="281940" cy="260985"/>
            </a:xfrm>
            <a:custGeom>
              <a:avLst/>
              <a:gdLst/>
              <a:ahLst/>
              <a:cxnLst/>
              <a:rect l="l" t="t" r="r" b="b"/>
              <a:pathLst>
                <a:path w="281940" h="260985" extrusionOk="0">
                  <a:moveTo>
                    <a:pt x="140715" y="0"/>
                  </a:moveTo>
                  <a:lnTo>
                    <a:pt x="85978" y="10287"/>
                  </a:lnTo>
                  <a:lnTo>
                    <a:pt x="41147" y="38227"/>
                  </a:lnTo>
                  <a:lnTo>
                    <a:pt x="11049" y="79629"/>
                  </a:lnTo>
                  <a:lnTo>
                    <a:pt x="0" y="130302"/>
                  </a:lnTo>
                  <a:lnTo>
                    <a:pt x="11049" y="180975"/>
                  </a:lnTo>
                  <a:lnTo>
                    <a:pt x="41147" y="222377"/>
                  </a:lnTo>
                  <a:lnTo>
                    <a:pt x="85978" y="250317"/>
                  </a:lnTo>
                  <a:lnTo>
                    <a:pt x="140715" y="260604"/>
                  </a:lnTo>
                  <a:lnTo>
                    <a:pt x="195579" y="250317"/>
                  </a:lnTo>
                  <a:lnTo>
                    <a:pt x="240283" y="222377"/>
                  </a:lnTo>
                  <a:lnTo>
                    <a:pt x="270509" y="180975"/>
                  </a:lnTo>
                  <a:lnTo>
                    <a:pt x="281558" y="130302"/>
                  </a:lnTo>
                  <a:lnTo>
                    <a:pt x="270509" y="79629"/>
                  </a:lnTo>
                  <a:lnTo>
                    <a:pt x="240283" y="38227"/>
                  </a:lnTo>
                  <a:lnTo>
                    <a:pt x="195579" y="10287"/>
                  </a:lnTo>
                  <a:lnTo>
                    <a:pt x="140715"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 name="Google Shape;357;p13"/>
            <p:cNvSpPr/>
            <p:nvPr/>
          </p:nvSpPr>
          <p:spPr>
            <a:xfrm>
              <a:off x="9618726" y="3915917"/>
              <a:ext cx="281940" cy="260985"/>
            </a:xfrm>
            <a:custGeom>
              <a:avLst/>
              <a:gdLst/>
              <a:ahLst/>
              <a:cxnLst/>
              <a:rect l="l" t="t" r="r" b="b"/>
              <a:pathLst>
                <a:path w="281940" h="260985" extrusionOk="0">
                  <a:moveTo>
                    <a:pt x="0" y="130301"/>
                  </a:moveTo>
                  <a:lnTo>
                    <a:pt x="11049" y="79628"/>
                  </a:lnTo>
                  <a:lnTo>
                    <a:pt x="41148" y="38226"/>
                  </a:lnTo>
                  <a:lnTo>
                    <a:pt x="85978" y="10286"/>
                  </a:lnTo>
                  <a:lnTo>
                    <a:pt x="140716" y="0"/>
                  </a:lnTo>
                  <a:lnTo>
                    <a:pt x="195579" y="10286"/>
                  </a:lnTo>
                  <a:lnTo>
                    <a:pt x="240283" y="38226"/>
                  </a:lnTo>
                  <a:lnTo>
                    <a:pt x="270509" y="79628"/>
                  </a:lnTo>
                  <a:lnTo>
                    <a:pt x="281558" y="130301"/>
                  </a:lnTo>
                  <a:lnTo>
                    <a:pt x="270509" y="180974"/>
                  </a:lnTo>
                  <a:lnTo>
                    <a:pt x="240283" y="222376"/>
                  </a:lnTo>
                  <a:lnTo>
                    <a:pt x="195579" y="250316"/>
                  </a:lnTo>
                  <a:lnTo>
                    <a:pt x="140716" y="260603"/>
                  </a:lnTo>
                  <a:lnTo>
                    <a:pt x="85978" y="250316"/>
                  </a:lnTo>
                  <a:lnTo>
                    <a:pt x="41148" y="222376"/>
                  </a:lnTo>
                  <a:lnTo>
                    <a:pt x="11049" y="180974"/>
                  </a:lnTo>
                  <a:lnTo>
                    <a:pt x="0" y="130301"/>
                  </a:lnTo>
                  <a:close/>
                </a:path>
              </a:pathLst>
            </a:custGeom>
            <a:noFill/>
            <a:ln w="25900" cap="flat" cmpd="sng">
              <a:solidFill>
                <a:srgbClr val="2C2C8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 name="Google Shape;358;p13"/>
            <p:cNvSpPr/>
            <p:nvPr/>
          </p:nvSpPr>
          <p:spPr>
            <a:xfrm>
              <a:off x="9829800" y="4369307"/>
              <a:ext cx="352425" cy="1270"/>
            </a:xfrm>
            <a:custGeom>
              <a:avLst/>
              <a:gdLst/>
              <a:ahLst/>
              <a:cxnLst/>
              <a:rect l="l" t="t" r="r" b="b"/>
              <a:pathLst>
                <a:path w="352425" h="1270" extrusionOk="0">
                  <a:moveTo>
                    <a:pt x="0" y="0"/>
                  </a:moveTo>
                  <a:lnTo>
                    <a:pt x="352044" y="127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 name="Google Shape;359;p13"/>
            <p:cNvSpPr/>
            <p:nvPr/>
          </p:nvSpPr>
          <p:spPr>
            <a:xfrm>
              <a:off x="9617964" y="4238244"/>
              <a:ext cx="281940" cy="260985"/>
            </a:xfrm>
            <a:custGeom>
              <a:avLst/>
              <a:gdLst/>
              <a:ahLst/>
              <a:cxnLst/>
              <a:rect l="l" t="t" r="r" b="b"/>
              <a:pathLst>
                <a:path w="281940" h="260985" extrusionOk="0">
                  <a:moveTo>
                    <a:pt x="140715" y="0"/>
                  </a:moveTo>
                  <a:lnTo>
                    <a:pt x="85978" y="10286"/>
                  </a:lnTo>
                  <a:lnTo>
                    <a:pt x="41147" y="38226"/>
                  </a:lnTo>
                  <a:lnTo>
                    <a:pt x="11049" y="79628"/>
                  </a:lnTo>
                  <a:lnTo>
                    <a:pt x="0" y="130301"/>
                  </a:lnTo>
                  <a:lnTo>
                    <a:pt x="11049" y="180974"/>
                  </a:lnTo>
                  <a:lnTo>
                    <a:pt x="41147" y="222376"/>
                  </a:lnTo>
                  <a:lnTo>
                    <a:pt x="85978" y="250316"/>
                  </a:lnTo>
                  <a:lnTo>
                    <a:pt x="140715" y="260603"/>
                  </a:lnTo>
                  <a:lnTo>
                    <a:pt x="195579" y="250316"/>
                  </a:lnTo>
                  <a:lnTo>
                    <a:pt x="240283" y="222376"/>
                  </a:lnTo>
                  <a:lnTo>
                    <a:pt x="270509" y="180974"/>
                  </a:lnTo>
                  <a:lnTo>
                    <a:pt x="281558" y="130301"/>
                  </a:lnTo>
                  <a:lnTo>
                    <a:pt x="270509" y="79628"/>
                  </a:lnTo>
                  <a:lnTo>
                    <a:pt x="240283" y="38226"/>
                  </a:lnTo>
                  <a:lnTo>
                    <a:pt x="195579" y="10286"/>
                  </a:lnTo>
                  <a:lnTo>
                    <a:pt x="140715"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7" name="Google Shape;360;p13"/>
            <p:cNvSpPr/>
            <p:nvPr/>
          </p:nvSpPr>
          <p:spPr>
            <a:xfrm>
              <a:off x="9618726" y="4239005"/>
              <a:ext cx="281940" cy="260985"/>
            </a:xfrm>
            <a:custGeom>
              <a:avLst/>
              <a:gdLst/>
              <a:ahLst/>
              <a:cxnLst/>
              <a:rect l="l" t="t" r="r" b="b"/>
              <a:pathLst>
                <a:path w="281940" h="260985" extrusionOk="0">
                  <a:moveTo>
                    <a:pt x="0" y="130302"/>
                  </a:moveTo>
                  <a:lnTo>
                    <a:pt x="11049" y="79629"/>
                  </a:lnTo>
                  <a:lnTo>
                    <a:pt x="41148" y="38227"/>
                  </a:lnTo>
                  <a:lnTo>
                    <a:pt x="85978" y="10287"/>
                  </a:lnTo>
                  <a:lnTo>
                    <a:pt x="140716" y="0"/>
                  </a:lnTo>
                  <a:lnTo>
                    <a:pt x="195579" y="10287"/>
                  </a:lnTo>
                  <a:lnTo>
                    <a:pt x="240283" y="38227"/>
                  </a:lnTo>
                  <a:lnTo>
                    <a:pt x="270509" y="79629"/>
                  </a:lnTo>
                  <a:lnTo>
                    <a:pt x="281558" y="130302"/>
                  </a:lnTo>
                  <a:lnTo>
                    <a:pt x="270509" y="180975"/>
                  </a:lnTo>
                  <a:lnTo>
                    <a:pt x="240283" y="222377"/>
                  </a:lnTo>
                  <a:lnTo>
                    <a:pt x="195579" y="250317"/>
                  </a:lnTo>
                  <a:lnTo>
                    <a:pt x="140716" y="260604"/>
                  </a:lnTo>
                  <a:lnTo>
                    <a:pt x="85978" y="250317"/>
                  </a:lnTo>
                  <a:lnTo>
                    <a:pt x="41148" y="222377"/>
                  </a:lnTo>
                  <a:lnTo>
                    <a:pt x="11049" y="180975"/>
                  </a:lnTo>
                  <a:lnTo>
                    <a:pt x="0" y="130302"/>
                  </a:lnTo>
                  <a:close/>
                </a:path>
              </a:pathLst>
            </a:custGeom>
            <a:noFill/>
            <a:ln w="25900" cap="flat" cmpd="sng">
              <a:solidFill>
                <a:srgbClr val="2C2C8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 name="Google Shape;361;p13"/>
            <p:cNvSpPr/>
            <p:nvPr/>
          </p:nvSpPr>
          <p:spPr>
            <a:xfrm>
              <a:off x="8563356" y="3849623"/>
              <a:ext cx="774065" cy="715010"/>
            </a:xfrm>
            <a:custGeom>
              <a:avLst/>
              <a:gdLst/>
              <a:ahLst/>
              <a:cxnLst/>
              <a:rect l="l" t="t" r="r" b="b"/>
              <a:pathLst>
                <a:path w="774065" h="715010" extrusionOk="0">
                  <a:moveTo>
                    <a:pt x="773772" y="0"/>
                  </a:moveTo>
                  <a:lnTo>
                    <a:pt x="0" y="0"/>
                  </a:lnTo>
                  <a:lnTo>
                    <a:pt x="0" y="714756"/>
                  </a:lnTo>
                  <a:lnTo>
                    <a:pt x="773772" y="714756"/>
                  </a:lnTo>
                  <a:lnTo>
                    <a:pt x="773772" y="0"/>
                  </a:lnTo>
                  <a:close/>
                </a:path>
              </a:pathLst>
            </a:custGeom>
            <a:solidFill>
              <a:srgbClr val="39899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 name="Google Shape;362;p13"/>
            <p:cNvSpPr/>
            <p:nvPr/>
          </p:nvSpPr>
          <p:spPr>
            <a:xfrm>
              <a:off x="8564118" y="3850385"/>
              <a:ext cx="774065" cy="715010"/>
            </a:xfrm>
            <a:custGeom>
              <a:avLst/>
              <a:gdLst/>
              <a:ahLst/>
              <a:cxnLst/>
              <a:rect l="l" t="t" r="r" b="b"/>
              <a:pathLst>
                <a:path w="774065" h="715010" extrusionOk="0">
                  <a:moveTo>
                    <a:pt x="0" y="714756"/>
                  </a:moveTo>
                  <a:lnTo>
                    <a:pt x="773772" y="714756"/>
                  </a:lnTo>
                  <a:lnTo>
                    <a:pt x="773772" y="0"/>
                  </a:lnTo>
                  <a:lnTo>
                    <a:pt x="0" y="0"/>
                  </a:lnTo>
                  <a:lnTo>
                    <a:pt x="0" y="714756"/>
                  </a:lnTo>
                  <a:close/>
                </a:path>
              </a:pathLst>
            </a:custGeom>
            <a:noFill/>
            <a:ln w="25900" cap="flat" cmpd="sng">
              <a:solidFill>
                <a:srgbClr val="39899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0" name="Google Shape;363;p13"/>
            <p:cNvSpPr/>
            <p:nvPr/>
          </p:nvSpPr>
          <p:spPr>
            <a:xfrm>
              <a:off x="8212835" y="4044695"/>
              <a:ext cx="350520" cy="1270"/>
            </a:xfrm>
            <a:custGeom>
              <a:avLst/>
              <a:gdLst/>
              <a:ahLst/>
              <a:cxnLst/>
              <a:rect l="l" t="t" r="r" b="b"/>
              <a:pathLst>
                <a:path w="350520" h="1270" extrusionOk="0">
                  <a:moveTo>
                    <a:pt x="0" y="0"/>
                  </a:moveTo>
                  <a:lnTo>
                    <a:pt x="350520" y="1269"/>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64;p13"/>
            <p:cNvSpPr/>
            <p:nvPr/>
          </p:nvSpPr>
          <p:spPr>
            <a:xfrm>
              <a:off x="8001000" y="3915155"/>
              <a:ext cx="281940" cy="260985"/>
            </a:xfrm>
            <a:custGeom>
              <a:avLst/>
              <a:gdLst/>
              <a:ahLst/>
              <a:cxnLst/>
              <a:rect l="l" t="t" r="r" b="b"/>
              <a:pathLst>
                <a:path w="281940" h="260985" extrusionOk="0">
                  <a:moveTo>
                    <a:pt x="140716" y="0"/>
                  </a:moveTo>
                  <a:lnTo>
                    <a:pt x="85978" y="10287"/>
                  </a:lnTo>
                  <a:lnTo>
                    <a:pt x="41148" y="38227"/>
                  </a:lnTo>
                  <a:lnTo>
                    <a:pt x="11049" y="79629"/>
                  </a:lnTo>
                  <a:lnTo>
                    <a:pt x="0" y="130302"/>
                  </a:lnTo>
                  <a:lnTo>
                    <a:pt x="11049" y="180975"/>
                  </a:lnTo>
                  <a:lnTo>
                    <a:pt x="41148" y="222377"/>
                  </a:lnTo>
                  <a:lnTo>
                    <a:pt x="85978" y="250317"/>
                  </a:lnTo>
                  <a:lnTo>
                    <a:pt x="140716" y="260604"/>
                  </a:lnTo>
                  <a:lnTo>
                    <a:pt x="195579" y="250317"/>
                  </a:lnTo>
                  <a:lnTo>
                    <a:pt x="240283" y="222377"/>
                  </a:lnTo>
                  <a:lnTo>
                    <a:pt x="270509" y="180975"/>
                  </a:lnTo>
                  <a:lnTo>
                    <a:pt x="281558" y="130302"/>
                  </a:lnTo>
                  <a:lnTo>
                    <a:pt x="270509" y="79629"/>
                  </a:lnTo>
                  <a:lnTo>
                    <a:pt x="240283" y="38227"/>
                  </a:lnTo>
                  <a:lnTo>
                    <a:pt x="195579" y="10287"/>
                  </a:lnTo>
                  <a:lnTo>
                    <a:pt x="140716"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6" name="Google Shape;365;p13"/>
            <p:cNvSpPr/>
            <p:nvPr/>
          </p:nvSpPr>
          <p:spPr>
            <a:xfrm>
              <a:off x="8001761" y="3915917"/>
              <a:ext cx="281940" cy="260985"/>
            </a:xfrm>
            <a:custGeom>
              <a:avLst/>
              <a:gdLst/>
              <a:ahLst/>
              <a:cxnLst/>
              <a:rect l="l" t="t" r="r" b="b"/>
              <a:pathLst>
                <a:path w="281940" h="260985" extrusionOk="0">
                  <a:moveTo>
                    <a:pt x="0" y="130301"/>
                  </a:moveTo>
                  <a:lnTo>
                    <a:pt x="11049" y="79628"/>
                  </a:lnTo>
                  <a:lnTo>
                    <a:pt x="41148" y="38226"/>
                  </a:lnTo>
                  <a:lnTo>
                    <a:pt x="85979" y="10286"/>
                  </a:lnTo>
                  <a:lnTo>
                    <a:pt x="140716" y="0"/>
                  </a:lnTo>
                  <a:lnTo>
                    <a:pt x="195580" y="10286"/>
                  </a:lnTo>
                  <a:lnTo>
                    <a:pt x="240284" y="38226"/>
                  </a:lnTo>
                  <a:lnTo>
                    <a:pt x="270510" y="79628"/>
                  </a:lnTo>
                  <a:lnTo>
                    <a:pt x="281559" y="130301"/>
                  </a:lnTo>
                  <a:lnTo>
                    <a:pt x="270510" y="180974"/>
                  </a:lnTo>
                  <a:lnTo>
                    <a:pt x="240284" y="222376"/>
                  </a:lnTo>
                  <a:lnTo>
                    <a:pt x="195580" y="250316"/>
                  </a:lnTo>
                  <a:lnTo>
                    <a:pt x="140716" y="260603"/>
                  </a:lnTo>
                  <a:lnTo>
                    <a:pt x="85979" y="250316"/>
                  </a:lnTo>
                  <a:lnTo>
                    <a:pt x="41148" y="222376"/>
                  </a:lnTo>
                  <a:lnTo>
                    <a:pt x="11049" y="180974"/>
                  </a:lnTo>
                  <a:lnTo>
                    <a:pt x="0" y="130301"/>
                  </a:lnTo>
                  <a:close/>
                </a:path>
              </a:pathLst>
            </a:custGeom>
            <a:noFill/>
            <a:ln w="25900" cap="flat" cmpd="sng">
              <a:solidFill>
                <a:srgbClr val="00AD5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7" name="Google Shape;366;p13"/>
            <p:cNvSpPr/>
            <p:nvPr/>
          </p:nvSpPr>
          <p:spPr>
            <a:xfrm>
              <a:off x="8212835" y="4369307"/>
              <a:ext cx="350520" cy="1270"/>
            </a:xfrm>
            <a:custGeom>
              <a:avLst/>
              <a:gdLst/>
              <a:ahLst/>
              <a:cxnLst/>
              <a:rect l="l" t="t" r="r" b="b"/>
              <a:pathLst>
                <a:path w="350520" h="1270" extrusionOk="0">
                  <a:moveTo>
                    <a:pt x="0" y="0"/>
                  </a:moveTo>
                  <a:lnTo>
                    <a:pt x="350520" y="127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8" name="Google Shape;367;p13"/>
            <p:cNvSpPr/>
            <p:nvPr/>
          </p:nvSpPr>
          <p:spPr>
            <a:xfrm>
              <a:off x="8001000" y="4238244"/>
              <a:ext cx="281940" cy="260985"/>
            </a:xfrm>
            <a:custGeom>
              <a:avLst/>
              <a:gdLst/>
              <a:ahLst/>
              <a:cxnLst/>
              <a:rect l="l" t="t" r="r" b="b"/>
              <a:pathLst>
                <a:path w="281940" h="260985" extrusionOk="0">
                  <a:moveTo>
                    <a:pt x="140716" y="0"/>
                  </a:moveTo>
                  <a:lnTo>
                    <a:pt x="85978" y="10286"/>
                  </a:lnTo>
                  <a:lnTo>
                    <a:pt x="41148" y="38226"/>
                  </a:lnTo>
                  <a:lnTo>
                    <a:pt x="11049" y="79628"/>
                  </a:lnTo>
                  <a:lnTo>
                    <a:pt x="0" y="130301"/>
                  </a:lnTo>
                  <a:lnTo>
                    <a:pt x="11049" y="180974"/>
                  </a:lnTo>
                  <a:lnTo>
                    <a:pt x="41148" y="222376"/>
                  </a:lnTo>
                  <a:lnTo>
                    <a:pt x="85978" y="250316"/>
                  </a:lnTo>
                  <a:lnTo>
                    <a:pt x="140716" y="260603"/>
                  </a:lnTo>
                  <a:lnTo>
                    <a:pt x="195579" y="250316"/>
                  </a:lnTo>
                  <a:lnTo>
                    <a:pt x="240283" y="222376"/>
                  </a:lnTo>
                  <a:lnTo>
                    <a:pt x="270509" y="180974"/>
                  </a:lnTo>
                  <a:lnTo>
                    <a:pt x="281558" y="130301"/>
                  </a:lnTo>
                  <a:lnTo>
                    <a:pt x="270509" y="79628"/>
                  </a:lnTo>
                  <a:lnTo>
                    <a:pt x="240283" y="38226"/>
                  </a:lnTo>
                  <a:lnTo>
                    <a:pt x="195579" y="10286"/>
                  </a:lnTo>
                  <a:lnTo>
                    <a:pt x="140716"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9" name="Google Shape;368;p13"/>
            <p:cNvSpPr/>
            <p:nvPr/>
          </p:nvSpPr>
          <p:spPr>
            <a:xfrm>
              <a:off x="8001761" y="4239005"/>
              <a:ext cx="281940" cy="260985"/>
            </a:xfrm>
            <a:custGeom>
              <a:avLst/>
              <a:gdLst/>
              <a:ahLst/>
              <a:cxnLst/>
              <a:rect l="l" t="t" r="r" b="b"/>
              <a:pathLst>
                <a:path w="281940" h="260985" extrusionOk="0">
                  <a:moveTo>
                    <a:pt x="0" y="130302"/>
                  </a:moveTo>
                  <a:lnTo>
                    <a:pt x="11049" y="79629"/>
                  </a:lnTo>
                  <a:lnTo>
                    <a:pt x="41148" y="38227"/>
                  </a:lnTo>
                  <a:lnTo>
                    <a:pt x="85979" y="10287"/>
                  </a:lnTo>
                  <a:lnTo>
                    <a:pt x="140716" y="0"/>
                  </a:lnTo>
                  <a:lnTo>
                    <a:pt x="195580" y="10287"/>
                  </a:lnTo>
                  <a:lnTo>
                    <a:pt x="240284" y="38227"/>
                  </a:lnTo>
                  <a:lnTo>
                    <a:pt x="270510" y="79629"/>
                  </a:lnTo>
                  <a:lnTo>
                    <a:pt x="281559" y="130302"/>
                  </a:lnTo>
                  <a:lnTo>
                    <a:pt x="270510" y="180975"/>
                  </a:lnTo>
                  <a:lnTo>
                    <a:pt x="240284" y="222377"/>
                  </a:lnTo>
                  <a:lnTo>
                    <a:pt x="195580" y="250317"/>
                  </a:lnTo>
                  <a:lnTo>
                    <a:pt x="140716" y="260604"/>
                  </a:lnTo>
                  <a:lnTo>
                    <a:pt x="85979" y="250317"/>
                  </a:lnTo>
                  <a:lnTo>
                    <a:pt x="41148" y="222377"/>
                  </a:lnTo>
                  <a:lnTo>
                    <a:pt x="11049" y="180975"/>
                  </a:lnTo>
                  <a:lnTo>
                    <a:pt x="0" y="130302"/>
                  </a:lnTo>
                  <a:close/>
                </a:path>
              </a:pathLst>
            </a:custGeom>
            <a:noFill/>
            <a:ln w="25900" cap="flat" cmpd="sng">
              <a:solidFill>
                <a:srgbClr val="2C2C8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60" name="Google Shape;370;p13"/>
          <p:cNvSpPr txBox="1"/>
          <p:nvPr/>
        </p:nvSpPr>
        <p:spPr>
          <a:xfrm rot="5400000">
            <a:off x="11269836" y="5371608"/>
            <a:ext cx="674370" cy="308610"/>
          </a:xfrm>
          <a:prstGeom prst="rect">
            <a:avLst/>
          </a:prstGeom>
          <a:noFill/>
          <a:ln>
            <a:noFill/>
          </a:ln>
        </p:spPr>
        <p:txBody>
          <a:bodyPr spcFirstLastPara="1" wrap="square" lIns="0" tIns="0" rIns="0" bIns="0" anchor="t" anchorCtr="0">
            <a:spAutoFit/>
          </a:bodyPr>
          <a:lstStyle/>
          <a:p>
            <a:pPr marL="12700" marR="0" lvl="0" indent="0" algn="l" rtl="0">
              <a:lnSpc>
                <a:spcPct val="115000"/>
              </a:lnSpc>
              <a:spcBef>
                <a:spcPts val="0"/>
              </a:spcBef>
              <a:spcAft>
                <a:spcPts val="0"/>
              </a:spcAft>
              <a:buNone/>
            </a:pPr>
            <a:r>
              <a:rPr lang="fr-FR" sz="2000" b="1">
                <a:solidFill>
                  <a:schemeClr val="dk1"/>
                </a:solidFill>
                <a:latin typeface="Arial" panose="020B0604020202020204"/>
                <a:ea typeface="Arial" panose="020B0604020202020204"/>
                <a:cs typeface="Arial" panose="020B0604020202020204"/>
                <a:sym typeface="Arial" panose="020B0604020202020204"/>
              </a:rPr>
              <a:t>Objet</a:t>
            </a:r>
            <a:endParaRPr sz="2000">
              <a:solidFill>
                <a:schemeClr val="dk1"/>
              </a:solidFill>
              <a:latin typeface="Arial" panose="020B0604020202020204"/>
              <a:ea typeface="Arial" panose="020B0604020202020204"/>
              <a:cs typeface="Arial" panose="020B0604020202020204"/>
              <a:sym typeface="Arial" panose="020B0604020202020204"/>
            </a:endParaRPr>
          </a:p>
        </p:txBody>
      </p:sp>
      <p:sp>
        <p:nvSpPr>
          <p:cNvPr id="261" name="Google Shape;371;p13"/>
          <p:cNvSpPr txBox="1"/>
          <p:nvPr/>
        </p:nvSpPr>
        <p:spPr>
          <a:xfrm rot="5400000">
            <a:off x="10858039" y="4017766"/>
            <a:ext cx="1421765" cy="308610"/>
          </a:xfrm>
          <a:prstGeom prst="rect">
            <a:avLst/>
          </a:prstGeom>
          <a:noFill/>
          <a:ln>
            <a:noFill/>
          </a:ln>
        </p:spPr>
        <p:txBody>
          <a:bodyPr spcFirstLastPara="1" wrap="square" lIns="0" tIns="0" rIns="0" bIns="0" anchor="t" anchorCtr="0">
            <a:spAutoFit/>
          </a:bodyPr>
          <a:lstStyle/>
          <a:p>
            <a:pPr marL="12700" marR="0" lvl="0" indent="0" algn="l" rtl="0">
              <a:lnSpc>
                <a:spcPct val="115000"/>
              </a:lnSpc>
              <a:spcBef>
                <a:spcPts val="0"/>
              </a:spcBef>
              <a:spcAft>
                <a:spcPts val="0"/>
              </a:spcAft>
              <a:buNone/>
            </a:pPr>
            <a:r>
              <a:rPr lang="fr-FR" sz="2000" b="1" dirty="0">
                <a:solidFill>
                  <a:schemeClr val="dk1"/>
                </a:solidFill>
                <a:latin typeface="Arial" panose="020B0604020202020204"/>
                <a:ea typeface="Arial" panose="020B0604020202020204"/>
                <a:cs typeface="Arial" panose="020B0604020202020204"/>
                <a:sym typeface="Arial" panose="020B0604020202020204"/>
              </a:rPr>
              <a:t>Composant</a:t>
            </a:r>
            <a:endParaRPr sz="20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262" name="Google Shape;372;p13"/>
          <p:cNvSpPr txBox="1"/>
          <p:nvPr/>
        </p:nvSpPr>
        <p:spPr>
          <a:xfrm rot="5400000">
            <a:off x="11106006" y="2494551"/>
            <a:ext cx="925830" cy="308610"/>
          </a:xfrm>
          <a:prstGeom prst="rect">
            <a:avLst/>
          </a:prstGeom>
          <a:noFill/>
          <a:ln>
            <a:noFill/>
          </a:ln>
        </p:spPr>
        <p:txBody>
          <a:bodyPr spcFirstLastPara="1" wrap="square" lIns="0" tIns="0" rIns="0" bIns="0" anchor="t" anchorCtr="0">
            <a:spAutoFit/>
          </a:bodyPr>
          <a:lstStyle/>
          <a:p>
            <a:pPr marL="12700" marR="0" lvl="0" indent="0" algn="l" rtl="0">
              <a:lnSpc>
                <a:spcPct val="115000"/>
              </a:lnSpc>
              <a:spcBef>
                <a:spcPts val="0"/>
              </a:spcBef>
              <a:spcAft>
                <a:spcPts val="0"/>
              </a:spcAft>
              <a:buNone/>
            </a:pPr>
            <a:r>
              <a:rPr lang="fr-FR" sz="2000" b="1" dirty="0">
                <a:solidFill>
                  <a:schemeClr val="dk1"/>
                </a:solidFill>
                <a:latin typeface="Arial" panose="020B0604020202020204"/>
                <a:ea typeface="Arial" panose="020B0604020202020204"/>
                <a:cs typeface="Arial" panose="020B0604020202020204"/>
                <a:sym typeface="Arial" panose="020B0604020202020204"/>
              </a:rPr>
              <a:t>Service</a:t>
            </a:r>
            <a:endParaRPr sz="20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263" name="Rectangle 262"/>
          <p:cNvSpPr/>
          <p:nvPr/>
        </p:nvSpPr>
        <p:spPr>
          <a:xfrm>
            <a:off x="8399565" y="2420938"/>
            <a:ext cx="2357437" cy="78581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fr-FR"/>
          </a:p>
        </p:txBody>
      </p:sp>
      <p:sp>
        <p:nvSpPr>
          <p:cNvPr id="264" name="Ellipse 263"/>
          <p:cNvSpPr/>
          <p:nvPr/>
        </p:nvSpPr>
        <p:spPr>
          <a:xfrm>
            <a:off x="8613877" y="2635250"/>
            <a:ext cx="285750" cy="285750"/>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65" name="Ellipse 264"/>
          <p:cNvSpPr/>
          <p:nvPr/>
        </p:nvSpPr>
        <p:spPr>
          <a:xfrm>
            <a:off x="9185377" y="2635250"/>
            <a:ext cx="285750" cy="285750"/>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66" name="Ellipse 265"/>
          <p:cNvSpPr/>
          <p:nvPr/>
        </p:nvSpPr>
        <p:spPr>
          <a:xfrm>
            <a:off x="9756877" y="2635250"/>
            <a:ext cx="285750" cy="285750"/>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267" name="Ellipse 266"/>
          <p:cNvSpPr/>
          <p:nvPr/>
        </p:nvSpPr>
        <p:spPr>
          <a:xfrm>
            <a:off x="10256940" y="2635250"/>
            <a:ext cx="285750" cy="285750"/>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cxnSp>
        <p:nvCxnSpPr>
          <p:cNvPr id="268" name="Connecteur droit avec flèche 267"/>
          <p:cNvCxnSpPr/>
          <p:nvPr/>
        </p:nvCxnSpPr>
        <p:spPr>
          <a:xfrm flipV="1">
            <a:off x="8212835" y="2921000"/>
            <a:ext cx="583526" cy="984013"/>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69" name="Connecteur droit avec flèche 268"/>
          <p:cNvCxnSpPr>
            <a:endCxn id="267" idx="4"/>
          </p:cNvCxnSpPr>
          <p:nvPr/>
        </p:nvCxnSpPr>
        <p:spPr>
          <a:xfrm flipV="1">
            <a:off x="9756876" y="2921000"/>
            <a:ext cx="642939" cy="993775"/>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82" name="Connecteur droit 281"/>
          <p:cNvCxnSpPr/>
          <p:nvPr/>
        </p:nvCxnSpPr>
        <p:spPr>
          <a:xfrm rot="10800000">
            <a:off x="8039176" y="4989490"/>
            <a:ext cx="3643312"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83" name="Connecteur droit avec flèche 282"/>
          <p:cNvCxnSpPr/>
          <p:nvPr/>
        </p:nvCxnSpPr>
        <p:spPr>
          <a:xfrm rot="16200000" flipV="1">
            <a:off x="9075019" y="4528344"/>
            <a:ext cx="785813" cy="428625"/>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84" name="Connecteur droit avec flèche 283"/>
          <p:cNvCxnSpPr/>
          <p:nvPr/>
        </p:nvCxnSpPr>
        <p:spPr>
          <a:xfrm rot="5400000" flipH="1" flipV="1">
            <a:off x="9753676" y="4421188"/>
            <a:ext cx="857250" cy="571500"/>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85" name="Connecteur droit 284"/>
          <p:cNvCxnSpPr/>
          <p:nvPr/>
        </p:nvCxnSpPr>
        <p:spPr>
          <a:xfrm rot="10800000">
            <a:off x="8039176" y="3369668"/>
            <a:ext cx="3643312" cy="1588"/>
          </a:xfrm>
          <a:prstGeom prst="line">
            <a:avLst/>
          </a:prstGeom>
          <a:ln>
            <a:prstDash val="sysDot"/>
          </a:ln>
        </p:spPr>
        <p:style>
          <a:lnRef idx="1">
            <a:schemeClr val="dk1"/>
          </a:lnRef>
          <a:fillRef idx="0">
            <a:schemeClr val="dk1"/>
          </a:fillRef>
          <a:effectRef idx="0">
            <a:schemeClr val="dk1"/>
          </a:effectRef>
          <a:fontRef idx="minor">
            <a:schemeClr val="tx1"/>
          </a:fontRef>
        </p:style>
      </p:cxnSp>
      <p:pic>
        <p:nvPicPr>
          <p:cNvPr id="32" name="Google Shape;63;p1" descr="Picture 3">
            <a:extLst>
              <a:ext uri="{FF2B5EF4-FFF2-40B4-BE49-F238E27FC236}">
                <a16:creationId xmlns:a16="http://schemas.microsoft.com/office/drawing/2014/main" id="{950A867A-8AEB-2E3F-D846-09F9295103F3}"/>
              </a:ext>
            </a:extLst>
          </p:cNvPr>
          <p:cNvPicPr preferRelativeResize="0"/>
          <p:nvPr/>
        </p:nvPicPr>
        <p:blipFill rotWithShape="1">
          <a:blip r:embed="rId11"/>
          <a:srcRect/>
          <a:stretch>
            <a:fillRect/>
          </a:stretch>
        </p:blipFill>
        <p:spPr>
          <a:xfrm flipH="1">
            <a:off x="9682238" y="71322"/>
            <a:ext cx="2846625" cy="15254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 name="Google Shape;274;g25b1bb62912_0_245" descr="Picture 2">
            <a:extLst>
              <a:ext uri="{FF2B5EF4-FFF2-40B4-BE49-F238E27FC236}">
                <a16:creationId xmlns:a16="http://schemas.microsoft.com/office/drawing/2014/main" id="{2D4FAF1D-66D1-4AD1-BCA1-63D32CE90B3A}"/>
              </a:ext>
            </a:extLst>
          </p:cNvPr>
          <p:cNvPicPr preferRelativeResize="0"/>
          <p:nvPr/>
        </p:nvPicPr>
        <p:blipFill rotWithShape="1">
          <a:blip r:embed="rId3"/>
          <a:srcRect/>
          <a:stretch>
            <a:fillRect/>
          </a:stretch>
        </p:blipFill>
        <p:spPr>
          <a:xfrm>
            <a:off x="-1160" y="-50173"/>
            <a:ext cx="12652622" cy="6886241"/>
          </a:xfrm>
          <a:prstGeom prst="rect">
            <a:avLst/>
          </a:prstGeom>
          <a:noFill/>
          <a:ln>
            <a:noFill/>
          </a:ln>
        </p:spPr>
      </p:pic>
      <p:pic>
        <p:nvPicPr>
          <p:cNvPr id="275" name="Google Shape;275;g25b1bb62912_0_245"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76" name="Google Shape;276;g25b1bb62912_0_24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25</a:t>
            </a:fld>
            <a:endParaRPr lang="fr-FR"/>
          </a:p>
        </p:txBody>
      </p:sp>
      <p:sp>
        <p:nvSpPr>
          <p:cNvPr id="279" name="Google Shape;279;g25b1bb62912_0_245"/>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8000"/>
              </a:lnSpc>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Paradigmes des architectures logicielles</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g25b1bb62912_0_245"/>
          <p:cNvSpPr txBox="1"/>
          <p:nvPr/>
        </p:nvSpPr>
        <p:spPr>
          <a:xfrm>
            <a:off x="695100" y="1197064"/>
            <a:ext cx="47913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Paradigme </a:t>
            </a:r>
            <a:r>
              <a:rPr lang="fr-FR" sz="27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Microservice</a:t>
            </a:r>
            <a:endParaRPr sz="27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g25b1bb62912_0_245"/>
          <p:cNvSpPr txBox="1"/>
          <p:nvPr/>
        </p:nvSpPr>
        <p:spPr>
          <a:xfrm>
            <a:off x="354036" y="1704101"/>
            <a:ext cx="4885097" cy="4801284"/>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Prise en charge de la décentralisation et de l'autonomie des composants logiciels, tout en permettant une diversité technologique (langages, </a:t>
            </a:r>
            <a:r>
              <a:rPr lang="fr-FR" sz="2000" dirty="0" err="1">
                <a:latin typeface="Times New Roman" panose="02020603050405020304"/>
                <a:ea typeface="Times New Roman" panose="02020603050405020304"/>
                <a:cs typeface="Times New Roman" panose="02020603050405020304"/>
                <a:sym typeface="Times New Roman" panose="02020603050405020304"/>
              </a:rPr>
              <a:t>frameworks</a:t>
            </a:r>
            <a:r>
              <a:rPr lang="fr-FR" sz="2000" dirty="0">
                <a:latin typeface="Times New Roman" panose="02020603050405020304"/>
                <a:ea typeface="Times New Roman" panose="02020603050405020304"/>
                <a:cs typeface="Times New Roman" panose="02020603050405020304"/>
                <a:sym typeface="Times New Roman" panose="02020603050405020304"/>
              </a:rPr>
              <a:t>, bases de données) et une indépendance des cycles de déploiement.</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Times New Roman" panose="02020603050405020304"/>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 Le paradigme </a:t>
            </a:r>
            <a:r>
              <a:rPr lang="fr-FR" sz="2000" dirty="0" err="1">
                <a:latin typeface="Times New Roman" panose="02020603050405020304"/>
                <a:ea typeface="Times New Roman" panose="02020603050405020304"/>
                <a:cs typeface="Times New Roman" panose="02020603050405020304"/>
                <a:sym typeface="Times New Roman" panose="02020603050405020304"/>
              </a:rPr>
              <a:t>Microservice</a:t>
            </a:r>
            <a:r>
              <a:rPr lang="fr-FR" sz="2000" dirty="0">
                <a:latin typeface="Times New Roman" panose="02020603050405020304"/>
                <a:ea typeface="Times New Roman" panose="02020603050405020304"/>
                <a:cs typeface="Times New Roman" panose="02020603050405020304"/>
                <a:sym typeface="Times New Roman" panose="02020603050405020304"/>
              </a:rPr>
              <a:t> permet de:</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Réduire le couplage</a:t>
            </a: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Améliorer la scalabilité</a:t>
            </a: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Faciliter l'évolution et la maintenance</a:t>
            </a: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Garantir une hétérogénéité technologique, chaque service pouvant utiliser le stack technique la plus adaptée à son domaine.</a:t>
            </a:r>
            <a:endParaRPr dirty="0"/>
          </a:p>
        </p:txBody>
      </p:sp>
      <p:pic>
        <p:nvPicPr>
          <p:cNvPr id="33" name="Image 32" descr="Une image contenant texte, diagramme, Police, ligne&#10;&#10;Le contenu généré par l’IA peut être incorrect."/>
          <p:cNvPicPr>
            <a:picLocks noChangeAspect="1"/>
          </p:cNvPicPr>
          <p:nvPr/>
        </p:nvPicPr>
        <p:blipFill>
          <a:blip r:embed="rId5"/>
          <a:stretch>
            <a:fillRect/>
          </a:stretch>
        </p:blipFill>
        <p:spPr>
          <a:xfrm>
            <a:off x="5486400" y="2917168"/>
            <a:ext cx="6351564" cy="2832431"/>
          </a:xfrm>
          <a:prstGeom prst="rect">
            <a:avLst/>
          </a:prstGeom>
        </p:spPr>
      </p:pic>
      <p:pic>
        <p:nvPicPr>
          <p:cNvPr id="5" name="Google Shape;63;p1" descr="Picture 3">
            <a:extLst>
              <a:ext uri="{FF2B5EF4-FFF2-40B4-BE49-F238E27FC236}">
                <a16:creationId xmlns:a16="http://schemas.microsoft.com/office/drawing/2014/main" id="{83BE5EAF-4D44-5B7E-2025-F77614608520}"/>
              </a:ext>
            </a:extLst>
          </p:cNvPr>
          <p:cNvPicPr preferRelativeResize="0"/>
          <p:nvPr/>
        </p:nvPicPr>
        <p:blipFill rotWithShape="1">
          <a:blip r:embed="rId6"/>
          <a:srcRect/>
          <a:stretch>
            <a:fillRect/>
          </a:stretch>
        </p:blipFill>
        <p:spPr>
          <a:xfrm flipH="1">
            <a:off x="9765625" y="62049"/>
            <a:ext cx="2846625" cy="15254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2" name="Google Shape;59;p1"/>
          <p:cNvGrpSpPr/>
          <p:nvPr/>
        </p:nvGrpSpPr>
        <p:grpSpPr>
          <a:xfrm>
            <a:off x="0" y="0"/>
            <a:ext cx="12504712" cy="8829600"/>
            <a:chOff x="0" y="0"/>
            <a:chExt cx="12192000" cy="6858000"/>
          </a:xfrm>
        </p:grpSpPr>
        <p:sp>
          <p:nvSpPr>
            <p:cNvPr id="60" name="Google Shape;60;p1"/>
            <p:cNvSpPr/>
            <p:nvPr/>
          </p:nvSpPr>
          <p:spPr>
            <a:xfrm>
              <a:off x="0" y="0"/>
              <a:ext cx="12192000" cy="6858000"/>
            </a:xfrm>
            <a:prstGeom prst="rect">
              <a:avLst/>
            </a:prstGeom>
            <a:blipFill rotWithShape="1">
              <a:blip r:embed="rId3" cstate="print"/>
              <a:tile tx="0" ty="0" sx="100000" sy="100000" flip="none" algn="tl"/>
            </a:blip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61" name="Google Shape;61;p1" descr="image2.png"/>
            <p:cNvPicPr preferRelativeResize="0"/>
            <p:nvPr/>
          </p:nvPicPr>
          <p:blipFill rotWithShape="1">
            <a:blip r:embed="rId4" cstate="print"/>
            <a:srcRect/>
            <a:stretch>
              <a:fillRect/>
            </a:stretch>
          </p:blipFill>
          <p:spPr>
            <a:xfrm>
              <a:off x="0" y="0"/>
              <a:ext cx="12192000" cy="6858000"/>
            </a:xfrm>
            <a:prstGeom prst="rect">
              <a:avLst/>
            </a:prstGeom>
            <a:noFill/>
            <a:ln>
              <a:noFill/>
            </a:ln>
          </p:spPr>
        </p:pic>
      </p:grpSp>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26</a:t>
            </a:fld>
            <a:endParaRPr lang="fr-FR"/>
          </a:p>
        </p:txBody>
      </p:sp>
      <p:sp>
        <p:nvSpPr>
          <p:cNvPr id="5" name="Espace réservé du texte 2"/>
          <p:cNvSpPr>
            <a:spLocks noGrp="1"/>
          </p:cNvSpPr>
          <p:nvPr>
            <p:ph type="body" idx="1"/>
          </p:nvPr>
        </p:nvSpPr>
        <p:spPr>
          <a:xfrm>
            <a:off x="1814721" y="2513008"/>
            <a:ext cx="8202636" cy="2422825"/>
          </a:xfrm>
        </p:spPr>
        <p:txBody>
          <a:bodyPr>
            <a:normAutofit lnSpcReduction="10000"/>
          </a:bodyPr>
          <a:lstStyle/>
          <a:p>
            <a:pPr marL="114300" indent="0">
              <a:buNone/>
            </a:pPr>
            <a:r>
              <a:rPr kumimoji="0" lang="fr-FR" sz="6000" b="1" i="0" u="none" strike="noStrike" kern="1200" cap="none" spc="10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sym typeface="Times New Roman" panose="02020603050405020304"/>
              </a:rPr>
              <a:t>Les techniques de communication sur le web</a:t>
            </a:r>
            <a:endParaRPr lang="fr-FR" sz="2800" dirty="0">
              <a:solidFill>
                <a:srgbClr val="C00000"/>
              </a:solidFill>
              <a:latin typeface="Times New Roman" panose="02020603050405020304" pitchFamily="18" charset="0"/>
              <a:cs typeface="Times New Roman" panose="02020603050405020304" pitchFamily="18" charset="0"/>
            </a:endParaRPr>
          </a:p>
        </p:txBody>
      </p:sp>
      <p:pic>
        <p:nvPicPr>
          <p:cNvPr id="3" name="Google Shape;63;p1" descr="Picture 3">
            <a:extLst>
              <a:ext uri="{FF2B5EF4-FFF2-40B4-BE49-F238E27FC236}">
                <a16:creationId xmlns:a16="http://schemas.microsoft.com/office/drawing/2014/main" id="{F5AD8BB2-FB9C-EAB7-C5E8-9FE78475FC75}"/>
              </a:ext>
            </a:extLst>
          </p:cNvPr>
          <p:cNvPicPr preferRelativeResize="0"/>
          <p:nvPr/>
        </p:nvPicPr>
        <p:blipFill rotWithShape="1">
          <a:blip r:embed="rId5"/>
          <a:srcRect/>
          <a:stretch>
            <a:fillRect/>
          </a:stretch>
        </p:blipFill>
        <p:spPr>
          <a:xfrm flipH="1">
            <a:off x="9658087" y="93094"/>
            <a:ext cx="2846625" cy="15254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pic>
        <p:nvPicPr>
          <p:cNvPr id="297" name="Google Shape;297;g25b1bb62912_0_50"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98" name="Google Shape;298;g25b1bb62912_0_5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27</a:t>
            </a:fld>
            <a:endParaRPr lang="fr-FR"/>
          </a:p>
        </p:txBody>
      </p:sp>
      <p:sp>
        <p:nvSpPr>
          <p:cNvPr id="301" name="Google Shape;301;g25b1bb62912_0_50"/>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sym typeface="Calibri" panose="020F05020202040302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9pPr>
          </a:lstStyle>
          <a:p>
            <a:r>
              <a:rPr lang="fr-FR" dirty="0">
                <a:sym typeface="Times New Roman" panose="02020603050405020304"/>
              </a:rPr>
              <a:t>Middlewares </a:t>
            </a:r>
            <a:endParaRPr dirty="0">
              <a:sym typeface="Times New Roman" panose="02020603050405020304"/>
            </a:endParaRPr>
          </a:p>
        </p:txBody>
      </p:sp>
      <p:sp>
        <p:nvSpPr>
          <p:cNvPr id="303" name="Google Shape;303;g25b1bb62912_0_50"/>
          <p:cNvSpPr txBox="1"/>
          <p:nvPr/>
        </p:nvSpPr>
        <p:spPr>
          <a:xfrm>
            <a:off x="831825" y="1307300"/>
            <a:ext cx="88833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dirty="0">
                <a:latin typeface="Times New Roman" panose="02020603050405020304"/>
                <a:ea typeface="Times New Roman" panose="02020603050405020304"/>
                <a:cs typeface="Times New Roman" panose="02020603050405020304"/>
                <a:sym typeface="Times New Roman" panose="02020603050405020304"/>
              </a:rPr>
              <a:t>Un logiciel servant d'intermédiaire entre d'autres logiciels</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fr-FR" sz="2000" dirty="0">
                <a:latin typeface="Times New Roman" panose="02020603050405020304"/>
                <a:ea typeface="Times New Roman" panose="02020603050405020304"/>
                <a:cs typeface="Times New Roman" panose="02020603050405020304"/>
                <a:sym typeface="Times New Roman" panose="02020603050405020304"/>
              </a:rPr>
              <a:t>Un intermédiaire de communication entre des applications complexes et distribuées</a:t>
            </a:r>
            <a:endParaRPr sz="2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304" name="Google Shape;304;g25b1bb62912_0_50"/>
          <p:cNvSpPr txBox="1"/>
          <p:nvPr/>
        </p:nvSpPr>
        <p:spPr>
          <a:xfrm>
            <a:off x="831825" y="4559600"/>
            <a:ext cx="10127400" cy="1723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fr-FR" sz="2000" dirty="0">
                <a:latin typeface="Times New Roman" panose="02020603050405020304"/>
                <a:ea typeface="Times New Roman" panose="02020603050405020304"/>
                <a:cs typeface="Times New Roman" panose="02020603050405020304"/>
                <a:sym typeface="Times New Roman" panose="02020603050405020304"/>
              </a:rPr>
              <a:t>Le middleware joue un rôle essentiel en simplifiant la communication et l'intégration entre applications, services ou composants logiciels dans un environnement distribué. </a:t>
            </a:r>
          </a:p>
          <a:p>
            <a:pPr marL="0" lvl="0" indent="0" algn="just" rtl="0">
              <a:spcBef>
                <a:spcPts val="0"/>
              </a:spcBef>
              <a:spcAft>
                <a:spcPts val="0"/>
              </a:spcAft>
              <a:buNone/>
            </a:pPr>
            <a:r>
              <a:rPr lang="fr-FR" sz="2000" dirty="0">
                <a:latin typeface="Times New Roman" panose="02020603050405020304"/>
                <a:ea typeface="Times New Roman" panose="02020603050405020304"/>
                <a:cs typeface="Times New Roman" panose="02020603050405020304"/>
                <a:sym typeface="Times New Roman" panose="02020603050405020304"/>
              </a:rPr>
              <a:t>Il agit comme une couche d'abstraction, permettant aux différents éléments du système de travailler harmonieusement ensemble, </a:t>
            </a:r>
            <a:r>
              <a:rPr lang="fr-FR" sz="2000"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indépendamment de leurs différences techniques, langages de programmation ou plates-formes de développement</a:t>
            </a:r>
            <a:r>
              <a:rPr lang="fr-FR" sz="2000" dirty="0">
                <a:latin typeface="Times New Roman" panose="02020603050405020304"/>
                <a:ea typeface="Times New Roman" panose="02020603050405020304"/>
                <a:cs typeface="Times New Roman" panose="02020603050405020304"/>
                <a:sym typeface="Times New Roman" panose="02020603050405020304"/>
              </a:rPr>
              <a:t>.</a:t>
            </a:r>
            <a:endParaRPr sz="20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6815" y="2122301"/>
            <a:ext cx="6457420" cy="2601019"/>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63;p1" descr="Picture 3">
            <a:extLst>
              <a:ext uri="{FF2B5EF4-FFF2-40B4-BE49-F238E27FC236}">
                <a16:creationId xmlns:a16="http://schemas.microsoft.com/office/drawing/2014/main" id="{E18BD421-08F4-85C1-5D06-B9C809F8C288}"/>
              </a:ext>
            </a:extLst>
          </p:cNvPr>
          <p:cNvPicPr preferRelativeResize="0"/>
          <p:nvPr/>
        </p:nvPicPr>
        <p:blipFill rotWithShape="1">
          <a:blip r:embed="rId6"/>
          <a:srcRect/>
          <a:stretch>
            <a:fillRect/>
          </a:stretch>
        </p:blipFill>
        <p:spPr>
          <a:xfrm flipH="1">
            <a:off x="9758614" y="55443"/>
            <a:ext cx="2846625" cy="15254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g25b1bb62912_0_50" descr="Picture 2"/>
          <p:cNvPicPr preferRelativeResize="0"/>
          <p:nvPr/>
        </p:nvPicPr>
        <p:blipFill rotWithShape="1">
          <a:blip r:embed="rId3"/>
          <a:srcRect/>
          <a:stretch>
            <a:fillRect/>
          </a:stretch>
        </p:blipFill>
        <p:spPr>
          <a:xfrm>
            <a:off x="0" y="0"/>
            <a:ext cx="12652622" cy="6886241"/>
          </a:xfrm>
          <a:prstGeom prst="rect">
            <a:avLst/>
          </a:prstGeom>
          <a:noFill/>
          <a:ln>
            <a:noFill/>
          </a:ln>
        </p:spPr>
      </p:pic>
      <p:pic>
        <p:nvPicPr>
          <p:cNvPr id="297" name="Google Shape;297;g25b1bb62912_0_50"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298" name="Google Shape;298;g25b1bb62912_0_5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28</a:t>
            </a:fld>
            <a:endParaRPr lang="fr-FR"/>
          </a:p>
        </p:txBody>
      </p:sp>
      <p:sp>
        <p:nvSpPr>
          <p:cNvPr id="301" name="Google Shape;301;g25b1bb62912_0_50"/>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sym typeface="Calibri" panose="020F05020202040302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sym typeface="Calibri" panose="020F0502020204030204"/>
              </a:defRPr>
            </a:lvl9pPr>
          </a:lstStyle>
          <a:p>
            <a:r>
              <a:rPr lang="fr-FR" dirty="0">
                <a:sym typeface="Times New Roman" panose="02020603050405020304"/>
              </a:rPr>
              <a:t>Middlewares </a:t>
            </a:r>
            <a:endParaRPr dirty="0">
              <a:sym typeface="Times New Roman" panose="02020603050405020304"/>
            </a:endParaRPr>
          </a:p>
        </p:txBody>
      </p:sp>
      <p:sp>
        <p:nvSpPr>
          <p:cNvPr id="3" name="object 3"/>
          <p:cNvSpPr txBox="1"/>
          <p:nvPr/>
        </p:nvSpPr>
        <p:spPr>
          <a:xfrm>
            <a:off x="1974641" y="1415222"/>
            <a:ext cx="2087368" cy="355076"/>
          </a:xfrm>
          <a:prstGeom prst="rect">
            <a:avLst/>
          </a:prstGeom>
        </p:spPr>
        <p:txBody>
          <a:bodyPr vert="horz" wrap="square" lIns="0" tIns="12679" rIns="0" bIns="0" rtlCol="0">
            <a:spAutoFit/>
          </a:bodyPr>
          <a:lstStyle/>
          <a:p>
            <a:pPr marL="11430">
              <a:spcBef>
                <a:spcPts val="100"/>
              </a:spcBef>
            </a:pPr>
            <a:r>
              <a:rPr sz="2225" b="1" spc="-9" dirty="0">
                <a:latin typeface="Times New Roman" panose="02020603050405020304"/>
                <a:cs typeface="Times New Roman" panose="02020603050405020304"/>
              </a:rPr>
              <a:t>Fonctionnement:</a:t>
            </a:r>
            <a:endParaRPr sz="2225" dirty="0">
              <a:latin typeface="Times New Roman" panose="02020603050405020304"/>
              <a:cs typeface="Times New Roman" panose="02020603050405020304"/>
            </a:endParaRPr>
          </a:p>
        </p:txBody>
      </p:sp>
      <p:sp>
        <p:nvSpPr>
          <p:cNvPr id="4" name="object 4"/>
          <p:cNvSpPr/>
          <p:nvPr/>
        </p:nvSpPr>
        <p:spPr>
          <a:xfrm>
            <a:off x="2435680" y="2132142"/>
            <a:ext cx="1509335" cy="437414"/>
          </a:xfrm>
          <a:custGeom>
            <a:avLst/>
            <a:gdLst/>
            <a:ahLst/>
            <a:cxnLst/>
            <a:rect l="l" t="t" r="r" b="b"/>
            <a:pathLst>
              <a:path w="1663064" h="481964">
                <a:moveTo>
                  <a:pt x="1662683" y="481583"/>
                </a:moveTo>
                <a:lnTo>
                  <a:pt x="1662683" y="0"/>
                </a:lnTo>
                <a:lnTo>
                  <a:pt x="0" y="0"/>
                </a:lnTo>
                <a:lnTo>
                  <a:pt x="0" y="481583"/>
                </a:lnTo>
                <a:lnTo>
                  <a:pt x="1662683" y="481583"/>
                </a:lnTo>
                <a:close/>
              </a:path>
            </a:pathLst>
          </a:custGeom>
          <a:solidFill>
            <a:srgbClr val="F79545"/>
          </a:solidFill>
        </p:spPr>
        <p:txBody>
          <a:bodyPr wrap="square" lIns="0" tIns="0" rIns="0" bIns="0" rtlCol="0"/>
          <a:lstStyle/>
          <a:p>
            <a:endParaRPr sz="1270"/>
          </a:p>
        </p:txBody>
      </p:sp>
      <p:sp>
        <p:nvSpPr>
          <p:cNvPr id="5" name="object 5"/>
          <p:cNvSpPr txBox="1"/>
          <p:nvPr/>
        </p:nvSpPr>
        <p:spPr>
          <a:xfrm>
            <a:off x="2898569" y="2218818"/>
            <a:ext cx="584947" cy="231664"/>
          </a:xfrm>
          <a:prstGeom prst="rect">
            <a:avLst/>
          </a:prstGeom>
        </p:spPr>
        <p:txBody>
          <a:bodyPr vert="horz" wrap="square" lIns="0" tIns="14984" rIns="0" bIns="0" rtlCol="0">
            <a:spAutoFit/>
          </a:bodyPr>
          <a:lstStyle/>
          <a:p>
            <a:pPr marL="11430">
              <a:spcBef>
                <a:spcPts val="120"/>
              </a:spcBef>
            </a:pPr>
            <a:r>
              <a:rPr sz="1405" dirty="0">
                <a:latin typeface="Calibri" panose="020F0502020204030204"/>
                <a:cs typeface="Calibri" panose="020F0502020204030204"/>
              </a:rPr>
              <a:t>Client</a:t>
            </a:r>
            <a:r>
              <a:rPr sz="1405" spc="9" dirty="0">
                <a:latin typeface="Times New Roman" panose="02020603050405020304"/>
                <a:cs typeface="Times New Roman" panose="02020603050405020304"/>
              </a:rPr>
              <a:t> </a:t>
            </a:r>
            <a:r>
              <a:rPr sz="1405" spc="-45" dirty="0">
                <a:latin typeface="Calibri" panose="020F0502020204030204"/>
                <a:cs typeface="Calibri" panose="020F0502020204030204"/>
              </a:rPr>
              <a:t>1</a:t>
            </a:r>
            <a:endParaRPr sz="1405">
              <a:latin typeface="Calibri" panose="020F0502020204030204"/>
              <a:cs typeface="Calibri" panose="020F0502020204030204"/>
            </a:endParaRPr>
          </a:p>
        </p:txBody>
      </p:sp>
      <p:pic>
        <p:nvPicPr>
          <p:cNvPr id="6" name="object 6"/>
          <p:cNvPicPr/>
          <p:nvPr/>
        </p:nvPicPr>
        <p:blipFill>
          <a:blip r:embed="rId5" cstate="print"/>
          <a:stretch>
            <a:fillRect/>
          </a:stretch>
        </p:blipFill>
        <p:spPr>
          <a:xfrm>
            <a:off x="2435680" y="2538782"/>
            <a:ext cx="1508990" cy="437067"/>
          </a:xfrm>
          <a:prstGeom prst="rect">
            <a:avLst/>
          </a:prstGeom>
        </p:spPr>
      </p:pic>
      <p:sp>
        <p:nvSpPr>
          <p:cNvPr id="7" name="object 7"/>
          <p:cNvSpPr txBox="1"/>
          <p:nvPr/>
        </p:nvSpPr>
        <p:spPr>
          <a:xfrm>
            <a:off x="2735361" y="2625457"/>
            <a:ext cx="911134" cy="231664"/>
          </a:xfrm>
          <a:prstGeom prst="rect">
            <a:avLst/>
          </a:prstGeom>
        </p:spPr>
        <p:txBody>
          <a:bodyPr vert="horz" wrap="square" lIns="0" tIns="14984" rIns="0" bIns="0" rtlCol="0">
            <a:spAutoFit/>
          </a:bodyPr>
          <a:lstStyle/>
          <a:p>
            <a:pPr marL="11430">
              <a:spcBef>
                <a:spcPts val="120"/>
              </a:spcBef>
            </a:pPr>
            <a:r>
              <a:rPr sz="1405" spc="-9" dirty="0">
                <a:latin typeface="Calibri" panose="020F0502020204030204"/>
                <a:cs typeface="Calibri" panose="020F0502020204030204"/>
              </a:rPr>
              <a:t>Middleware</a:t>
            </a:r>
            <a:endParaRPr sz="1405">
              <a:latin typeface="Calibri" panose="020F0502020204030204"/>
              <a:cs typeface="Calibri" panose="020F0502020204030204"/>
            </a:endParaRPr>
          </a:p>
        </p:txBody>
      </p:sp>
      <p:sp>
        <p:nvSpPr>
          <p:cNvPr id="8" name="object 8"/>
          <p:cNvSpPr txBox="1"/>
          <p:nvPr/>
        </p:nvSpPr>
        <p:spPr>
          <a:xfrm>
            <a:off x="2435680" y="2970317"/>
            <a:ext cx="1509335" cy="421719"/>
          </a:xfrm>
          <a:prstGeom prst="rect">
            <a:avLst/>
          </a:prstGeom>
          <a:solidFill>
            <a:srgbClr val="9ABA59"/>
          </a:solidFill>
        </p:spPr>
        <p:txBody>
          <a:bodyPr vert="horz" wrap="square" lIns="0" tIns="0" rIns="0" bIns="0" rtlCol="0">
            <a:spAutoFit/>
          </a:bodyPr>
          <a:lstStyle/>
          <a:p>
            <a:pPr marL="635" algn="ctr">
              <a:lnSpc>
                <a:spcPts val="1635"/>
              </a:lnSpc>
            </a:pPr>
            <a:r>
              <a:rPr sz="1405" spc="-9" dirty="0">
                <a:latin typeface="Calibri" panose="020F0502020204030204"/>
                <a:cs typeface="Calibri" panose="020F0502020204030204"/>
              </a:rPr>
              <a:t>Couche</a:t>
            </a:r>
            <a:endParaRPr sz="1405">
              <a:latin typeface="Calibri" panose="020F0502020204030204"/>
              <a:cs typeface="Calibri" panose="020F0502020204030204"/>
            </a:endParaRPr>
          </a:p>
          <a:p>
            <a:pPr algn="ctr">
              <a:spcBef>
                <a:spcPts val="30"/>
              </a:spcBef>
            </a:pPr>
            <a:r>
              <a:rPr sz="1405" spc="-9" dirty="0">
                <a:latin typeface="Calibri" panose="020F0502020204030204"/>
                <a:cs typeface="Calibri" panose="020F0502020204030204"/>
              </a:rPr>
              <a:t>réseau/OS</a:t>
            </a:r>
            <a:endParaRPr sz="1405">
              <a:latin typeface="Calibri" panose="020F0502020204030204"/>
              <a:cs typeface="Calibri" panose="020F0502020204030204"/>
            </a:endParaRPr>
          </a:p>
        </p:txBody>
      </p:sp>
      <p:pic>
        <p:nvPicPr>
          <p:cNvPr id="9" name="object 9"/>
          <p:cNvPicPr/>
          <p:nvPr/>
        </p:nvPicPr>
        <p:blipFill>
          <a:blip r:embed="rId6" cstate="print"/>
          <a:stretch>
            <a:fillRect/>
          </a:stretch>
        </p:blipFill>
        <p:spPr>
          <a:xfrm>
            <a:off x="2435680" y="3412918"/>
            <a:ext cx="1508990" cy="437067"/>
          </a:xfrm>
          <a:prstGeom prst="rect">
            <a:avLst/>
          </a:prstGeom>
        </p:spPr>
      </p:pic>
      <p:sp>
        <p:nvSpPr>
          <p:cNvPr id="10" name="object 10"/>
          <p:cNvSpPr txBox="1"/>
          <p:nvPr/>
        </p:nvSpPr>
        <p:spPr>
          <a:xfrm>
            <a:off x="2863990" y="3499592"/>
            <a:ext cx="654680" cy="231664"/>
          </a:xfrm>
          <a:prstGeom prst="rect">
            <a:avLst/>
          </a:prstGeom>
        </p:spPr>
        <p:txBody>
          <a:bodyPr vert="horz" wrap="square" lIns="0" tIns="14984" rIns="0" bIns="0" rtlCol="0">
            <a:spAutoFit/>
          </a:bodyPr>
          <a:lstStyle/>
          <a:p>
            <a:pPr marL="11430">
              <a:spcBef>
                <a:spcPts val="120"/>
              </a:spcBef>
            </a:pPr>
            <a:r>
              <a:rPr sz="1405" spc="-9" dirty="0">
                <a:latin typeface="Calibri" panose="020F0502020204030204"/>
                <a:cs typeface="Calibri" panose="020F0502020204030204"/>
              </a:rPr>
              <a:t>Matériel</a:t>
            </a:r>
            <a:endParaRPr sz="1405">
              <a:latin typeface="Calibri" panose="020F0502020204030204"/>
              <a:cs typeface="Calibri" panose="020F0502020204030204"/>
            </a:endParaRPr>
          </a:p>
        </p:txBody>
      </p:sp>
      <p:sp>
        <p:nvSpPr>
          <p:cNvPr id="11" name="object 11"/>
          <p:cNvSpPr/>
          <p:nvPr/>
        </p:nvSpPr>
        <p:spPr>
          <a:xfrm>
            <a:off x="5409397" y="2132142"/>
            <a:ext cx="1510489" cy="437414"/>
          </a:xfrm>
          <a:custGeom>
            <a:avLst/>
            <a:gdLst/>
            <a:ahLst/>
            <a:cxnLst/>
            <a:rect l="l" t="t" r="r" b="b"/>
            <a:pathLst>
              <a:path w="1664335" h="481964">
                <a:moveTo>
                  <a:pt x="1664207" y="481583"/>
                </a:moveTo>
                <a:lnTo>
                  <a:pt x="1664207" y="0"/>
                </a:lnTo>
                <a:lnTo>
                  <a:pt x="0" y="0"/>
                </a:lnTo>
                <a:lnTo>
                  <a:pt x="0" y="481583"/>
                </a:lnTo>
                <a:lnTo>
                  <a:pt x="1664207" y="481583"/>
                </a:lnTo>
                <a:close/>
              </a:path>
            </a:pathLst>
          </a:custGeom>
          <a:solidFill>
            <a:srgbClr val="F79545"/>
          </a:solidFill>
        </p:spPr>
        <p:txBody>
          <a:bodyPr wrap="square" lIns="0" tIns="0" rIns="0" bIns="0" rtlCol="0"/>
          <a:lstStyle/>
          <a:p>
            <a:endParaRPr sz="1270"/>
          </a:p>
        </p:txBody>
      </p:sp>
      <p:sp>
        <p:nvSpPr>
          <p:cNvPr id="12" name="object 12"/>
          <p:cNvSpPr txBox="1"/>
          <p:nvPr/>
        </p:nvSpPr>
        <p:spPr>
          <a:xfrm>
            <a:off x="5872289" y="2218818"/>
            <a:ext cx="584947" cy="231664"/>
          </a:xfrm>
          <a:prstGeom prst="rect">
            <a:avLst/>
          </a:prstGeom>
        </p:spPr>
        <p:txBody>
          <a:bodyPr vert="horz" wrap="square" lIns="0" tIns="14984" rIns="0" bIns="0" rtlCol="0">
            <a:spAutoFit/>
          </a:bodyPr>
          <a:lstStyle/>
          <a:p>
            <a:pPr marL="11430">
              <a:spcBef>
                <a:spcPts val="120"/>
              </a:spcBef>
            </a:pPr>
            <a:r>
              <a:rPr sz="1405" dirty="0">
                <a:latin typeface="Calibri" panose="020F0502020204030204"/>
                <a:cs typeface="Calibri" panose="020F0502020204030204"/>
              </a:rPr>
              <a:t>Client</a:t>
            </a:r>
            <a:r>
              <a:rPr sz="1405" spc="9" dirty="0">
                <a:latin typeface="Times New Roman" panose="02020603050405020304"/>
                <a:cs typeface="Times New Roman" panose="02020603050405020304"/>
              </a:rPr>
              <a:t> </a:t>
            </a:r>
            <a:r>
              <a:rPr sz="1405" spc="-45" dirty="0">
                <a:latin typeface="Calibri" panose="020F0502020204030204"/>
                <a:cs typeface="Calibri" panose="020F0502020204030204"/>
              </a:rPr>
              <a:t>2</a:t>
            </a:r>
            <a:endParaRPr sz="1405">
              <a:latin typeface="Calibri" panose="020F0502020204030204"/>
              <a:cs typeface="Calibri" panose="020F0502020204030204"/>
            </a:endParaRPr>
          </a:p>
        </p:txBody>
      </p:sp>
      <p:pic>
        <p:nvPicPr>
          <p:cNvPr id="13" name="object 13"/>
          <p:cNvPicPr/>
          <p:nvPr/>
        </p:nvPicPr>
        <p:blipFill>
          <a:blip r:embed="rId5" cstate="print"/>
          <a:stretch>
            <a:fillRect/>
          </a:stretch>
        </p:blipFill>
        <p:spPr>
          <a:xfrm>
            <a:off x="5409397" y="2538782"/>
            <a:ext cx="1510373" cy="437067"/>
          </a:xfrm>
          <a:prstGeom prst="rect">
            <a:avLst/>
          </a:prstGeom>
        </p:spPr>
      </p:pic>
      <p:sp>
        <p:nvSpPr>
          <p:cNvPr id="14" name="object 14"/>
          <p:cNvSpPr txBox="1"/>
          <p:nvPr/>
        </p:nvSpPr>
        <p:spPr>
          <a:xfrm>
            <a:off x="5709080" y="2625457"/>
            <a:ext cx="911134" cy="231664"/>
          </a:xfrm>
          <a:prstGeom prst="rect">
            <a:avLst/>
          </a:prstGeom>
        </p:spPr>
        <p:txBody>
          <a:bodyPr vert="horz" wrap="square" lIns="0" tIns="14984" rIns="0" bIns="0" rtlCol="0">
            <a:spAutoFit/>
          </a:bodyPr>
          <a:lstStyle/>
          <a:p>
            <a:pPr marL="11430">
              <a:spcBef>
                <a:spcPts val="120"/>
              </a:spcBef>
            </a:pPr>
            <a:r>
              <a:rPr sz="1405" spc="-9" dirty="0">
                <a:latin typeface="Calibri" panose="020F0502020204030204"/>
                <a:cs typeface="Calibri" panose="020F0502020204030204"/>
              </a:rPr>
              <a:t>Middleware</a:t>
            </a:r>
            <a:endParaRPr sz="1405">
              <a:latin typeface="Calibri" panose="020F0502020204030204"/>
              <a:cs typeface="Calibri" panose="020F0502020204030204"/>
            </a:endParaRPr>
          </a:p>
        </p:txBody>
      </p:sp>
      <p:sp>
        <p:nvSpPr>
          <p:cNvPr id="15" name="object 15"/>
          <p:cNvSpPr txBox="1"/>
          <p:nvPr/>
        </p:nvSpPr>
        <p:spPr>
          <a:xfrm>
            <a:off x="5409397" y="2970317"/>
            <a:ext cx="1510489" cy="421719"/>
          </a:xfrm>
          <a:prstGeom prst="rect">
            <a:avLst/>
          </a:prstGeom>
          <a:solidFill>
            <a:srgbClr val="9ABA59"/>
          </a:solidFill>
        </p:spPr>
        <p:txBody>
          <a:bodyPr vert="horz" wrap="square" lIns="0" tIns="0" rIns="0" bIns="0" rtlCol="0">
            <a:spAutoFit/>
          </a:bodyPr>
          <a:lstStyle/>
          <a:p>
            <a:pPr algn="ctr">
              <a:lnSpc>
                <a:spcPts val="1635"/>
              </a:lnSpc>
            </a:pPr>
            <a:r>
              <a:rPr sz="1405" spc="-9" dirty="0">
                <a:latin typeface="Calibri" panose="020F0502020204030204"/>
                <a:cs typeface="Calibri" panose="020F0502020204030204"/>
              </a:rPr>
              <a:t>Couche</a:t>
            </a:r>
            <a:endParaRPr sz="1405">
              <a:latin typeface="Calibri" panose="020F0502020204030204"/>
              <a:cs typeface="Calibri" panose="020F0502020204030204"/>
            </a:endParaRPr>
          </a:p>
          <a:p>
            <a:pPr algn="ctr">
              <a:spcBef>
                <a:spcPts val="30"/>
              </a:spcBef>
            </a:pPr>
            <a:r>
              <a:rPr sz="1405" spc="-9" dirty="0">
                <a:latin typeface="Calibri" panose="020F0502020204030204"/>
                <a:cs typeface="Calibri" panose="020F0502020204030204"/>
              </a:rPr>
              <a:t>réseau/OS</a:t>
            </a:r>
            <a:endParaRPr sz="1405">
              <a:latin typeface="Calibri" panose="020F0502020204030204"/>
              <a:cs typeface="Calibri" panose="020F0502020204030204"/>
            </a:endParaRPr>
          </a:p>
        </p:txBody>
      </p:sp>
      <p:pic>
        <p:nvPicPr>
          <p:cNvPr id="16" name="object 16"/>
          <p:cNvPicPr/>
          <p:nvPr/>
        </p:nvPicPr>
        <p:blipFill>
          <a:blip r:embed="rId6" cstate="print"/>
          <a:stretch>
            <a:fillRect/>
          </a:stretch>
        </p:blipFill>
        <p:spPr>
          <a:xfrm>
            <a:off x="5409397" y="3412918"/>
            <a:ext cx="1510373" cy="437067"/>
          </a:xfrm>
          <a:prstGeom prst="rect">
            <a:avLst/>
          </a:prstGeom>
        </p:spPr>
      </p:pic>
      <p:sp>
        <p:nvSpPr>
          <p:cNvPr id="17" name="object 17"/>
          <p:cNvSpPr txBox="1"/>
          <p:nvPr/>
        </p:nvSpPr>
        <p:spPr>
          <a:xfrm>
            <a:off x="5837710" y="3499592"/>
            <a:ext cx="654680" cy="231664"/>
          </a:xfrm>
          <a:prstGeom prst="rect">
            <a:avLst/>
          </a:prstGeom>
        </p:spPr>
        <p:txBody>
          <a:bodyPr vert="horz" wrap="square" lIns="0" tIns="14984" rIns="0" bIns="0" rtlCol="0">
            <a:spAutoFit/>
          </a:bodyPr>
          <a:lstStyle/>
          <a:p>
            <a:pPr marL="11430">
              <a:spcBef>
                <a:spcPts val="120"/>
              </a:spcBef>
            </a:pPr>
            <a:r>
              <a:rPr sz="1405" spc="-9" dirty="0">
                <a:latin typeface="Calibri" panose="020F0502020204030204"/>
                <a:cs typeface="Calibri" panose="020F0502020204030204"/>
              </a:rPr>
              <a:t>Matériel</a:t>
            </a:r>
            <a:endParaRPr sz="1405">
              <a:latin typeface="Calibri" panose="020F0502020204030204"/>
              <a:cs typeface="Calibri" panose="020F0502020204030204"/>
            </a:endParaRPr>
          </a:p>
        </p:txBody>
      </p:sp>
      <p:sp>
        <p:nvSpPr>
          <p:cNvPr id="18" name="object 18"/>
          <p:cNvSpPr/>
          <p:nvPr/>
        </p:nvSpPr>
        <p:spPr>
          <a:xfrm>
            <a:off x="8218526" y="2132142"/>
            <a:ext cx="1510489" cy="437414"/>
          </a:xfrm>
          <a:custGeom>
            <a:avLst/>
            <a:gdLst/>
            <a:ahLst/>
            <a:cxnLst/>
            <a:rect l="l" t="t" r="r" b="b"/>
            <a:pathLst>
              <a:path w="1664334" h="481964">
                <a:moveTo>
                  <a:pt x="1664207" y="481583"/>
                </a:moveTo>
                <a:lnTo>
                  <a:pt x="1664207" y="0"/>
                </a:lnTo>
                <a:lnTo>
                  <a:pt x="0" y="0"/>
                </a:lnTo>
                <a:lnTo>
                  <a:pt x="0" y="481583"/>
                </a:lnTo>
                <a:lnTo>
                  <a:pt x="1664207" y="481583"/>
                </a:lnTo>
                <a:close/>
              </a:path>
            </a:pathLst>
          </a:custGeom>
          <a:solidFill>
            <a:srgbClr val="F79545"/>
          </a:solidFill>
        </p:spPr>
        <p:txBody>
          <a:bodyPr wrap="square" lIns="0" tIns="0" rIns="0" bIns="0" rtlCol="0"/>
          <a:lstStyle/>
          <a:p>
            <a:endParaRPr sz="1270"/>
          </a:p>
        </p:txBody>
      </p:sp>
      <p:sp>
        <p:nvSpPr>
          <p:cNvPr id="19" name="object 19"/>
          <p:cNvSpPr txBox="1"/>
          <p:nvPr/>
        </p:nvSpPr>
        <p:spPr>
          <a:xfrm>
            <a:off x="8681417" y="2218818"/>
            <a:ext cx="584947" cy="231664"/>
          </a:xfrm>
          <a:prstGeom prst="rect">
            <a:avLst/>
          </a:prstGeom>
        </p:spPr>
        <p:txBody>
          <a:bodyPr vert="horz" wrap="square" lIns="0" tIns="14984" rIns="0" bIns="0" rtlCol="0">
            <a:spAutoFit/>
          </a:bodyPr>
          <a:lstStyle/>
          <a:p>
            <a:pPr marL="11430">
              <a:spcBef>
                <a:spcPts val="120"/>
              </a:spcBef>
            </a:pPr>
            <a:r>
              <a:rPr sz="1405" dirty="0">
                <a:latin typeface="Calibri" panose="020F0502020204030204"/>
                <a:cs typeface="Calibri" panose="020F0502020204030204"/>
              </a:rPr>
              <a:t>Client</a:t>
            </a:r>
            <a:r>
              <a:rPr sz="1405" spc="9" dirty="0">
                <a:latin typeface="Times New Roman" panose="02020603050405020304"/>
                <a:cs typeface="Times New Roman" panose="02020603050405020304"/>
              </a:rPr>
              <a:t> </a:t>
            </a:r>
            <a:r>
              <a:rPr sz="1405" spc="-45" dirty="0">
                <a:latin typeface="Calibri" panose="020F0502020204030204"/>
                <a:cs typeface="Calibri" panose="020F0502020204030204"/>
              </a:rPr>
              <a:t>3</a:t>
            </a:r>
            <a:endParaRPr sz="1405">
              <a:latin typeface="Calibri" panose="020F0502020204030204"/>
              <a:cs typeface="Calibri" panose="020F0502020204030204"/>
            </a:endParaRPr>
          </a:p>
        </p:txBody>
      </p:sp>
      <p:pic>
        <p:nvPicPr>
          <p:cNvPr id="20" name="object 20"/>
          <p:cNvPicPr/>
          <p:nvPr/>
        </p:nvPicPr>
        <p:blipFill>
          <a:blip r:embed="rId5" cstate="print"/>
          <a:stretch>
            <a:fillRect/>
          </a:stretch>
        </p:blipFill>
        <p:spPr>
          <a:xfrm>
            <a:off x="8218526" y="2538782"/>
            <a:ext cx="1510373" cy="437067"/>
          </a:xfrm>
          <a:prstGeom prst="rect">
            <a:avLst/>
          </a:prstGeom>
        </p:spPr>
      </p:pic>
      <p:sp>
        <p:nvSpPr>
          <p:cNvPr id="21" name="object 21"/>
          <p:cNvSpPr txBox="1"/>
          <p:nvPr/>
        </p:nvSpPr>
        <p:spPr>
          <a:xfrm>
            <a:off x="8518208" y="2625457"/>
            <a:ext cx="911134" cy="231664"/>
          </a:xfrm>
          <a:prstGeom prst="rect">
            <a:avLst/>
          </a:prstGeom>
        </p:spPr>
        <p:txBody>
          <a:bodyPr vert="horz" wrap="square" lIns="0" tIns="14984" rIns="0" bIns="0" rtlCol="0">
            <a:spAutoFit/>
          </a:bodyPr>
          <a:lstStyle/>
          <a:p>
            <a:pPr marL="11430">
              <a:spcBef>
                <a:spcPts val="120"/>
              </a:spcBef>
            </a:pPr>
            <a:r>
              <a:rPr sz="1405" spc="-9" dirty="0">
                <a:latin typeface="Calibri" panose="020F0502020204030204"/>
                <a:cs typeface="Calibri" panose="020F0502020204030204"/>
              </a:rPr>
              <a:t>Middleware</a:t>
            </a:r>
            <a:endParaRPr sz="1405">
              <a:latin typeface="Calibri" panose="020F0502020204030204"/>
              <a:cs typeface="Calibri" panose="020F0502020204030204"/>
            </a:endParaRPr>
          </a:p>
        </p:txBody>
      </p:sp>
      <p:sp>
        <p:nvSpPr>
          <p:cNvPr id="22" name="object 22"/>
          <p:cNvSpPr txBox="1"/>
          <p:nvPr/>
        </p:nvSpPr>
        <p:spPr>
          <a:xfrm>
            <a:off x="8218526" y="2970317"/>
            <a:ext cx="1510489" cy="421719"/>
          </a:xfrm>
          <a:prstGeom prst="rect">
            <a:avLst/>
          </a:prstGeom>
          <a:solidFill>
            <a:srgbClr val="9ABA59"/>
          </a:solidFill>
        </p:spPr>
        <p:txBody>
          <a:bodyPr vert="horz" wrap="square" lIns="0" tIns="0" rIns="0" bIns="0" rtlCol="0">
            <a:spAutoFit/>
          </a:bodyPr>
          <a:lstStyle/>
          <a:p>
            <a:pPr algn="ctr">
              <a:lnSpc>
                <a:spcPts val="1635"/>
              </a:lnSpc>
            </a:pPr>
            <a:r>
              <a:rPr sz="1405" spc="-9" dirty="0">
                <a:latin typeface="Calibri" panose="020F0502020204030204"/>
                <a:cs typeface="Calibri" panose="020F0502020204030204"/>
              </a:rPr>
              <a:t>Couche</a:t>
            </a:r>
            <a:endParaRPr sz="1405">
              <a:latin typeface="Calibri" panose="020F0502020204030204"/>
              <a:cs typeface="Calibri" panose="020F0502020204030204"/>
            </a:endParaRPr>
          </a:p>
          <a:p>
            <a:pPr algn="ctr">
              <a:spcBef>
                <a:spcPts val="30"/>
              </a:spcBef>
            </a:pPr>
            <a:r>
              <a:rPr sz="1405" spc="-9" dirty="0">
                <a:latin typeface="Calibri" panose="020F0502020204030204"/>
                <a:cs typeface="Calibri" panose="020F0502020204030204"/>
              </a:rPr>
              <a:t>réseau/OS</a:t>
            </a:r>
            <a:endParaRPr sz="1405">
              <a:latin typeface="Calibri" panose="020F0502020204030204"/>
              <a:cs typeface="Calibri" panose="020F0502020204030204"/>
            </a:endParaRPr>
          </a:p>
        </p:txBody>
      </p:sp>
      <p:pic>
        <p:nvPicPr>
          <p:cNvPr id="23" name="object 23"/>
          <p:cNvPicPr/>
          <p:nvPr/>
        </p:nvPicPr>
        <p:blipFill>
          <a:blip r:embed="rId6" cstate="print"/>
          <a:stretch>
            <a:fillRect/>
          </a:stretch>
        </p:blipFill>
        <p:spPr>
          <a:xfrm>
            <a:off x="8218526" y="3412918"/>
            <a:ext cx="1510373" cy="437067"/>
          </a:xfrm>
          <a:prstGeom prst="rect">
            <a:avLst/>
          </a:prstGeom>
        </p:spPr>
      </p:pic>
      <p:sp>
        <p:nvSpPr>
          <p:cNvPr id="24" name="object 24"/>
          <p:cNvSpPr txBox="1"/>
          <p:nvPr/>
        </p:nvSpPr>
        <p:spPr>
          <a:xfrm>
            <a:off x="8646838" y="3499592"/>
            <a:ext cx="654680" cy="231664"/>
          </a:xfrm>
          <a:prstGeom prst="rect">
            <a:avLst/>
          </a:prstGeom>
        </p:spPr>
        <p:txBody>
          <a:bodyPr vert="horz" wrap="square" lIns="0" tIns="14984" rIns="0" bIns="0" rtlCol="0">
            <a:spAutoFit/>
          </a:bodyPr>
          <a:lstStyle/>
          <a:p>
            <a:pPr marL="11430">
              <a:spcBef>
                <a:spcPts val="120"/>
              </a:spcBef>
            </a:pPr>
            <a:r>
              <a:rPr sz="1405" spc="-9" dirty="0">
                <a:latin typeface="Calibri" panose="020F0502020204030204"/>
                <a:cs typeface="Calibri" panose="020F0502020204030204"/>
              </a:rPr>
              <a:t>Matériel</a:t>
            </a:r>
            <a:endParaRPr sz="1405">
              <a:latin typeface="Calibri" panose="020F0502020204030204"/>
              <a:cs typeface="Calibri" panose="020F0502020204030204"/>
            </a:endParaRPr>
          </a:p>
        </p:txBody>
      </p:sp>
      <p:sp>
        <p:nvSpPr>
          <p:cNvPr id="25" name="object 25"/>
          <p:cNvSpPr/>
          <p:nvPr/>
        </p:nvSpPr>
        <p:spPr>
          <a:xfrm>
            <a:off x="1778695" y="3855518"/>
            <a:ext cx="8305672" cy="666782"/>
          </a:xfrm>
          <a:custGeom>
            <a:avLst/>
            <a:gdLst/>
            <a:ahLst/>
            <a:cxnLst/>
            <a:rect l="l" t="t" r="r" b="b"/>
            <a:pathLst>
              <a:path w="9151620" h="734695">
                <a:moveTo>
                  <a:pt x="0" y="717803"/>
                </a:moveTo>
                <a:lnTo>
                  <a:pt x="9151616" y="717803"/>
                </a:lnTo>
              </a:path>
              <a:path w="9151620" h="734695">
                <a:moveTo>
                  <a:pt x="1534664" y="0"/>
                </a:moveTo>
                <a:lnTo>
                  <a:pt x="1534664" y="717803"/>
                </a:lnTo>
              </a:path>
              <a:path w="9151620" h="734695">
                <a:moveTo>
                  <a:pt x="4853936" y="16763"/>
                </a:moveTo>
                <a:lnTo>
                  <a:pt x="4853936" y="734567"/>
                </a:lnTo>
              </a:path>
              <a:path w="9151620" h="734695">
                <a:moveTo>
                  <a:pt x="7940036" y="16763"/>
                </a:moveTo>
                <a:lnTo>
                  <a:pt x="7940036" y="734567"/>
                </a:lnTo>
              </a:path>
            </a:pathLst>
          </a:custGeom>
          <a:ln w="50117">
            <a:solidFill>
              <a:srgbClr val="4A7EBA"/>
            </a:solidFill>
          </a:ln>
        </p:spPr>
        <p:txBody>
          <a:bodyPr wrap="square" lIns="0" tIns="0" rIns="0" bIns="0" rtlCol="0"/>
          <a:lstStyle/>
          <a:p>
            <a:endParaRPr sz="1270"/>
          </a:p>
        </p:txBody>
      </p:sp>
      <p:sp>
        <p:nvSpPr>
          <p:cNvPr id="26" name="object 26"/>
          <p:cNvSpPr txBox="1"/>
          <p:nvPr/>
        </p:nvSpPr>
        <p:spPr>
          <a:xfrm>
            <a:off x="5187641" y="4740255"/>
            <a:ext cx="1399263" cy="256001"/>
          </a:xfrm>
          <a:prstGeom prst="rect">
            <a:avLst/>
          </a:prstGeom>
        </p:spPr>
        <p:txBody>
          <a:bodyPr vert="horz" wrap="square" lIns="0" tIns="11526" rIns="0" bIns="0" rtlCol="0">
            <a:spAutoFit/>
          </a:bodyPr>
          <a:lstStyle/>
          <a:p>
            <a:pPr marL="11430">
              <a:spcBef>
                <a:spcPts val="90"/>
              </a:spcBef>
            </a:pPr>
            <a:r>
              <a:rPr sz="1590" b="1" i="1" dirty="0">
                <a:latin typeface="Calibri" panose="020F0502020204030204"/>
                <a:cs typeface="Calibri" panose="020F0502020204030204"/>
              </a:rPr>
              <a:t>Liaison</a:t>
            </a:r>
            <a:r>
              <a:rPr sz="1590" spc="-82" dirty="0">
                <a:latin typeface="Times New Roman" panose="02020603050405020304"/>
                <a:cs typeface="Times New Roman" panose="02020603050405020304"/>
              </a:rPr>
              <a:t> </a:t>
            </a:r>
            <a:r>
              <a:rPr sz="1590" b="1" i="1" spc="-9" dirty="0">
                <a:latin typeface="Calibri" panose="020F0502020204030204"/>
                <a:cs typeface="Calibri" panose="020F0502020204030204"/>
              </a:rPr>
              <a:t>physique</a:t>
            </a:r>
            <a:endParaRPr sz="1590">
              <a:latin typeface="Calibri" panose="020F0502020204030204"/>
              <a:cs typeface="Calibri" panose="020F0502020204030204"/>
            </a:endParaRPr>
          </a:p>
        </p:txBody>
      </p:sp>
      <p:sp>
        <p:nvSpPr>
          <p:cNvPr id="28" name="object 28"/>
          <p:cNvSpPr txBox="1"/>
          <p:nvPr/>
        </p:nvSpPr>
        <p:spPr>
          <a:xfrm>
            <a:off x="10332601" y="6057400"/>
            <a:ext cx="275590" cy="193040"/>
          </a:xfrm>
          <a:prstGeom prst="rect">
            <a:avLst/>
          </a:prstGeom>
        </p:spPr>
        <p:txBody>
          <a:bodyPr vert="horz" wrap="square" lIns="0" tIns="0" rIns="0" bIns="0" rtlCol="0">
            <a:spAutoFit/>
          </a:bodyPr>
          <a:lstStyle>
            <a:defPPr marR="0" lvl="0" algn="l" rtl="0">
              <a:lnSpc>
                <a:spcPct val="100000"/>
              </a:lnSpc>
              <a:spcBef>
                <a:spcPts val="0"/>
              </a:spcBef>
              <a:spcAft>
                <a:spcPts val="0"/>
              </a:spcAft>
              <a:defRPr kern="0"/>
            </a:defPPr>
            <a:lvl1pPr marR="0" lvl="0" algn="l" rtl="0">
              <a:lnSpc>
                <a:spcPct val="100000"/>
              </a:lnSpc>
              <a:spcBef>
                <a:spcPts val="0"/>
              </a:spcBef>
              <a:spcAft>
                <a:spcPts val="0"/>
              </a:spcAft>
              <a:buClr>
                <a:srgbClr val="000000"/>
              </a:buClr>
              <a:buFont typeface="Arial" panose="020B0604020202020204"/>
              <a:defRPr sz="1300" b="0" i="0" u="none" strike="noStrike" cap="none">
                <a:solidFill>
                  <a:schemeClr val="tx1"/>
                </a:solidFill>
                <a:latin typeface="Arial MT"/>
                <a:ea typeface="Arial" panose="020B0604020202020204"/>
                <a:cs typeface="Arial MT"/>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37465">
              <a:lnSpc>
                <a:spcPts val="1380"/>
              </a:lnSpc>
            </a:pPr>
            <a:fld id="{81D60167-4931-47E6-BA6A-407CBD079E47}" type="slidenum">
              <a:rPr lang="fr-FR" spc="-25" smtClean="0"/>
              <a:t>28</a:t>
            </a:fld>
            <a:endParaRPr lang="fr-FR" spc="-23" dirty="0"/>
          </a:p>
        </p:txBody>
      </p:sp>
      <p:sp>
        <p:nvSpPr>
          <p:cNvPr id="29" name="Google Shape;443;p15"/>
          <p:cNvSpPr txBox="1"/>
          <p:nvPr/>
        </p:nvSpPr>
        <p:spPr>
          <a:xfrm>
            <a:off x="1035030" y="5068768"/>
            <a:ext cx="11769479" cy="1312390"/>
          </a:xfrm>
          <a:prstGeom prst="rect">
            <a:avLst/>
          </a:prstGeom>
          <a:noFill/>
          <a:ln>
            <a:noFill/>
          </a:ln>
        </p:spPr>
        <p:txBody>
          <a:bodyPr spcFirstLastPara="1" wrap="square" lIns="0" tIns="48875" rIns="0" bIns="0" anchor="t" anchorCtr="0">
            <a:spAutoFit/>
          </a:bodyPr>
          <a:lstStyle/>
          <a:p>
            <a:pPr marL="12700" marR="0" lvl="0" indent="0" algn="l" rtl="0">
              <a:lnSpc>
                <a:spcPct val="100000"/>
              </a:lnSpc>
              <a:spcBef>
                <a:spcPts val="0"/>
              </a:spcBef>
              <a:spcAft>
                <a:spcPts val="0"/>
              </a:spcAft>
              <a:buNone/>
            </a:pPr>
            <a:r>
              <a:rPr lang="fr-FR" sz="2225" b="1" spc="-9" dirty="0">
                <a:latin typeface="Times New Roman" panose="02020603050405020304"/>
                <a:cs typeface="Times New Roman" panose="02020603050405020304"/>
              </a:rPr>
              <a:t>Rôles de base: </a:t>
            </a:r>
          </a:p>
          <a:p>
            <a:pPr marL="408940" marR="0" lvl="0" indent="-341630" algn="l" rtl="0">
              <a:lnSpc>
                <a:spcPct val="100000"/>
              </a:lnSpc>
              <a:spcBef>
                <a:spcPts val="290"/>
              </a:spcBef>
              <a:spcAft>
                <a:spcPts val="0"/>
              </a:spcAft>
              <a:buClr>
                <a:schemeClr val="dk1"/>
              </a:buClr>
              <a:buSzPts val="1600"/>
              <a:buFont typeface="Noto Sans Symbols"/>
              <a:buChar char="▪"/>
            </a:pPr>
            <a: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t>Résoudre l’</a:t>
            </a:r>
            <a:r>
              <a:rPr lang="fr-FR" sz="1800" b="1" dirty="0" err="1">
                <a:solidFill>
                  <a:srgbClr val="C00000"/>
                </a:solidFill>
                <a:latin typeface="Times New Roman" panose="02020603050405020304" pitchFamily="18" charset="0"/>
                <a:cs typeface="Times New Roman" panose="02020603050405020304" pitchFamily="18" charset="0"/>
                <a:sym typeface="Arial" panose="020B0604020202020204"/>
              </a:rPr>
              <a:t>intéropérabilité</a:t>
            </a:r>
            <a:r>
              <a:rPr lang="fr-FR" sz="1800" b="1" dirty="0">
                <a:solidFill>
                  <a:srgbClr val="C00000"/>
                </a:solidFill>
                <a:latin typeface="Times New Roman" panose="02020603050405020304" pitchFamily="18" charset="0"/>
                <a:cs typeface="Times New Roman" panose="02020603050405020304" pitchFamily="18" charset="0"/>
                <a:sym typeface="Arial" panose="020B0604020202020204"/>
              </a:rPr>
              <a:t> </a:t>
            </a:r>
            <a: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t>: Unifier l’accès à des machines distantes</a:t>
            </a:r>
          </a:p>
          <a:p>
            <a:pPr marL="408940" marR="0" lvl="0" indent="-341630" algn="l" rtl="0">
              <a:lnSpc>
                <a:spcPct val="100000"/>
              </a:lnSpc>
              <a:spcBef>
                <a:spcPts val="410"/>
              </a:spcBef>
              <a:spcAft>
                <a:spcPts val="0"/>
              </a:spcAft>
              <a:buClr>
                <a:schemeClr val="dk1"/>
              </a:buClr>
              <a:buSzPts val="1600"/>
              <a:buFont typeface="Noto Sans Symbols"/>
              <a:buChar char="▪"/>
            </a:pPr>
            <a: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t>Résoudre l’</a:t>
            </a:r>
            <a:r>
              <a:rPr lang="fr-FR" sz="1800" b="1" dirty="0">
                <a:solidFill>
                  <a:srgbClr val="C00000"/>
                </a:solidFill>
                <a:latin typeface="Times New Roman" panose="02020603050405020304" pitchFamily="18" charset="0"/>
                <a:cs typeface="Times New Roman" panose="02020603050405020304" pitchFamily="18" charset="0"/>
                <a:sym typeface="Arial" panose="020B0604020202020204"/>
              </a:rPr>
              <a:t>hétérogénéité </a:t>
            </a:r>
            <a: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t>: </a:t>
            </a:r>
            <a:r>
              <a:rPr lang="fr-FR" sz="1800" b="1" dirty="0" err="1">
                <a:solidFill>
                  <a:schemeClr val="dk1"/>
                </a:solidFill>
                <a:latin typeface="Times New Roman" panose="02020603050405020304" pitchFamily="18" charset="0"/>
                <a:cs typeface="Times New Roman" panose="02020603050405020304" pitchFamily="18" charset="0"/>
                <a:sym typeface="Arial" panose="020B0604020202020204"/>
              </a:rPr>
              <a:t>Etre</a:t>
            </a:r>
            <a: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t> indépendant des systèmes d’exploitation et du langage de </a:t>
            </a:r>
            <a:r>
              <a:rPr lang="fr-FR" sz="1800" b="1" dirty="0" err="1">
                <a:solidFill>
                  <a:schemeClr val="dk1"/>
                </a:solidFill>
                <a:latin typeface="Times New Roman" panose="02020603050405020304" pitchFamily="18" charset="0"/>
                <a:cs typeface="Times New Roman" panose="02020603050405020304" pitchFamily="18" charset="0"/>
                <a:sym typeface="Arial" panose="020B0604020202020204"/>
              </a:rPr>
              <a:t>programmatio</a:t>
            </a:r>
            <a: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t> </a:t>
            </a:r>
            <a:b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br>
            <a:r>
              <a:rPr lang="fr-FR" sz="1800" b="1" dirty="0">
                <a:solidFill>
                  <a:schemeClr val="dk1"/>
                </a:solidFill>
                <a:latin typeface="Times New Roman" panose="02020603050405020304" pitchFamily="18" charset="0"/>
                <a:cs typeface="Times New Roman" panose="02020603050405020304" pitchFamily="18" charset="0"/>
                <a:sym typeface="Arial" panose="020B0604020202020204"/>
              </a:rPr>
              <a:t>des applications</a:t>
            </a:r>
          </a:p>
        </p:txBody>
      </p:sp>
      <p:pic>
        <p:nvPicPr>
          <p:cNvPr id="2" name="Google Shape;63;p1" descr="Picture 3">
            <a:extLst>
              <a:ext uri="{FF2B5EF4-FFF2-40B4-BE49-F238E27FC236}">
                <a16:creationId xmlns:a16="http://schemas.microsoft.com/office/drawing/2014/main" id="{9C65EF26-FDEA-DEA7-65F9-B2B76218EDE0}"/>
              </a:ext>
            </a:extLst>
          </p:cNvPr>
          <p:cNvPicPr preferRelativeResize="0"/>
          <p:nvPr/>
        </p:nvPicPr>
        <p:blipFill rotWithShape="1">
          <a:blip r:embed="rId7"/>
          <a:srcRect/>
          <a:stretch>
            <a:fillRect/>
          </a:stretch>
        </p:blipFill>
        <p:spPr>
          <a:xfrm flipH="1">
            <a:off x="9798508" y="117251"/>
            <a:ext cx="2846625" cy="15254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454" name="Google Shape;454;p16"/>
          <p:cNvSpPr/>
          <p:nvPr/>
        </p:nvSpPr>
        <p:spPr>
          <a:xfrm>
            <a:off x="349227" y="1326892"/>
            <a:ext cx="12039600" cy="51346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5" name="Google Shape;455;p16"/>
          <p:cNvSpPr txBox="1"/>
          <p:nvPr/>
        </p:nvSpPr>
        <p:spPr>
          <a:xfrm>
            <a:off x="713943" y="1314342"/>
            <a:ext cx="9192057" cy="2605200"/>
          </a:xfrm>
          <a:prstGeom prst="rect">
            <a:avLst/>
          </a:prstGeom>
          <a:noFill/>
          <a:ln>
            <a:noFill/>
          </a:ln>
        </p:spPr>
        <p:txBody>
          <a:bodyPr spcFirstLastPara="1" wrap="square" lIns="0" tIns="93325" rIns="0" bIns="0" anchor="t" anchorCtr="0">
            <a:spAutoFit/>
          </a:bodyPr>
          <a:lstStyle/>
          <a:p>
            <a:pPr marL="356870" marR="0" lvl="0" indent="-344805" algn="l" rtl="0">
              <a:lnSpc>
                <a:spcPct val="100000"/>
              </a:lnSpc>
              <a:spcBef>
                <a:spcPts val="0"/>
              </a:spcBef>
              <a:spcAft>
                <a:spcPts val="0"/>
              </a:spcAft>
              <a:buClr>
                <a:schemeClr val="dk1"/>
              </a:buClr>
              <a:buSzPts val="2000"/>
              <a:buFont typeface="Arial" panose="020B0604020202020204"/>
              <a:buChar char="•"/>
            </a:pPr>
            <a:r>
              <a:rPr lang="fr-FR" sz="2000" dirty="0">
                <a:solidFill>
                  <a:schemeClr val="dk1"/>
                </a:solidFill>
                <a:latin typeface="Arial" panose="020B0604020202020204"/>
                <a:ea typeface="Arial" panose="020B0604020202020204"/>
                <a:cs typeface="Arial" panose="020B0604020202020204"/>
                <a:sym typeface="Arial" panose="020B0604020202020204"/>
              </a:rPr>
              <a:t>Solutions existantes:</a:t>
            </a:r>
            <a:endParaRPr sz="2000" dirty="0">
              <a:solidFill>
                <a:schemeClr val="dk1"/>
              </a:solidFill>
              <a:latin typeface="Arial" panose="020B0604020202020204"/>
              <a:ea typeface="Arial" panose="020B0604020202020204"/>
              <a:cs typeface="Arial" panose="020B0604020202020204"/>
              <a:sym typeface="Arial" panose="020B0604020202020204"/>
            </a:endParaRPr>
          </a:p>
          <a:p>
            <a:pPr marL="756285" marR="0" lvl="1" indent="-287655" algn="l" rtl="0">
              <a:lnSpc>
                <a:spcPct val="100000"/>
              </a:lnSpc>
              <a:spcBef>
                <a:spcPts val="520"/>
              </a:spcBef>
              <a:spcAft>
                <a:spcPts val="0"/>
              </a:spcAft>
              <a:buClr>
                <a:schemeClr val="dk1"/>
              </a:buClr>
              <a:buSzPts val="1800"/>
              <a:buFont typeface="Arial" panose="020B0604020202020204"/>
              <a:buChar char="–"/>
            </a:pPr>
            <a:r>
              <a:rPr lang="fr-FR" sz="1800" b="0" i="0" u="none" strike="noStrike" cap="none" dirty="0">
                <a:solidFill>
                  <a:schemeClr val="dk1"/>
                </a:solidFill>
                <a:latin typeface="Arial" panose="020B0604020202020204"/>
                <a:ea typeface="Arial" panose="020B0604020202020204"/>
                <a:cs typeface="Arial" panose="020B0604020202020204"/>
                <a:sym typeface="Arial" panose="020B0604020202020204"/>
              </a:rPr>
              <a:t>DCOM,</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53110" marR="0" lvl="1" indent="-284480" algn="l" rtl="0">
              <a:lnSpc>
                <a:spcPct val="100000"/>
              </a:lnSpc>
              <a:spcBef>
                <a:spcPts val="505"/>
              </a:spcBef>
              <a:spcAft>
                <a:spcPts val="0"/>
              </a:spcAft>
              <a:buClr>
                <a:schemeClr val="dk1"/>
              </a:buClr>
              <a:buSzPts val="1800"/>
              <a:buFont typeface="Arial" panose="020B0604020202020204"/>
              <a:buChar char="–"/>
            </a:pPr>
            <a:r>
              <a:rPr lang="fr-FR" sz="1800" b="0" i="0" u="none" strike="noStrike" cap="none" dirty="0">
                <a:solidFill>
                  <a:schemeClr val="dk1"/>
                </a:solidFill>
                <a:latin typeface="Arial" panose="020B0604020202020204"/>
                <a:ea typeface="Arial" panose="020B0604020202020204"/>
                <a:cs typeface="Arial" panose="020B0604020202020204"/>
                <a:sym typeface="Arial" panose="020B0604020202020204"/>
              </a:rPr>
              <a:t>.NET </a:t>
            </a:r>
            <a:r>
              <a:rPr lang="fr-FR" sz="18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Remoting</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210310" marR="0" lvl="2" indent="-284480" algn="l" rtl="0">
              <a:spcBef>
                <a:spcPts val="505"/>
              </a:spcBef>
              <a:spcAft>
                <a:spcPts val="0"/>
              </a:spcAft>
              <a:buClr>
                <a:schemeClr val="dk1"/>
              </a:buClr>
              <a:buSzPts val="1400"/>
              <a:buFont typeface="Arial" panose="020B0604020202020204"/>
              <a:buChar char="•"/>
            </a:pPr>
            <a:r>
              <a:rPr lang="fr-FR" sz="14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Middlware</a:t>
            </a:r>
            <a:r>
              <a:rPr lang="fr-FR" sz="1400" b="0" i="0" u="none" strike="noStrike" cap="none" dirty="0">
                <a:solidFill>
                  <a:schemeClr val="dk1"/>
                </a:solidFill>
                <a:latin typeface="Arial" panose="020B0604020202020204"/>
                <a:ea typeface="Arial" panose="020B0604020202020204"/>
                <a:cs typeface="Arial" panose="020B0604020202020204"/>
                <a:sym typeface="Arial" panose="020B0604020202020204"/>
              </a:rPr>
              <a:t> .Net</a:t>
            </a:r>
            <a:endParaRPr sz="14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56285" marR="0" lvl="1" indent="-287655" algn="l" rtl="0">
              <a:lnSpc>
                <a:spcPct val="100000"/>
              </a:lnSpc>
              <a:spcBef>
                <a:spcPts val="505"/>
              </a:spcBef>
              <a:spcAft>
                <a:spcPts val="0"/>
              </a:spcAft>
              <a:buClr>
                <a:schemeClr val="dk1"/>
              </a:buClr>
              <a:buSzPts val="1800"/>
              <a:buFont typeface="Arial" panose="020B0604020202020204"/>
              <a:buChar char="–"/>
            </a:pPr>
            <a:r>
              <a:rPr lang="fr-FR" sz="1800" b="0" i="0" u="none" strike="noStrike" cap="none" dirty="0">
                <a:solidFill>
                  <a:schemeClr val="dk1"/>
                </a:solidFill>
                <a:latin typeface="Arial" panose="020B0604020202020204"/>
                <a:ea typeface="Arial" panose="020B0604020202020204"/>
                <a:cs typeface="Arial" panose="020B0604020202020204"/>
                <a:sym typeface="Arial" panose="020B0604020202020204"/>
              </a:rPr>
              <a:t>RMI (</a:t>
            </a:r>
            <a:r>
              <a:rPr lang="fr-FR" sz="18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Remote</a:t>
            </a:r>
            <a:r>
              <a:rPr lang="fr-FR" sz="1800" b="0" i="0" u="none" strike="noStrike" cap="none" dirty="0">
                <a:solidFill>
                  <a:schemeClr val="dk1"/>
                </a:solidFill>
                <a:latin typeface="Arial" panose="020B0604020202020204"/>
                <a:ea typeface="Arial" panose="020B0604020202020204"/>
                <a:cs typeface="Arial" panose="020B0604020202020204"/>
                <a:sym typeface="Arial" panose="020B0604020202020204"/>
              </a:rPr>
              <a:t> Method Invocation)</a:t>
            </a:r>
            <a:endParaRPr dirty="0"/>
          </a:p>
          <a:p>
            <a:pPr marL="1213485" marR="0" lvl="2" indent="-287655" algn="l" rtl="0">
              <a:spcBef>
                <a:spcPts val="505"/>
              </a:spcBef>
              <a:spcAft>
                <a:spcPts val="0"/>
              </a:spcAft>
              <a:buClr>
                <a:schemeClr val="dk1"/>
              </a:buClr>
              <a:buSzPts val="1400"/>
              <a:buFont typeface="Arial" panose="020B0604020202020204"/>
              <a:buChar char="•"/>
            </a:pPr>
            <a:r>
              <a:rPr lang="fr-FR" sz="14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Middlware</a:t>
            </a:r>
            <a:r>
              <a:rPr lang="fr-FR" sz="1400" b="0" i="0" u="none" strike="noStrike" cap="none" dirty="0">
                <a:solidFill>
                  <a:schemeClr val="dk1"/>
                </a:solidFill>
                <a:latin typeface="Arial" panose="020B0604020202020204"/>
                <a:ea typeface="Arial" panose="020B0604020202020204"/>
                <a:cs typeface="Arial" panose="020B0604020202020204"/>
                <a:sym typeface="Arial" panose="020B0604020202020204"/>
              </a:rPr>
              <a:t> Java permet de faire communiquer des </a:t>
            </a:r>
            <a:r>
              <a:rPr lang="fr-FR" sz="1400" b="0" i="1" u="none" strike="noStrike" cap="none" dirty="0">
                <a:solidFill>
                  <a:schemeClr val="dk1"/>
                </a:solidFill>
                <a:latin typeface="Arial" panose="020B0604020202020204"/>
                <a:ea typeface="Arial" panose="020B0604020202020204"/>
                <a:cs typeface="Arial" panose="020B0604020202020204"/>
                <a:sym typeface="Arial" panose="020B0604020202020204"/>
              </a:rPr>
              <a:t>objets</a:t>
            </a:r>
            <a:r>
              <a:rPr lang="fr-FR" sz="14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fr-FR" sz="1400" b="0" i="1" u="none" strike="noStrike" cap="none" dirty="0">
                <a:solidFill>
                  <a:schemeClr val="dk1"/>
                </a:solidFill>
                <a:latin typeface="Arial" panose="020B0604020202020204"/>
                <a:ea typeface="Arial" panose="020B0604020202020204"/>
                <a:cs typeface="Arial" panose="020B0604020202020204"/>
                <a:sym typeface="Arial" panose="020B0604020202020204"/>
              </a:rPr>
              <a:t>java</a:t>
            </a:r>
            <a:r>
              <a:rPr lang="fr-FR" sz="14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fr-FR"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distribués</a:t>
            </a:r>
            <a:r>
              <a:rPr lang="fr-FR" sz="1400" b="0" i="0" u="none" strike="noStrike" cap="none" dirty="0">
                <a:solidFill>
                  <a:schemeClr val="dk1"/>
                </a:solidFill>
                <a:latin typeface="Arial" panose="020B0604020202020204"/>
                <a:ea typeface="Arial" panose="020B0604020202020204"/>
                <a:cs typeface="Arial" panose="020B0604020202020204"/>
                <a:sym typeface="Arial" panose="020B0604020202020204"/>
              </a:rPr>
              <a:t> sur le réseau</a:t>
            </a:r>
            <a:endParaRPr sz="14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56285" marR="0" lvl="1" indent="-287655" algn="l" rtl="0">
              <a:spcBef>
                <a:spcPts val="480"/>
              </a:spcBef>
              <a:spcAft>
                <a:spcPts val="0"/>
              </a:spcAft>
              <a:buClr>
                <a:schemeClr val="dk1"/>
              </a:buClr>
              <a:buSzPts val="1800"/>
              <a:buFont typeface="Arial" panose="020B0604020202020204"/>
              <a:buChar char="–"/>
            </a:pPr>
            <a:r>
              <a:rPr lang="fr-FR" sz="1800" b="0" i="0" u="none" strike="noStrike" cap="none" dirty="0">
                <a:solidFill>
                  <a:schemeClr val="dk1"/>
                </a:solidFill>
                <a:latin typeface="Arial" panose="020B0604020202020204"/>
                <a:ea typeface="Arial" panose="020B0604020202020204"/>
                <a:cs typeface="Arial" panose="020B0604020202020204"/>
                <a:sym typeface="Arial" panose="020B0604020202020204"/>
              </a:rPr>
              <a:t>CORBA (Common Object </a:t>
            </a:r>
            <a:r>
              <a:rPr lang="fr-FR" sz="18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Request</a:t>
            </a:r>
            <a:r>
              <a:rPr lang="fr-FR" sz="1800" b="0" i="0" u="none" strike="noStrike" cap="none" dirty="0">
                <a:solidFill>
                  <a:schemeClr val="dk1"/>
                </a:solidFill>
                <a:latin typeface="Arial" panose="020B0604020202020204"/>
                <a:ea typeface="Arial" panose="020B0604020202020204"/>
                <a:cs typeface="Arial" panose="020B0604020202020204"/>
                <a:sym typeface="Arial" panose="020B0604020202020204"/>
              </a:rPr>
              <a:t> Broker Architecture)</a:t>
            </a:r>
            <a:endParaRPr dirty="0"/>
          </a:p>
          <a:p>
            <a:pPr marL="1213485" marR="0" lvl="2" indent="-287655" algn="l" rtl="0">
              <a:spcBef>
                <a:spcPts val="480"/>
              </a:spcBef>
              <a:spcAft>
                <a:spcPts val="0"/>
              </a:spcAft>
              <a:buClr>
                <a:schemeClr val="dk1"/>
              </a:buClr>
              <a:buSzPts val="1400"/>
              <a:buFont typeface="Arial" panose="020B0604020202020204"/>
              <a:buChar char="•"/>
            </a:pPr>
            <a:r>
              <a:rPr lang="fr-FR" sz="1400" b="0" i="0" u="none" strike="noStrike" cap="none" dirty="0">
                <a:solidFill>
                  <a:schemeClr val="dk1"/>
                </a:solidFill>
                <a:latin typeface="Arial" panose="020B0604020202020204"/>
                <a:ea typeface="Arial" panose="020B0604020202020204"/>
                <a:cs typeface="Arial" panose="020B0604020202020204"/>
                <a:sym typeface="Arial" panose="020B0604020202020204"/>
              </a:rPr>
              <a:t>Permet de faire communiquer des objets écrits dans des langages différents (C++, Java, </a:t>
            </a:r>
            <a:r>
              <a:rPr lang="fr-FR" sz="14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Smalltalk</a:t>
            </a:r>
            <a:r>
              <a:rPr lang="fr-FR" sz="1400" b="0" i="0" u="none" strike="noStrike" cap="none" dirty="0">
                <a:solidFill>
                  <a:schemeClr val="dk1"/>
                </a:solidFill>
                <a:latin typeface="Arial" panose="020B0604020202020204"/>
                <a:ea typeface="Arial" panose="020B0604020202020204"/>
                <a:cs typeface="Arial" panose="020B0604020202020204"/>
                <a:sym typeface="Arial" panose="020B0604020202020204"/>
              </a:rPr>
              <a:t>)</a:t>
            </a:r>
            <a:endParaRPr sz="14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56" name="Google Shape;456;p16"/>
          <p:cNvSpPr txBox="1"/>
          <p:nvPr/>
        </p:nvSpPr>
        <p:spPr>
          <a:xfrm>
            <a:off x="1143000" y="4114800"/>
            <a:ext cx="453390" cy="62772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2000" dirty="0">
                <a:solidFill>
                  <a:srgbClr val="C00000"/>
                </a:solidFill>
                <a:latin typeface="Arial" panose="020B0604020202020204"/>
                <a:ea typeface="Arial" panose="020B0604020202020204"/>
                <a:cs typeface="Arial" panose="020B0604020202020204"/>
                <a:sym typeface="Arial" panose="020B0604020202020204"/>
              </a:rPr>
              <a:t>–	</a:t>
            </a:r>
            <a:endParaRPr sz="2000" dirty="0">
              <a:solidFill>
                <a:srgbClr val="C00000"/>
              </a:solidFill>
              <a:latin typeface="Arial" panose="020B0604020202020204"/>
              <a:ea typeface="Arial" panose="020B0604020202020204"/>
              <a:cs typeface="Arial" panose="020B0604020202020204"/>
              <a:sym typeface="Arial" panose="020B0604020202020204"/>
            </a:endParaRPr>
          </a:p>
        </p:txBody>
      </p:sp>
      <p:grpSp>
        <p:nvGrpSpPr>
          <p:cNvPr id="457" name="Google Shape;457;p16"/>
          <p:cNvGrpSpPr/>
          <p:nvPr/>
        </p:nvGrpSpPr>
        <p:grpSpPr>
          <a:xfrm>
            <a:off x="1144210" y="4881376"/>
            <a:ext cx="9505188" cy="1507875"/>
            <a:chOff x="952500" y="4201667"/>
            <a:chExt cx="9619486" cy="2181819"/>
          </a:xfrm>
        </p:grpSpPr>
        <p:sp>
          <p:nvSpPr>
            <p:cNvPr id="458" name="Google Shape;458;p16"/>
            <p:cNvSpPr/>
            <p:nvPr/>
          </p:nvSpPr>
          <p:spPr>
            <a:xfrm>
              <a:off x="3619500" y="4858511"/>
              <a:ext cx="4381500" cy="856615"/>
            </a:xfrm>
            <a:custGeom>
              <a:avLst/>
              <a:gdLst/>
              <a:ahLst/>
              <a:cxnLst/>
              <a:rect l="l" t="t" r="r" b="b"/>
              <a:pathLst>
                <a:path w="4381500" h="856614" extrusionOk="0">
                  <a:moveTo>
                    <a:pt x="4381500" y="428244"/>
                  </a:moveTo>
                  <a:lnTo>
                    <a:pt x="4095623" y="213995"/>
                  </a:lnTo>
                  <a:lnTo>
                    <a:pt x="3810000" y="0"/>
                  </a:lnTo>
                  <a:lnTo>
                    <a:pt x="3810000" y="213995"/>
                  </a:lnTo>
                  <a:lnTo>
                    <a:pt x="571500" y="213995"/>
                  </a:lnTo>
                  <a:lnTo>
                    <a:pt x="571500" y="0"/>
                  </a:lnTo>
                  <a:lnTo>
                    <a:pt x="0" y="428244"/>
                  </a:lnTo>
                  <a:lnTo>
                    <a:pt x="571500" y="856488"/>
                  </a:lnTo>
                  <a:lnTo>
                    <a:pt x="571500" y="642366"/>
                  </a:lnTo>
                  <a:lnTo>
                    <a:pt x="3810000" y="642366"/>
                  </a:lnTo>
                  <a:lnTo>
                    <a:pt x="3810000" y="856488"/>
                  </a:lnTo>
                  <a:lnTo>
                    <a:pt x="4095623" y="642366"/>
                  </a:lnTo>
                  <a:lnTo>
                    <a:pt x="4381500" y="428244"/>
                  </a:lnTo>
                  <a:close/>
                </a:path>
              </a:pathLst>
            </a:custGeom>
            <a:solidFill>
              <a:srgbClr val="B8DFE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9" name="Google Shape;459;p16"/>
            <p:cNvSpPr/>
            <p:nvPr/>
          </p:nvSpPr>
          <p:spPr>
            <a:xfrm>
              <a:off x="3620261" y="4859273"/>
              <a:ext cx="4381500" cy="856615"/>
            </a:xfrm>
            <a:custGeom>
              <a:avLst/>
              <a:gdLst/>
              <a:ahLst/>
              <a:cxnLst/>
              <a:rect l="l" t="t" r="r" b="b"/>
              <a:pathLst>
                <a:path w="4381500" h="856614" extrusionOk="0">
                  <a:moveTo>
                    <a:pt x="0" y="428244"/>
                  </a:moveTo>
                  <a:lnTo>
                    <a:pt x="571500" y="0"/>
                  </a:lnTo>
                  <a:lnTo>
                    <a:pt x="571500" y="213994"/>
                  </a:lnTo>
                  <a:lnTo>
                    <a:pt x="3809999" y="213994"/>
                  </a:lnTo>
                  <a:lnTo>
                    <a:pt x="3809999" y="0"/>
                  </a:lnTo>
                  <a:lnTo>
                    <a:pt x="4381499" y="428244"/>
                  </a:lnTo>
                  <a:lnTo>
                    <a:pt x="3809999" y="856488"/>
                  </a:lnTo>
                  <a:lnTo>
                    <a:pt x="3809999" y="642366"/>
                  </a:lnTo>
                  <a:lnTo>
                    <a:pt x="571500" y="642366"/>
                  </a:lnTo>
                  <a:lnTo>
                    <a:pt x="571500" y="856488"/>
                  </a:lnTo>
                  <a:lnTo>
                    <a:pt x="0" y="428244"/>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0" name="Google Shape;460;p16"/>
            <p:cNvSpPr/>
            <p:nvPr/>
          </p:nvSpPr>
          <p:spPr>
            <a:xfrm>
              <a:off x="7207958" y="5926286"/>
              <a:ext cx="762000" cy="457200"/>
            </a:xfrm>
            <a:prstGeom prst="rect">
              <a:avLst/>
            </a:prstGeom>
            <a:blipFill rotWithShape="1">
              <a:blip r:embed="rId4"/>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1" name="Google Shape;461;p16"/>
            <p:cNvSpPr/>
            <p:nvPr/>
          </p:nvSpPr>
          <p:spPr>
            <a:xfrm>
              <a:off x="8065007" y="4201667"/>
              <a:ext cx="2506979" cy="1882139"/>
            </a:xfrm>
            <a:prstGeom prst="rect">
              <a:avLst/>
            </a:prstGeom>
            <a:blipFill rotWithShape="1">
              <a:blip r:embed="rId5"/>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2" name="Google Shape;462;p16"/>
            <p:cNvSpPr/>
            <p:nvPr/>
          </p:nvSpPr>
          <p:spPr>
            <a:xfrm>
              <a:off x="952500" y="4354067"/>
              <a:ext cx="2508504" cy="1882139"/>
            </a:xfrm>
            <a:prstGeom prst="rect">
              <a:avLst/>
            </a:prstGeom>
            <a:blipFill rotWithShape="1">
              <a:blip r:embed="rId5"/>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463" name="Google Shape;463;p16"/>
          <p:cNvSpPr txBox="1"/>
          <p:nvPr/>
        </p:nvSpPr>
        <p:spPr>
          <a:xfrm>
            <a:off x="1573403" y="5994979"/>
            <a:ext cx="175577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Arial" panose="020B0604020202020204"/>
                <a:ea typeface="Arial" panose="020B0604020202020204"/>
                <a:cs typeface="Arial" panose="020B0604020202020204"/>
                <a:sym typeface="Arial" panose="020B0604020202020204"/>
              </a:rPr>
              <a:t>Application A</a:t>
            </a:r>
            <a:endParaRPr dirty="0"/>
          </a:p>
        </p:txBody>
      </p:sp>
      <p:grpSp>
        <p:nvGrpSpPr>
          <p:cNvPr id="464" name="Google Shape;464;p16"/>
          <p:cNvGrpSpPr/>
          <p:nvPr/>
        </p:nvGrpSpPr>
        <p:grpSpPr>
          <a:xfrm>
            <a:off x="4703253" y="4666227"/>
            <a:ext cx="2099437" cy="1500632"/>
            <a:chOff x="4760976" y="4506467"/>
            <a:chExt cx="2099437" cy="1500632"/>
          </a:xfrm>
        </p:grpSpPr>
        <p:sp>
          <p:nvSpPr>
            <p:cNvPr id="465" name="Google Shape;465;p16"/>
            <p:cNvSpPr/>
            <p:nvPr/>
          </p:nvSpPr>
          <p:spPr>
            <a:xfrm>
              <a:off x="4760976" y="4506467"/>
              <a:ext cx="2098675" cy="1499870"/>
            </a:xfrm>
            <a:custGeom>
              <a:avLst/>
              <a:gdLst/>
              <a:ahLst/>
              <a:cxnLst/>
              <a:rect l="l" t="t" r="r" b="b"/>
              <a:pathLst>
                <a:path w="2098675" h="1499870" extrusionOk="0">
                  <a:moveTo>
                    <a:pt x="2098167" y="719086"/>
                  </a:moveTo>
                  <a:lnTo>
                    <a:pt x="2093087" y="669925"/>
                  </a:lnTo>
                  <a:lnTo>
                    <a:pt x="2080133" y="621665"/>
                  </a:lnTo>
                  <a:lnTo>
                    <a:pt x="2059178" y="575310"/>
                  </a:lnTo>
                  <a:lnTo>
                    <a:pt x="2030222" y="531495"/>
                  </a:lnTo>
                  <a:lnTo>
                    <a:pt x="2033651" y="523367"/>
                  </a:lnTo>
                  <a:lnTo>
                    <a:pt x="2039493" y="506857"/>
                  </a:lnTo>
                  <a:lnTo>
                    <a:pt x="2042033" y="498348"/>
                  </a:lnTo>
                  <a:lnTo>
                    <a:pt x="2050669" y="447929"/>
                  </a:lnTo>
                  <a:lnTo>
                    <a:pt x="2048891" y="398272"/>
                  </a:lnTo>
                  <a:lnTo>
                    <a:pt x="2037461" y="350774"/>
                  </a:lnTo>
                  <a:lnTo>
                    <a:pt x="2017014" y="306578"/>
                  </a:lnTo>
                  <a:lnTo>
                    <a:pt x="1988439" y="267081"/>
                  </a:lnTo>
                  <a:lnTo>
                    <a:pt x="1952244" y="233299"/>
                  </a:lnTo>
                  <a:lnTo>
                    <a:pt x="1909318" y="206629"/>
                  </a:lnTo>
                  <a:lnTo>
                    <a:pt x="1860423" y="188341"/>
                  </a:lnTo>
                  <a:lnTo>
                    <a:pt x="1856867" y="175387"/>
                  </a:lnTo>
                  <a:lnTo>
                    <a:pt x="1849755" y="150114"/>
                  </a:lnTo>
                  <a:lnTo>
                    <a:pt x="1832597" y="114554"/>
                  </a:lnTo>
                  <a:lnTo>
                    <a:pt x="1832102" y="113919"/>
                  </a:lnTo>
                  <a:lnTo>
                    <a:pt x="1809496" y="82296"/>
                  </a:lnTo>
                  <a:lnTo>
                    <a:pt x="1807972" y="80899"/>
                  </a:lnTo>
                  <a:lnTo>
                    <a:pt x="1780794" y="54229"/>
                  </a:lnTo>
                  <a:lnTo>
                    <a:pt x="1735582" y="24892"/>
                  </a:lnTo>
                  <a:lnTo>
                    <a:pt x="1686306" y="6858"/>
                  </a:lnTo>
                  <a:lnTo>
                    <a:pt x="1634998" y="0"/>
                  </a:lnTo>
                  <a:lnTo>
                    <a:pt x="1583563" y="4191"/>
                  </a:lnTo>
                  <a:lnTo>
                    <a:pt x="1534033" y="19050"/>
                  </a:lnTo>
                  <a:lnTo>
                    <a:pt x="1488440" y="44704"/>
                  </a:lnTo>
                  <a:lnTo>
                    <a:pt x="1448689" y="80899"/>
                  </a:lnTo>
                  <a:lnTo>
                    <a:pt x="1432941" y="62992"/>
                  </a:lnTo>
                  <a:lnTo>
                    <a:pt x="1395857" y="33020"/>
                  </a:lnTo>
                  <a:lnTo>
                    <a:pt x="1321054" y="3429"/>
                  </a:lnTo>
                  <a:lnTo>
                    <a:pt x="1266317" y="0"/>
                  </a:lnTo>
                  <a:lnTo>
                    <a:pt x="1213104" y="10287"/>
                  </a:lnTo>
                  <a:lnTo>
                    <a:pt x="1164336" y="33274"/>
                  </a:lnTo>
                  <a:lnTo>
                    <a:pt x="1122680" y="68072"/>
                  </a:lnTo>
                  <a:lnTo>
                    <a:pt x="1090803" y="113919"/>
                  </a:lnTo>
                  <a:lnTo>
                    <a:pt x="1076960" y="101600"/>
                  </a:lnTo>
                  <a:lnTo>
                    <a:pt x="1030732" y="70866"/>
                  </a:lnTo>
                  <a:lnTo>
                    <a:pt x="975106" y="49657"/>
                  </a:lnTo>
                  <a:lnTo>
                    <a:pt x="917829" y="41402"/>
                  </a:lnTo>
                  <a:lnTo>
                    <a:pt x="861060" y="45847"/>
                  </a:lnTo>
                  <a:lnTo>
                    <a:pt x="806958" y="61976"/>
                  </a:lnTo>
                  <a:lnTo>
                    <a:pt x="757428" y="89408"/>
                  </a:lnTo>
                  <a:lnTo>
                    <a:pt x="714629" y="127381"/>
                  </a:lnTo>
                  <a:lnTo>
                    <a:pt x="680720" y="175387"/>
                  </a:lnTo>
                  <a:lnTo>
                    <a:pt x="631444" y="152400"/>
                  </a:lnTo>
                  <a:lnTo>
                    <a:pt x="579374" y="137795"/>
                  </a:lnTo>
                  <a:lnTo>
                    <a:pt x="525399" y="131699"/>
                  </a:lnTo>
                  <a:lnTo>
                    <a:pt x="470916" y="134493"/>
                  </a:lnTo>
                  <a:lnTo>
                    <a:pt x="418846" y="145542"/>
                  </a:lnTo>
                  <a:lnTo>
                    <a:pt x="370586" y="164211"/>
                  </a:lnTo>
                  <a:lnTo>
                    <a:pt x="326644" y="189484"/>
                  </a:lnTo>
                  <a:lnTo>
                    <a:pt x="287782" y="220853"/>
                  </a:lnTo>
                  <a:lnTo>
                    <a:pt x="254254" y="257556"/>
                  </a:lnTo>
                  <a:lnTo>
                    <a:pt x="226949" y="298704"/>
                  </a:lnTo>
                  <a:lnTo>
                    <a:pt x="206375" y="343535"/>
                  </a:lnTo>
                  <a:lnTo>
                    <a:pt x="193040" y="391541"/>
                  </a:lnTo>
                  <a:lnTo>
                    <a:pt x="187452" y="441833"/>
                  </a:lnTo>
                  <a:lnTo>
                    <a:pt x="190373" y="493649"/>
                  </a:lnTo>
                  <a:lnTo>
                    <a:pt x="188722" y="498348"/>
                  </a:lnTo>
                  <a:lnTo>
                    <a:pt x="96266" y="530098"/>
                  </a:lnTo>
                  <a:lnTo>
                    <a:pt x="58293" y="560578"/>
                  </a:lnTo>
                  <a:lnTo>
                    <a:pt x="28321" y="599313"/>
                  </a:lnTo>
                  <a:lnTo>
                    <a:pt x="8763" y="643001"/>
                  </a:lnTo>
                  <a:lnTo>
                    <a:pt x="0" y="688340"/>
                  </a:lnTo>
                  <a:lnTo>
                    <a:pt x="1651" y="733679"/>
                  </a:lnTo>
                  <a:lnTo>
                    <a:pt x="13335" y="777367"/>
                  </a:lnTo>
                  <a:lnTo>
                    <a:pt x="34544" y="817753"/>
                  </a:lnTo>
                  <a:lnTo>
                    <a:pt x="64770" y="853186"/>
                  </a:lnTo>
                  <a:lnTo>
                    <a:pt x="103759" y="881761"/>
                  </a:lnTo>
                  <a:lnTo>
                    <a:pt x="76073" y="917575"/>
                  </a:lnTo>
                  <a:lnTo>
                    <a:pt x="57277" y="957961"/>
                  </a:lnTo>
                  <a:lnTo>
                    <a:pt x="47752" y="1001395"/>
                  </a:lnTo>
                  <a:lnTo>
                    <a:pt x="48133" y="1046226"/>
                  </a:lnTo>
                  <a:lnTo>
                    <a:pt x="62230" y="1099566"/>
                  </a:lnTo>
                  <a:lnTo>
                    <a:pt x="89281" y="1145882"/>
                  </a:lnTo>
                  <a:lnTo>
                    <a:pt x="127127" y="1183436"/>
                  </a:lnTo>
                  <a:lnTo>
                    <a:pt x="173482" y="1210500"/>
                  </a:lnTo>
                  <a:lnTo>
                    <a:pt x="226187" y="1225346"/>
                  </a:lnTo>
                  <a:lnTo>
                    <a:pt x="282956" y="1226273"/>
                  </a:lnTo>
                  <a:lnTo>
                    <a:pt x="284226" y="1228483"/>
                  </a:lnTo>
                  <a:lnTo>
                    <a:pt x="318770" y="1277175"/>
                  </a:lnTo>
                  <a:lnTo>
                    <a:pt x="356108" y="1315491"/>
                  </a:lnTo>
                  <a:lnTo>
                    <a:pt x="398018" y="1347597"/>
                  </a:lnTo>
                  <a:lnTo>
                    <a:pt x="443611" y="1373314"/>
                  </a:lnTo>
                  <a:lnTo>
                    <a:pt x="492125" y="1392440"/>
                  </a:lnTo>
                  <a:lnTo>
                    <a:pt x="542798" y="1404785"/>
                  </a:lnTo>
                  <a:lnTo>
                    <a:pt x="594868" y="1410157"/>
                  </a:lnTo>
                  <a:lnTo>
                    <a:pt x="647573" y="1408353"/>
                  </a:lnTo>
                  <a:lnTo>
                    <a:pt x="699897" y="1399197"/>
                  </a:lnTo>
                  <a:lnTo>
                    <a:pt x="751332" y="1382483"/>
                  </a:lnTo>
                  <a:lnTo>
                    <a:pt x="800862" y="1358011"/>
                  </a:lnTo>
                  <a:lnTo>
                    <a:pt x="836168" y="1401025"/>
                  </a:lnTo>
                  <a:lnTo>
                    <a:pt x="878205" y="1437259"/>
                  </a:lnTo>
                  <a:lnTo>
                    <a:pt x="925830" y="1465961"/>
                  </a:lnTo>
                  <a:lnTo>
                    <a:pt x="978154" y="1486420"/>
                  </a:lnTo>
                  <a:lnTo>
                    <a:pt x="1036066" y="1498155"/>
                  </a:lnTo>
                  <a:lnTo>
                    <a:pt x="1093597" y="1499616"/>
                  </a:lnTo>
                  <a:lnTo>
                    <a:pt x="1149477" y="1491411"/>
                  </a:lnTo>
                  <a:lnTo>
                    <a:pt x="1202563" y="1474139"/>
                  </a:lnTo>
                  <a:lnTo>
                    <a:pt x="1251839" y="1448396"/>
                  </a:lnTo>
                  <a:lnTo>
                    <a:pt x="1296035" y="1414805"/>
                  </a:lnTo>
                  <a:lnTo>
                    <a:pt x="1334008" y="1373962"/>
                  </a:lnTo>
                  <a:lnTo>
                    <a:pt x="1364615" y="1326464"/>
                  </a:lnTo>
                  <a:lnTo>
                    <a:pt x="1386713" y="1272908"/>
                  </a:lnTo>
                  <a:lnTo>
                    <a:pt x="1420876" y="1290586"/>
                  </a:lnTo>
                  <a:lnTo>
                    <a:pt x="1456944" y="1303489"/>
                  </a:lnTo>
                  <a:lnTo>
                    <a:pt x="1494536" y="1311452"/>
                  </a:lnTo>
                  <a:lnTo>
                    <a:pt x="1533017" y="1314348"/>
                  </a:lnTo>
                  <a:lnTo>
                    <a:pt x="1589659" y="1309243"/>
                  </a:lnTo>
                  <a:lnTo>
                    <a:pt x="1642491" y="1293736"/>
                  </a:lnTo>
                  <a:lnTo>
                    <a:pt x="1682750" y="1272908"/>
                  </a:lnTo>
                  <a:lnTo>
                    <a:pt x="1732280" y="1235887"/>
                  </a:lnTo>
                  <a:lnTo>
                    <a:pt x="1766824" y="1195730"/>
                  </a:lnTo>
                  <a:lnTo>
                    <a:pt x="1793113" y="1149540"/>
                  </a:lnTo>
                  <a:lnTo>
                    <a:pt x="1809877" y="1098384"/>
                  </a:lnTo>
                  <a:lnTo>
                    <a:pt x="1816100" y="1043432"/>
                  </a:lnTo>
                  <a:lnTo>
                    <a:pt x="1857375" y="1035050"/>
                  </a:lnTo>
                  <a:lnTo>
                    <a:pt x="1934718" y="1003300"/>
                  </a:lnTo>
                  <a:lnTo>
                    <a:pt x="2009394" y="945515"/>
                  </a:lnTo>
                  <a:lnTo>
                    <a:pt x="2041906" y="905891"/>
                  </a:lnTo>
                  <a:lnTo>
                    <a:pt x="2067179" y="862457"/>
                  </a:lnTo>
                  <a:lnTo>
                    <a:pt x="2085086" y="816229"/>
                  </a:lnTo>
                  <a:lnTo>
                    <a:pt x="2095373" y="768096"/>
                  </a:lnTo>
                  <a:lnTo>
                    <a:pt x="2098167" y="719086"/>
                  </a:lnTo>
                  <a:close/>
                </a:path>
              </a:pathLst>
            </a:custGeom>
            <a:solidFill>
              <a:srgbClr val="B8DFE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6" name="Google Shape;466;p16"/>
            <p:cNvSpPr/>
            <p:nvPr/>
          </p:nvSpPr>
          <p:spPr>
            <a:xfrm>
              <a:off x="4761738" y="4507229"/>
              <a:ext cx="2098675" cy="1499870"/>
            </a:xfrm>
            <a:custGeom>
              <a:avLst/>
              <a:gdLst/>
              <a:ahLst/>
              <a:cxnLst/>
              <a:rect l="l" t="t" r="r" b="b"/>
              <a:pathLst>
                <a:path w="2098675" h="1499870" extrusionOk="0">
                  <a:moveTo>
                    <a:pt x="190373" y="493649"/>
                  </a:moveTo>
                  <a:lnTo>
                    <a:pt x="187451" y="441833"/>
                  </a:lnTo>
                  <a:lnTo>
                    <a:pt x="193039" y="391541"/>
                  </a:lnTo>
                  <a:lnTo>
                    <a:pt x="206375" y="343535"/>
                  </a:lnTo>
                  <a:lnTo>
                    <a:pt x="226949" y="298704"/>
                  </a:lnTo>
                  <a:lnTo>
                    <a:pt x="254253" y="257556"/>
                  </a:lnTo>
                  <a:lnTo>
                    <a:pt x="287782" y="220853"/>
                  </a:lnTo>
                  <a:lnTo>
                    <a:pt x="326644" y="189484"/>
                  </a:lnTo>
                  <a:lnTo>
                    <a:pt x="370586" y="164211"/>
                  </a:lnTo>
                  <a:lnTo>
                    <a:pt x="418846" y="145542"/>
                  </a:lnTo>
                  <a:lnTo>
                    <a:pt x="470915" y="134493"/>
                  </a:lnTo>
                  <a:lnTo>
                    <a:pt x="525399" y="131699"/>
                  </a:lnTo>
                  <a:lnTo>
                    <a:pt x="579374" y="137795"/>
                  </a:lnTo>
                  <a:lnTo>
                    <a:pt x="631444" y="152400"/>
                  </a:lnTo>
                  <a:lnTo>
                    <a:pt x="680720" y="175387"/>
                  </a:lnTo>
                  <a:lnTo>
                    <a:pt x="714628" y="127381"/>
                  </a:lnTo>
                  <a:lnTo>
                    <a:pt x="757427" y="89408"/>
                  </a:lnTo>
                  <a:lnTo>
                    <a:pt x="806958" y="61976"/>
                  </a:lnTo>
                  <a:lnTo>
                    <a:pt x="861060" y="45847"/>
                  </a:lnTo>
                  <a:lnTo>
                    <a:pt x="917828" y="41402"/>
                  </a:lnTo>
                  <a:lnTo>
                    <a:pt x="975106" y="49657"/>
                  </a:lnTo>
                  <a:lnTo>
                    <a:pt x="1030732" y="70866"/>
                  </a:lnTo>
                  <a:lnTo>
                    <a:pt x="1076960" y="101600"/>
                  </a:lnTo>
                  <a:lnTo>
                    <a:pt x="1090802" y="113919"/>
                  </a:lnTo>
                  <a:lnTo>
                    <a:pt x="1122679" y="68072"/>
                  </a:lnTo>
                  <a:lnTo>
                    <a:pt x="1164336" y="33274"/>
                  </a:lnTo>
                  <a:lnTo>
                    <a:pt x="1213103" y="10287"/>
                  </a:lnTo>
                  <a:lnTo>
                    <a:pt x="1266316" y="0"/>
                  </a:lnTo>
                  <a:lnTo>
                    <a:pt x="1321053" y="3429"/>
                  </a:lnTo>
                  <a:lnTo>
                    <a:pt x="1374902" y="21336"/>
                  </a:lnTo>
                  <a:lnTo>
                    <a:pt x="1415288" y="46990"/>
                  </a:lnTo>
                  <a:lnTo>
                    <a:pt x="1448689" y="80899"/>
                  </a:lnTo>
                  <a:lnTo>
                    <a:pt x="1488439" y="44704"/>
                  </a:lnTo>
                  <a:lnTo>
                    <a:pt x="1534033" y="19050"/>
                  </a:lnTo>
                  <a:lnTo>
                    <a:pt x="1583563" y="4191"/>
                  </a:lnTo>
                  <a:lnTo>
                    <a:pt x="1634998" y="0"/>
                  </a:lnTo>
                  <a:lnTo>
                    <a:pt x="1686306" y="6858"/>
                  </a:lnTo>
                  <a:lnTo>
                    <a:pt x="1735582" y="24892"/>
                  </a:lnTo>
                  <a:lnTo>
                    <a:pt x="1780793" y="54229"/>
                  </a:lnTo>
                  <a:lnTo>
                    <a:pt x="1832610" y="114554"/>
                  </a:lnTo>
                  <a:lnTo>
                    <a:pt x="1860422" y="188341"/>
                  </a:lnTo>
                  <a:lnTo>
                    <a:pt x="1909317" y="206629"/>
                  </a:lnTo>
                  <a:lnTo>
                    <a:pt x="1952243" y="233299"/>
                  </a:lnTo>
                  <a:lnTo>
                    <a:pt x="1988439" y="267081"/>
                  </a:lnTo>
                  <a:lnTo>
                    <a:pt x="2017014" y="306578"/>
                  </a:lnTo>
                  <a:lnTo>
                    <a:pt x="2037461" y="350774"/>
                  </a:lnTo>
                  <a:lnTo>
                    <a:pt x="2048890" y="398272"/>
                  </a:lnTo>
                  <a:lnTo>
                    <a:pt x="2050668" y="447929"/>
                  </a:lnTo>
                  <a:lnTo>
                    <a:pt x="2042033" y="498348"/>
                  </a:lnTo>
                  <a:lnTo>
                    <a:pt x="2039492" y="506857"/>
                  </a:lnTo>
                  <a:lnTo>
                    <a:pt x="2036698" y="515112"/>
                  </a:lnTo>
                  <a:lnTo>
                    <a:pt x="2033651" y="523367"/>
                  </a:lnTo>
                  <a:lnTo>
                    <a:pt x="2030221" y="531495"/>
                  </a:lnTo>
                  <a:lnTo>
                    <a:pt x="2059178" y="575310"/>
                  </a:lnTo>
                  <a:lnTo>
                    <a:pt x="2080133" y="621665"/>
                  </a:lnTo>
                  <a:lnTo>
                    <a:pt x="2093087" y="669925"/>
                  </a:lnTo>
                  <a:lnTo>
                    <a:pt x="2098166" y="719074"/>
                  </a:lnTo>
                  <a:lnTo>
                    <a:pt x="2095372" y="768096"/>
                  </a:lnTo>
                  <a:lnTo>
                    <a:pt x="2085086" y="816229"/>
                  </a:lnTo>
                  <a:lnTo>
                    <a:pt x="2067179" y="862457"/>
                  </a:lnTo>
                  <a:lnTo>
                    <a:pt x="2041906" y="905891"/>
                  </a:lnTo>
                  <a:lnTo>
                    <a:pt x="2009393" y="945515"/>
                  </a:lnTo>
                  <a:lnTo>
                    <a:pt x="1969642" y="980440"/>
                  </a:lnTo>
                  <a:lnTo>
                    <a:pt x="1897126" y="1021588"/>
                  </a:lnTo>
                  <a:lnTo>
                    <a:pt x="1816100" y="1043432"/>
                  </a:lnTo>
                  <a:lnTo>
                    <a:pt x="1809877" y="1098384"/>
                  </a:lnTo>
                  <a:lnTo>
                    <a:pt x="1793113" y="1149540"/>
                  </a:lnTo>
                  <a:lnTo>
                    <a:pt x="1766823" y="1195730"/>
                  </a:lnTo>
                  <a:lnTo>
                    <a:pt x="1732279" y="1235887"/>
                  </a:lnTo>
                  <a:lnTo>
                    <a:pt x="1690370" y="1268920"/>
                  </a:lnTo>
                  <a:lnTo>
                    <a:pt x="1642490" y="1293736"/>
                  </a:lnTo>
                  <a:lnTo>
                    <a:pt x="1589659" y="1309243"/>
                  </a:lnTo>
                  <a:lnTo>
                    <a:pt x="1533016" y="1314348"/>
                  </a:lnTo>
                  <a:lnTo>
                    <a:pt x="1494536" y="1311452"/>
                  </a:lnTo>
                  <a:lnTo>
                    <a:pt x="1456944" y="1303489"/>
                  </a:lnTo>
                  <a:lnTo>
                    <a:pt x="1420876" y="1290586"/>
                  </a:lnTo>
                  <a:lnTo>
                    <a:pt x="1386713" y="1272908"/>
                  </a:lnTo>
                  <a:lnTo>
                    <a:pt x="1364614" y="1326464"/>
                  </a:lnTo>
                  <a:lnTo>
                    <a:pt x="1334008" y="1373962"/>
                  </a:lnTo>
                  <a:lnTo>
                    <a:pt x="1296035" y="1414805"/>
                  </a:lnTo>
                  <a:lnTo>
                    <a:pt x="1251839" y="1448396"/>
                  </a:lnTo>
                  <a:lnTo>
                    <a:pt x="1202563" y="1474139"/>
                  </a:lnTo>
                  <a:lnTo>
                    <a:pt x="1149477" y="1491411"/>
                  </a:lnTo>
                  <a:lnTo>
                    <a:pt x="1093597" y="1499616"/>
                  </a:lnTo>
                  <a:lnTo>
                    <a:pt x="1036065" y="1498155"/>
                  </a:lnTo>
                  <a:lnTo>
                    <a:pt x="978153" y="1486420"/>
                  </a:lnTo>
                  <a:lnTo>
                    <a:pt x="925829" y="1465961"/>
                  </a:lnTo>
                  <a:lnTo>
                    <a:pt x="878204" y="1437259"/>
                  </a:lnTo>
                  <a:lnTo>
                    <a:pt x="836167" y="1401025"/>
                  </a:lnTo>
                  <a:lnTo>
                    <a:pt x="800862" y="1358011"/>
                  </a:lnTo>
                  <a:lnTo>
                    <a:pt x="751332" y="1382483"/>
                  </a:lnTo>
                  <a:lnTo>
                    <a:pt x="699897" y="1399197"/>
                  </a:lnTo>
                  <a:lnTo>
                    <a:pt x="647573" y="1408353"/>
                  </a:lnTo>
                  <a:lnTo>
                    <a:pt x="594867" y="1410157"/>
                  </a:lnTo>
                  <a:lnTo>
                    <a:pt x="542798" y="1404785"/>
                  </a:lnTo>
                  <a:lnTo>
                    <a:pt x="492125" y="1392440"/>
                  </a:lnTo>
                  <a:lnTo>
                    <a:pt x="443611" y="1373314"/>
                  </a:lnTo>
                  <a:lnTo>
                    <a:pt x="398017" y="1347597"/>
                  </a:lnTo>
                  <a:lnTo>
                    <a:pt x="356108" y="1315491"/>
                  </a:lnTo>
                  <a:lnTo>
                    <a:pt x="318770" y="1277175"/>
                  </a:lnTo>
                  <a:lnTo>
                    <a:pt x="286765" y="1232865"/>
                  </a:lnTo>
                  <a:lnTo>
                    <a:pt x="282956" y="1226273"/>
                  </a:lnTo>
                  <a:lnTo>
                    <a:pt x="226187" y="1225346"/>
                  </a:lnTo>
                  <a:lnTo>
                    <a:pt x="173482" y="1210500"/>
                  </a:lnTo>
                  <a:lnTo>
                    <a:pt x="127126" y="1183436"/>
                  </a:lnTo>
                  <a:lnTo>
                    <a:pt x="89281" y="1145882"/>
                  </a:lnTo>
                  <a:lnTo>
                    <a:pt x="62229" y="1099566"/>
                  </a:lnTo>
                  <a:lnTo>
                    <a:pt x="48133" y="1046226"/>
                  </a:lnTo>
                  <a:lnTo>
                    <a:pt x="47751" y="1001395"/>
                  </a:lnTo>
                  <a:lnTo>
                    <a:pt x="57276" y="957961"/>
                  </a:lnTo>
                  <a:lnTo>
                    <a:pt x="76073" y="917575"/>
                  </a:lnTo>
                  <a:lnTo>
                    <a:pt x="103759" y="881761"/>
                  </a:lnTo>
                  <a:lnTo>
                    <a:pt x="64770" y="853186"/>
                  </a:lnTo>
                  <a:lnTo>
                    <a:pt x="34544" y="817753"/>
                  </a:lnTo>
                  <a:lnTo>
                    <a:pt x="13335" y="777367"/>
                  </a:lnTo>
                  <a:lnTo>
                    <a:pt x="1650" y="733679"/>
                  </a:lnTo>
                  <a:lnTo>
                    <a:pt x="0" y="688340"/>
                  </a:lnTo>
                  <a:lnTo>
                    <a:pt x="8762" y="643001"/>
                  </a:lnTo>
                  <a:lnTo>
                    <a:pt x="28321" y="599313"/>
                  </a:lnTo>
                  <a:lnTo>
                    <a:pt x="58292" y="560578"/>
                  </a:lnTo>
                  <a:lnTo>
                    <a:pt x="96265" y="530098"/>
                  </a:lnTo>
                  <a:lnTo>
                    <a:pt x="140208" y="509016"/>
                  </a:lnTo>
                  <a:lnTo>
                    <a:pt x="188722" y="498348"/>
                  </a:lnTo>
                  <a:lnTo>
                    <a:pt x="190373" y="493649"/>
                  </a:lnTo>
                  <a:close/>
                </a:path>
                <a:path w="2098675" h="1499870" extrusionOk="0">
                  <a:moveTo>
                    <a:pt x="228600" y="903478"/>
                  </a:moveTo>
                  <a:lnTo>
                    <a:pt x="196723" y="903478"/>
                  </a:lnTo>
                  <a:lnTo>
                    <a:pt x="165481" y="898652"/>
                  </a:lnTo>
                  <a:lnTo>
                    <a:pt x="135254" y="889127"/>
                  </a:lnTo>
                  <a:lnTo>
                    <a:pt x="106679" y="874776"/>
                  </a:lnTo>
                </a:path>
                <a:path w="2098675" h="1499870" extrusionOk="0">
                  <a:moveTo>
                    <a:pt x="337947" y="1205484"/>
                  </a:moveTo>
                  <a:lnTo>
                    <a:pt x="324738" y="1210208"/>
                  </a:lnTo>
                  <a:lnTo>
                    <a:pt x="311150" y="1214069"/>
                  </a:lnTo>
                  <a:lnTo>
                    <a:pt x="297434" y="1217028"/>
                  </a:lnTo>
                  <a:lnTo>
                    <a:pt x="283463" y="1219111"/>
                  </a:lnTo>
                </a:path>
                <a:path w="2098675" h="1499870" extrusionOk="0">
                  <a:moveTo>
                    <a:pt x="800988" y="1351254"/>
                  </a:moveTo>
                  <a:lnTo>
                    <a:pt x="791463" y="1336802"/>
                  </a:lnTo>
                  <a:lnTo>
                    <a:pt x="782954" y="1321879"/>
                  </a:lnTo>
                  <a:lnTo>
                    <a:pt x="775081" y="1306550"/>
                  </a:lnTo>
                  <a:lnTo>
                    <a:pt x="768096" y="1290828"/>
                  </a:lnTo>
                </a:path>
                <a:path w="2098675" h="1499870" extrusionOk="0">
                  <a:moveTo>
                    <a:pt x="1400048" y="1200912"/>
                  </a:moveTo>
                  <a:lnTo>
                    <a:pt x="1398015" y="1217815"/>
                  </a:lnTo>
                  <a:lnTo>
                    <a:pt x="1395222" y="1234592"/>
                  </a:lnTo>
                  <a:lnTo>
                    <a:pt x="1391539" y="1251191"/>
                  </a:lnTo>
                  <a:lnTo>
                    <a:pt x="1386839" y="1267599"/>
                  </a:lnTo>
                </a:path>
                <a:path w="2098675" h="1499870" extrusionOk="0">
                  <a:moveTo>
                    <a:pt x="1656588" y="790956"/>
                  </a:moveTo>
                  <a:lnTo>
                    <a:pt x="1702181" y="818007"/>
                  </a:lnTo>
                  <a:lnTo>
                    <a:pt x="1740915" y="852297"/>
                  </a:lnTo>
                  <a:lnTo>
                    <a:pt x="1772285" y="892683"/>
                  </a:lnTo>
                  <a:lnTo>
                    <a:pt x="1795526" y="938022"/>
                  </a:lnTo>
                  <a:lnTo>
                    <a:pt x="1809750" y="987171"/>
                  </a:lnTo>
                  <a:lnTo>
                    <a:pt x="1814448" y="1038860"/>
                  </a:lnTo>
                </a:path>
                <a:path w="2098675" h="1499870" extrusionOk="0">
                  <a:moveTo>
                    <a:pt x="2028316" y="527304"/>
                  </a:moveTo>
                  <a:lnTo>
                    <a:pt x="2014982" y="553212"/>
                  </a:lnTo>
                  <a:lnTo>
                    <a:pt x="1998726" y="577469"/>
                  </a:lnTo>
                  <a:lnTo>
                    <a:pt x="1979803" y="599821"/>
                  </a:lnTo>
                  <a:lnTo>
                    <a:pt x="1958339" y="619760"/>
                  </a:lnTo>
                </a:path>
                <a:path w="2098675" h="1499870" extrusionOk="0">
                  <a:moveTo>
                    <a:pt x="1860804" y="182880"/>
                  </a:moveTo>
                  <a:lnTo>
                    <a:pt x="1862709" y="193675"/>
                  </a:lnTo>
                  <a:lnTo>
                    <a:pt x="1863979" y="204597"/>
                  </a:lnTo>
                  <a:lnTo>
                    <a:pt x="1864740" y="215646"/>
                  </a:lnTo>
                  <a:lnTo>
                    <a:pt x="1864867" y="226568"/>
                  </a:lnTo>
                </a:path>
                <a:path w="2098675" h="1499870" extrusionOk="0">
                  <a:moveTo>
                    <a:pt x="1412748" y="132080"/>
                  </a:moveTo>
                  <a:lnTo>
                    <a:pt x="1419860" y="116840"/>
                  </a:lnTo>
                  <a:lnTo>
                    <a:pt x="1427988" y="102108"/>
                  </a:lnTo>
                  <a:lnTo>
                    <a:pt x="1437132" y="88011"/>
                  </a:lnTo>
                  <a:lnTo>
                    <a:pt x="1447291" y="74676"/>
                  </a:lnTo>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7" name="Google Shape;467;p16"/>
            <p:cNvSpPr/>
            <p:nvPr/>
          </p:nvSpPr>
          <p:spPr>
            <a:xfrm>
              <a:off x="5837682" y="4616957"/>
              <a:ext cx="16510" cy="48895"/>
            </a:xfrm>
            <a:custGeom>
              <a:avLst/>
              <a:gdLst/>
              <a:ahLst/>
              <a:cxnLst/>
              <a:rect l="l" t="t" r="r" b="b"/>
              <a:pathLst>
                <a:path w="16510" h="48895" extrusionOk="0">
                  <a:moveTo>
                    <a:pt x="0" y="48768"/>
                  </a:moveTo>
                  <a:lnTo>
                    <a:pt x="3047" y="36195"/>
                  </a:lnTo>
                  <a:lnTo>
                    <a:pt x="6857" y="23876"/>
                  </a:lnTo>
                  <a:lnTo>
                    <a:pt x="11302" y="11811"/>
                  </a:lnTo>
                  <a:lnTo>
                    <a:pt x="16382" y="0"/>
                  </a:lnTo>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8" name="Google Shape;468;p16"/>
            <p:cNvSpPr/>
            <p:nvPr/>
          </p:nvSpPr>
          <p:spPr>
            <a:xfrm>
              <a:off x="4952238" y="4680965"/>
              <a:ext cx="553085" cy="368935"/>
            </a:xfrm>
            <a:custGeom>
              <a:avLst/>
              <a:gdLst/>
              <a:ahLst/>
              <a:cxnLst/>
              <a:rect l="l" t="t" r="r" b="b"/>
              <a:pathLst>
                <a:path w="553085" h="368935" extrusionOk="0">
                  <a:moveTo>
                    <a:pt x="490727" y="0"/>
                  </a:moveTo>
                  <a:lnTo>
                    <a:pt x="507364" y="10413"/>
                  </a:lnTo>
                  <a:lnTo>
                    <a:pt x="523239" y="21716"/>
                  </a:lnTo>
                  <a:lnTo>
                    <a:pt x="538479" y="33908"/>
                  </a:lnTo>
                  <a:lnTo>
                    <a:pt x="552831" y="47116"/>
                  </a:lnTo>
                </a:path>
                <a:path w="553085" h="368935" extrusionOk="0">
                  <a:moveTo>
                    <a:pt x="10667" y="368553"/>
                  </a:moveTo>
                  <a:lnTo>
                    <a:pt x="7365" y="356615"/>
                  </a:lnTo>
                  <a:lnTo>
                    <a:pt x="4445" y="344423"/>
                  </a:lnTo>
                  <a:lnTo>
                    <a:pt x="1904" y="332358"/>
                  </a:lnTo>
                  <a:lnTo>
                    <a:pt x="0" y="320039"/>
                  </a:lnTo>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469" name="Google Shape;469;p16"/>
          <p:cNvSpPr txBox="1"/>
          <p:nvPr/>
        </p:nvSpPr>
        <p:spPr>
          <a:xfrm>
            <a:off x="7389755" y="6461502"/>
            <a:ext cx="730885" cy="238125"/>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fr-FR" sz="1400" dirty="0">
                <a:solidFill>
                  <a:schemeClr val="dk1"/>
                </a:solidFill>
                <a:latin typeface="Arial" panose="020B0604020202020204"/>
                <a:ea typeface="Arial" panose="020B0604020202020204"/>
                <a:cs typeface="Arial" panose="020B0604020202020204"/>
                <a:sym typeface="Arial" panose="020B0604020202020204"/>
              </a:rPr>
              <a:t>Réponse</a:t>
            </a:r>
            <a:endParaRPr sz="14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70" name="Google Shape;470;p16"/>
          <p:cNvSpPr/>
          <p:nvPr/>
        </p:nvSpPr>
        <p:spPr>
          <a:xfrm>
            <a:off x="3756207" y="4625122"/>
            <a:ext cx="758342" cy="443278"/>
          </a:xfrm>
          <a:prstGeom prst="rect">
            <a:avLst/>
          </a:prstGeom>
          <a:blipFill rotWithShape="1">
            <a:blip r:embed="rId4"/>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71" name="Google Shape;471;p16"/>
          <p:cNvSpPr txBox="1"/>
          <p:nvPr/>
        </p:nvSpPr>
        <p:spPr>
          <a:xfrm>
            <a:off x="1447962" y="4163826"/>
            <a:ext cx="650338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b="1" dirty="0">
                <a:solidFill>
                  <a:srgbClr val="C00000"/>
                </a:solidFill>
                <a:latin typeface="Arial" panose="020B0604020202020204"/>
                <a:ea typeface="Arial" panose="020B0604020202020204"/>
                <a:cs typeface="Arial" panose="020B0604020202020204"/>
                <a:sym typeface="Arial" panose="020B0604020202020204"/>
              </a:rPr>
              <a:t>Quels sont les atouts d’une meilleure solution?</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72" name="Google Shape;472;p16"/>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29</a:t>
            </a:fld>
            <a:endParaRPr lang="fr-FR"/>
          </a:p>
        </p:txBody>
      </p:sp>
      <p:sp>
        <p:nvSpPr>
          <p:cNvPr id="475" name="Google Shape;475;p16"/>
          <p:cNvSpPr txBox="1"/>
          <p:nvPr/>
        </p:nvSpPr>
        <p:spPr>
          <a:xfrm>
            <a:off x="8786876" y="5990031"/>
            <a:ext cx="1768602"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Arial" panose="020B0604020202020204"/>
                <a:ea typeface="Arial" panose="020B0604020202020204"/>
                <a:cs typeface="Arial" panose="020B0604020202020204"/>
                <a:sym typeface="Arial" panose="020B0604020202020204"/>
              </a:rPr>
              <a:t>Application B</a:t>
            </a:r>
            <a:endParaRPr dirty="0"/>
          </a:p>
        </p:txBody>
      </p:sp>
      <p:sp>
        <p:nvSpPr>
          <p:cNvPr id="476" name="Google Shape;476;p16"/>
          <p:cNvSpPr txBox="1"/>
          <p:nvPr/>
        </p:nvSpPr>
        <p:spPr>
          <a:xfrm>
            <a:off x="3768980" y="4800449"/>
            <a:ext cx="2214245" cy="860492"/>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fr-FR" sz="1400" dirty="0">
                <a:solidFill>
                  <a:schemeClr val="dk1"/>
                </a:solidFill>
                <a:latin typeface="Arial" panose="020B0604020202020204"/>
                <a:ea typeface="Arial" panose="020B0604020202020204"/>
                <a:cs typeface="Arial" panose="020B0604020202020204"/>
                <a:sym typeface="Arial" panose="020B0604020202020204"/>
              </a:rPr>
              <a:t> </a:t>
            </a:r>
            <a:endParaRPr dirty="0"/>
          </a:p>
          <a:p>
            <a:pPr marL="12700" marR="0" lvl="0" indent="0" algn="l" rtl="0">
              <a:lnSpc>
                <a:spcPct val="100000"/>
              </a:lnSpc>
              <a:spcBef>
                <a:spcPts val="90"/>
              </a:spcBef>
              <a:spcAft>
                <a:spcPts val="0"/>
              </a:spcAft>
              <a:buNone/>
            </a:pPr>
            <a:r>
              <a:rPr lang="fr-FR" sz="1400" dirty="0">
                <a:solidFill>
                  <a:schemeClr val="dk1"/>
                </a:solidFill>
                <a:latin typeface="Arial" panose="020B0604020202020204"/>
                <a:ea typeface="Arial" panose="020B0604020202020204"/>
                <a:cs typeface="Arial" panose="020B0604020202020204"/>
                <a:sym typeface="Arial" panose="020B0604020202020204"/>
              </a:rPr>
              <a:t>Requête</a:t>
            </a:r>
            <a:endParaRPr sz="1400" dirty="0">
              <a:solidFill>
                <a:schemeClr val="dk1"/>
              </a:solidFill>
              <a:latin typeface="Arial" panose="020B0604020202020204"/>
              <a:ea typeface="Arial" panose="020B0604020202020204"/>
              <a:cs typeface="Arial" panose="020B0604020202020204"/>
              <a:sym typeface="Arial" panose="020B0604020202020204"/>
            </a:endParaRPr>
          </a:p>
          <a:p>
            <a:pPr marL="0" marR="5080" lvl="0" indent="0" algn="r" rtl="0">
              <a:lnSpc>
                <a:spcPct val="100000"/>
              </a:lnSpc>
              <a:spcBef>
                <a:spcPts val="1000"/>
              </a:spcBef>
              <a:spcAft>
                <a:spcPts val="0"/>
              </a:spcAft>
              <a:buNone/>
            </a:pPr>
            <a:r>
              <a:rPr lang="fr-FR" sz="1800" b="1" dirty="0">
                <a:solidFill>
                  <a:schemeClr val="dk1"/>
                </a:solidFill>
                <a:latin typeface="Arial" panose="020B0604020202020204"/>
                <a:ea typeface="Arial" panose="020B0604020202020204"/>
                <a:cs typeface="Arial" panose="020B0604020202020204"/>
                <a:sym typeface="Arial" panose="020B0604020202020204"/>
              </a:rPr>
              <a:t>Web</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Google Shape;297;g25b1bb62912_0_50" descr="Image 10"/>
          <p:cNvPicPr preferRelativeResize="0"/>
          <p:nvPr/>
        </p:nvPicPr>
        <p:blipFill rotWithShape="1">
          <a:blip r:embed="rId6"/>
          <a:srcRect/>
          <a:stretch>
            <a:fillRect/>
          </a:stretch>
        </p:blipFill>
        <p:spPr>
          <a:xfrm>
            <a:off x="831813" y="392535"/>
            <a:ext cx="585321" cy="579782"/>
          </a:xfrm>
          <a:prstGeom prst="rect">
            <a:avLst/>
          </a:prstGeom>
          <a:noFill/>
          <a:ln>
            <a:noFill/>
          </a:ln>
        </p:spPr>
      </p:pic>
      <p:sp>
        <p:nvSpPr>
          <p:cNvPr id="6" name="Google Shape;301;g25b1bb62912_0_50"/>
          <p:cNvSpPr txBox="1"/>
          <p:nvPr/>
        </p:nvSpPr>
        <p:spPr>
          <a:xfrm>
            <a:off x="1369695" y="36393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Middlewares</a:t>
            </a:r>
            <a:endParaRPr dirty="0">
              <a:sym typeface="Times New Roman" panose="02020603050405020304"/>
            </a:endParaRPr>
          </a:p>
        </p:txBody>
      </p:sp>
      <p:pic>
        <p:nvPicPr>
          <p:cNvPr id="4" name="Google Shape;63;p1" descr="Picture 3">
            <a:extLst>
              <a:ext uri="{FF2B5EF4-FFF2-40B4-BE49-F238E27FC236}">
                <a16:creationId xmlns:a16="http://schemas.microsoft.com/office/drawing/2014/main" id="{93BE3C6F-CFC1-E5B7-77EE-D371972BA1C5}"/>
              </a:ext>
            </a:extLst>
          </p:cNvPr>
          <p:cNvPicPr preferRelativeResize="0"/>
          <p:nvPr/>
        </p:nvPicPr>
        <p:blipFill rotWithShape="1">
          <a:blip r:embed="rId7"/>
          <a:srcRect/>
          <a:stretch>
            <a:fillRect/>
          </a:stretch>
        </p:blipFill>
        <p:spPr>
          <a:xfrm flipH="1">
            <a:off x="9724101" y="70701"/>
            <a:ext cx="2846625" cy="15254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454" name="Google Shape;454;p16"/>
          <p:cNvSpPr/>
          <p:nvPr/>
        </p:nvSpPr>
        <p:spPr>
          <a:xfrm>
            <a:off x="349227" y="1326892"/>
            <a:ext cx="12039600" cy="51346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6" name="Google Shape;456;p16"/>
          <p:cNvSpPr txBox="1"/>
          <p:nvPr/>
        </p:nvSpPr>
        <p:spPr>
          <a:xfrm>
            <a:off x="1143000" y="4114800"/>
            <a:ext cx="453390" cy="31994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2000" dirty="0">
                <a:solidFill>
                  <a:srgbClr val="C00000"/>
                </a:solidFill>
                <a:latin typeface="Arial" panose="020B0604020202020204"/>
                <a:ea typeface="Arial" panose="020B0604020202020204"/>
                <a:cs typeface="Arial" panose="020B0604020202020204"/>
                <a:sym typeface="Arial" panose="020B0604020202020204"/>
              </a:rPr>
              <a:t>	</a:t>
            </a:r>
            <a:endParaRPr sz="2000" dirty="0">
              <a:solidFill>
                <a:srgbClr val="C00000"/>
              </a:solidFill>
              <a:latin typeface="Arial" panose="020B0604020202020204"/>
              <a:ea typeface="Arial" panose="020B0604020202020204"/>
              <a:cs typeface="Arial" panose="020B0604020202020204"/>
              <a:sym typeface="Arial" panose="020B0604020202020204"/>
            </a:endParaRPr>
          </a:p>
        </p:txBody>
      </p:sp>
      <p:sp>
        <p:nvSpPr>
          <p:cNvPr id="472" name="Google Shape;472;p16"/>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30</a:t>
            </a:fld>
            <a:endParaRPr lang="fr-FR"/>
          </a:p>
        </p:txBody>
      </p:sp>
      <p:pic>
        <p:nvPicPr>
          <p:cNvPr id="3" name="Google Shape;297;g25b1bb62912_0_50" descr="Image 10"/>
          <p:cNvPicPr preferRelativeResize="0"/>
          <p:nvPr/>
        </p:nvPicPr>
        <p:blipFill rotWithShape="1">
          <a:blip r:embed="rId4"/>
          <a:srcRect/>
          <a:stretch>
            <a:fillRect/>
          </a:stretch>
        </p:blipFill>
        <p:spPr>
          <a:xfrm>
            <a:off x="831813" y="392535"/>
            <a:ext cx="585321" cy="579782"/>
          </a:xfrm>
          <a:prstGeom prst="rect">
            <a:avLst/>
          </a:prstGeom>
          <a:noFill/>
          <a:ln>
            <a:noFill/>
          </a:ln>
        </p:spPr>
      </p:pic>
      <p:sp>
        <p:nvSpPr>
          <p:cNvPr id="6" name="Google Shape;301;g25b1bb62912_0_50"/>
          <p:cNvSpPr txBox="1"/>
          <p:nvPr/>
        </p:nvSpPr>
        <p:spPr>
          <a:xfrm>
            <a:off x="1369695" y="36393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Middlewares: RPC</a:t>
            </a:r>
            <a:endParaRPr dirty="0">
              <a:sym typeface="Times New Roman" panose="02020603050405020304"/>
            </a:endParaRPr>
          </a:p>
        </p:txBody>
      </p:sp>
      <p:pic>
        <p:nvPicPr>
          <p:cNvPr id="5" name="Image 4" descr="Une image contenant texte, capture d’écran, Police, diagramme&#10;&#10;Le contenu généré par l’IA peut être incorrect."/>
          <p:cNvPicPr>
            <a:picLocks noChangeAspect="1"/>
          </p:cNvPicPr>
          <p:nvPr/>
        </p:nvPicPr>
        <p:blipFill>
          <a:blip r:embed="rId5"/>
          <a:stretch>
            <a:fillRect/>
          </a:stretch>
        </p:blipFill>
        <p:spPr>
          <a:xfrm>
            <a:off x="6264696" y="1981200"/>
            <a:ext cx="6004100" cy="3715126"/>
          </a:xfrm>
          <a:prstGeom prst="rect">
            <a:avLst/>
          </a:prstGeom>
        </p:spPr>
      </p:pic>
      <p:sp>
        <p:nvSpPr>
          <p:cNvPr id="7" name="ZoneTexte 6"/>
          <p:cNvSpPr txBox="1"/>
          <p:nvPr/>
        </p:nvSpPr>
        <p:spPr>
          <a:xfrm>
            <a:off x="8287201" y="5950525"/>
            <a:ext cx="2783134" cy="307777"/>
          </a:xfrm>
          <a:prstGeom prst="rect">
            <a:avLst/>
          </a:prstGeom>
          <a:noFill/>
        </p:spPr>
        <p:txBody>
          <a:bodyPr wrap="none" rtlCol="0">
            <a:spAutoFit/>
          </a:bodyPr>
          <a:lstStyle/>
          <a:p>
            <a:r>
              <a:rPr lang="fr-FR" dirty="0"/>
              <a:t>Architecture </a:t>
            </a:r>
            <a:r>
              <a:rPr lang="fr-FR" dirty="0" err="1"/>
              <a:t>Middelware</a:t>
            </a:r>
            <a:r>
              <a:rPr lang="fr-FR" dirty="0"/>
              <a:t> RPC [1]</a:t>
            </a:r>
          </a:p>
        </p:txBody>
      </p:sp>
      <p:sp>
        <p:nvSpPr>
          <p:cNvPr id="8" name="object 3"/>
          <p:cNvSpPr txBox="1"/>
          <p:nvPr/>
        </p:nvSpPr>
        <p:spPr>
          <a:xfrm>
            <a:off x="674914" y="1654629"/>
            <a:ext cx="5329882" cy="4122924"/>
          </a:xfrm>
          <a:prstGeom prst="rect">
            <a:avLst/>
          </a:prstGeom>
        </p:spPr>
        <p:txBody>
          <a:bodyPr vert="horz" wrap="square" lIns="0" tIns="13970" rIns="0" bIns="0" rtlCol="0">
            <a:spAutoFit/>
          </a:bodyPr>
          <a:lstStyle/>
          <a:p>
            <a:pPr marL="12700">
              <a:lnSpc>
                <a:spcPct val="100000"/>
              </a:lnSpc>
              <a:spcBef>
                <a:spcPts val="110"/>
              </a:spcBef>
            </a:pPr>
            <a:r>
              <a:rPr sz="2400" b="1" dirty="0">
                <a:latin typeface="Times New Roman" panose="02020603050405020304"/>
                <a:cs typeface="Times New Roman" panose="02020603050405020304"/>
              </a:rPr>
              <a:t>RPC</a:t>
            </a:r>
            <a:r>
              <a:rPr sz="2400" b="1" spc="-65" dirty="0">
                <a:latin typeface="Times New Roman" panose="02020603050405020304"/>
                <a:cs typeface="Times New Roman" panose="02020603050405020304"/>
              </a:rPr>
              <a:t> </a:t>
            </a:r>
            <a:r>
              <a:rPr sz="2400" b="1" dirty="0">
                <a:latin typeface="Times New Roman" panose="02020603050405020304"/>
                <a:cs typeface="Times New Roman" panose="02020603050405020304"/>
              </a:rPr>
              <a:t>(Remote</a:t>
            </a:r>
            <a:r>
              <a:rPr sz="2400" b="1" spc="-60" dirty="0">
                <a:latin typeface="Times New Roman" panose="02020603050405020304"/>
                <a:cs typeface="Times New Roman" panose="02020603050405020304"/>
              </a:rPr>
              <a:t> </a:t>
            </a:r>
            <a:r>
              <a:rPr sz="2400" b="1" dirty="0">
                <a:latin typeface="Times New Roman" panose="02020603050405020304"/>
                <a:cs typeface="Times New Roman" panose="02020603050405020304"/>
              </a:rPr>
              <a:t>Procedure</a:t>
            </a:r>
            <a:r>
              <a:rPr sz="2400" b="1" spc="-65" dirty="0">
                <a:latin typeface="Times New Roman" panose="02020603050405020304"/>
                <a:cs typeface="Times New Roman" panose="02020603050405020304"/>
              </a:rPr>
              <a:t> </a:t>
            </a:r>
            <a:r>
              <a:rPr sz="2400" b="1" spc="-10" dirty="0">
                <a:latin typeface="Times New Roman" panose="02020603050405020304"/>
                <a:cs typeface="Times New Roman" panose="02020603050405020304"/>
              </a:rPr>
              <a:t>Call)</a:t>
            </a:r>
            <a:endParaRPr lang="fr-FR" sz="2400" b="1" spc="-10" dirty="0">
              <a:latin typeface="Times New Roman" panose="02020603050405020304"/>
              <a:cs typeface="Times New Roman" panose="02020603050405020304"/>
            </a:endParaRPr>
          </a:p>
          <a:p>
            <a:pPr marL="12700">
              <a:lnSpc>
                <a:spcPct val="100000"/>
              </a:lnSpc>
              <a:spcBef>
                <a:spcPts val="110"/>
              </a:spcBef>
            </a:pPr>
            <a:endParaRPr lang="fr-FR" sz="2400" b="1" spc="-10" dirty="0">
              <a:latin typeface="Times New Roman" panose="02020603050405020304"/>
              <a:cs typeface="Times New Roman" panose="02020603050405020304"/>
            </a:endParaRPr>
          </a:p>
          <a:p>
            <a:pPr marL="12700">
              <a:lnSpc>
                <a:spcPct val="100000"/>
              </a:lnSpc>
              <a:spcBef>
                <a:spcPts val="110"/>
              </a:spcBef>
            </a:pPr>
            <a:endParaRPr sz="2400" dirty="0">
              <a:latin typeface="Times New Roman" panose="02020603050405020304"/>
              <a:cs typeface="Times New Roman" panose="02020603050405020304"/>
            </a:endParaRPr>
          </a:p>
          <a:p>
            <a:pPr marL="60960" algn="just">
              <a:lnSpc>
                <a:spcPct val="100000"/>
              </a:lnSpc>
              <a:spcBef>
                <a:spcPts val="1870"/>
              </a:spcBef>
            </a:pPr>
            <a:r>
              <a:rPr sz="2000" dirty="0">
                <a:latin typeface="Times New Roman" panose="02020603050405020304"/>
                <a:cs typeface="Times New Roman" panose="02020603050405020304"/>
              </a:rPr>
              <a:t>Se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composent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de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trois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composants</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principaux</a:t>
            </a:r>
            <a:r>
              <a:rPr sz="2000" spc="-40" dirty="0">
                <a:latin typeface="Times New Roman" panose="02020603050405020304"/>
                <a:cs typeface="Times New Roman" panose="02020603050405020304"/>
              </a:rPr>
              <a:t> </a:t>
            </a:r>
            <a:r>
              <a:rPr sz="2000" spc="-50" dirty="0">
                <a:latin typeface="Times New Roman" panose="02020603050405020304"/>
                <a:cs typeface="Times New Roman" panose="02020603050405020304"/>
              </a:rPr>
              <a:t>:</a:t>
            </a:r>
            <a:endParaRPr sz="2000" dirty="0">
              <a:latin typeface="Times New Roman" panose="02020603050405020304"/>
              <a:cs typeface="Times New Roman" panose="02020603050405020304"/>
            </a:endParaRPr>
          </a:p>
          <a:p>
            <a:pPr marL="646430" indent="-184785" algn="just">
              <a:lnSpc>
                <a:spcPct val="100000"/>
              </a:lnSpc>
              <a:buFont typeface="Arial MT"/>
              <a:buChar char="•"/>
              <a:tabLst>
                <a:tab pos="646430" algn="l"/>
                <a:tab pos="3522345" algn="l"/>
              </a:tabLst>
            </a:pPr>
            <a:r>
              <a:rPr sz="2000" dirty="0">
                <a:latin typeface="Times New Roman" panose="02020603050405020304"/>
                <a:cs typeface="Times New Roman" panose="02020603050405020304"/>
              </a:rPr>
              <a:t>Un</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client</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(l'appelant):</a:t>
            </a:r>
            <a:r>
              <a:rPr sz="2000" dirty="0">
                <a:latin typeface="Times New Roman" panose="02020603050405020304"/>
                <a:cs typeface="Times New Roman" panose="02020603050405020304"/>
              </a:rPr>
              <a:t>	le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composant</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qui</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effectue</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l'appel</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à</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distance;</a:t>
            </a:r>
            <a:endParaRPr sz="2000" dirty="0">
              <a:latin typeface="Times New Roman" panose="02020603050405020304"/>
              <a:cs typeface="Times New Roman" panose="02020603050405020304"/>
            </a:endParaRPr>
          </a:p>
          <a:p>
            <a:pPr marL="461645" marR="216535" indent="184785" algn="just">
              <a:lnSpc>
                <a:spcPts val="2950"/>
              </a:lnSpc>
              <a:spcBef>
                <a:spcPts val="90"/>
              </a:spcBef>
              <a:buFont typeface="Arial MT"/>
              <a:buChar char="•"/>
              <a:tabLst>
                <a:tab pos="646430" algn="l"/>
                <a:tab pos="3506470" algn="l"/>
              </a:tabLst>
            </a:pPr>
            <a:r>
              <a:rPr sz="2000" dirty="0">
                <a:latin typeface="Times New Roman" panose="02020603050405020304"/>
                <a:cs typeface="Times New Roman" panose="02020603050405020304"/>
              </a:rPr>
              <a:t>Un serveur (l'appelé):	le composant qui implémente la procédure invoquée;</a:t>
            </a:r>
          </a:p>
          <a:p>
            <a:pPr marL="646430" indent="-184785" algn="just">
              <a:lnSpc>
                <a:spcPts val="2840"/>
              </a:lnSpc>
              <a:buFont typeface="Arial MT"/>
              <a:buChar char="•"/>
              <a:tabLst>
                <a:tab pos="646430" algn="l"/>
              </a:tabLst>
            </a:pPr>
            <a:r>
              <a:rPr sz="2000" dirty="0">
                <a:latin typeface="Times New Roman" panose="02020603050405020304"/>
                <a:cs typeface="Times New Roman" panose="02020603050405020304"/>
              </a:rPr>
              <a:t>Un</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langage</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de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définition</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d'interface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(IDL):</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langage</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par</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lequel</a:t>
            </a:r>
            <a:r>
              <a:rPr sz="2000" spc="-3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le</a:t>
            </a:r>
            <a:endParaRPr sz="2000" dirty="0">
              <a:latin typeface="Times New Roman" panose="02020603050405020304"/>
              <a:cs typeface="Times New Roman" panose="02020603050405020304"/>
            </a:endParaRPr>
          </a:p>
          <a:p>
            <a:pPr marL="461645" algn="just">
              <a:lnSpc>
                <a:spcPct val="100000"/>
              </a:lnSpc>
              <a:spcBef>
                <a:spcPts val="10"/>
              </a:spcBef>
            </a:pPr>
            <a:r>
              <a:rPr sz="2000" dirty="0">
                <a:latin typeface="Times New Roman" panose="02020603050405020304"/>
                <a:cs typeface="Times New Roman" panose="02020603050405020304"/>
              </a:rPr>
              <a:t>client</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et</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serveur</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communiquent.</a:t>
            </a:r>
            <a:endParaRPr sz="2000" dirty="0">
              <a:latin typeface="Times New Roman" panose="02020603050405020304"/>
              <a:cs typeface="Times New Roman" panose="02020603050405020304"/>
            </a:endParaRPr>
          </a:p>
        </p:txBody>
      </p:sp>
      <p:pic>
        <p:nvPicPr>
          <p:cNvPr id="4" name="Google Shape;63;p1" descr="Picture 3">
            <a:extLst>
              <a:ext uri="{FF2B5EF4-FFF2-40B4-BE49-F238E27FC236}">
                <a16:creationId xmlns:a16="http://schemas.microsoft.com/office/drawing/2014/main" id="{EC3EB2F7-CD80-F87D-8480-E8222ADFDB71}"/>
              </a:ext>
            </a:extLst>
          </p:cNvPr>
          <p:cNvPicPr preferRelativeResize="0"/>
          <p:nvPr/>
        </p:nvPicPr>
        <p:blipFill rotWithShape="1">
          <a:blip r:embed="rId6"/>
          <a:srcRect/>
          <a:stretch>
            <a:fillRect/>
          </a:stretch>
        </p:blipFill>
        <p:spPr>
          <a:xfrm flipH="1">
            <a:off x="9682238" y="71322"/>
            <a:ext cx="2846625" cy="15254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195894" cy="6886241"/>
          </a:xfrm>
          <a:prstGeom prst="rect">
            <a:avLst/>
          </a:prstGeom>
          <a:noFill/>
          <a:ln>
            <a:noFill/>
          </a:ln>
        </p:spPr>
      </p:pic>
      <p:sp>
        <p:nvSpPr>
          <p:cNvPr id="454" name="Google Shape;454;p16"/>
          <p:cNvSpPr/>
          <p:nvPr/>
        </p:nvSpPr>
        <p:spPr>
          <a:xfrm>
            <a:off x="349227" y="1326892"/>
            <a:ext cx="12039600" cy="51346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6" name="Google Shape;456;p16"/>
          <p:cNvSpPr txBox="1"/>
          <p:nvPr/>
        </p:nvSpPr>
        <p:spPr>
          <a:xfrm>
            <a:off x="1143000" y="4114800"/>
            <a:ext cx="453390" cy="31994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2000" dirty="0">
                <a:solidFill>
                  <a:srgbClr val="C00000"/>
                </a:solidFill>
                <a:latin typeface="Arial" panose="020B0604020202020204"/>
                <a:ea typeface="Arial" panose="020B0604020202020204"/>
                <a:cs typeface="Arial" panose="020B0604020202020204"/>
                <a:sym typeface="Arial" panose="020B0604020202020204"/>
              </a:rPr>
              <a:t>	</a:t>
            </a:r>
            <a:endParaRPr sz="2000" dirty="0">
              <a:solidFill>
                <a:srgbClr val="C00000"/>
              </a:solidFill>
              <a:latin typeface="Arial" panose="020B0604020202020204"/>
              <a:ea typeface="Arial" panose="020B0604020202020204"/>
              <a:cs typeface="Arial" panose="020B0604020202020204"/>
              <a:sym typeface="Arial" panose="020B0604020202020204"/>
            </a:endParaRPr>
          </a:p>
        </p:txBody>
      </p:sp>
      <p:sp>
        <p:nvSpPr>
          <p:cNvPr id="472" name="Google Shape;472;p16"/>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31</a:t>
            </a:fld>
            <a:endParaRPr lang="fr-FR"/>
          </a:p>
        </p:txBody>
      </p:sp>
      <p:pic>
        <p:nvPicPr>
          <p:cNvPr id="3" name="Google Shape;297;g25b1bb62912_0_50" descr="Image 10"/>
          <p:cNvPicPr preferRelativeResize="0"/>
          <p:nvPr/>
        </p:nvPicPr>
        <p:blipFill rotWithShape="1">
          <a:blip r:embed="rId4"/>
          <a:srcRect/>
          <a:stretch>
            <a:fillRect/>
          </a:stretch>
        </p:blipFill>
        <p:spPr>
          <a:xfrm>
            <a:off x="831813" y="392535"/>
            <a:ext cx="585321" cy="579782"/>
          </a:xfrm>
          <a:prstGeom prst="rect">
            <a:avLst/>
          </a:prstGeom>
          <a:noFill/>
          <a:ln>
            <a:noFill/>
          </a:ln>
        </p:spPr>
      </p:pic>
      <p:sp>
        <p:nvSpPr>
          <p:cNvPr id="6" name="Google Shape;301;g25b1bb62912_0_50"/>
          <p:cNvSpPr txBox="1"/>
          <p:nvPr/>
        </p:nvSpPr>
        <p:spPr>
          <a:xfrm>
            <a:off x="1369695" y="36393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Middlewares: L’IDL</a:t>
            </a:r>
            <a:endParaRPr dirty="0">
              <a:sym typeface="Times New Roman" panose="02020603050405020304"/>
            </a:endParaRPr>
          </a:p>
        </p:txBody>
      </p:sp>
      <p:sp>
        <p:nvSpPr>
          <p:cNvPr id="8" name="object 3"/>
          <p:cNvSpPr txBox="1"/>
          <p:nvPr/>
        </p:nvSpPr>
        <p:spPr>
          <a:xfrm>
            <a:off x="674914" y="1654629"/>
            <a:ext cx="4909457" cy="3784369"/>
          </a:xfrm>
          <a:prstGeom prst="rect">
            <a:avLst/>
          </a:prstGeom>
        </p:spPr>
        <p:txBody>
          <a:bodyPr vert="horz" wrap="square" lIns="0" tIns="13970" rIns="0" bIns="0" rtlCol="0">
            <a:spAutoFit/>
          </a:bodyPr>
          <a:lstStyle/>
          <a:p>
            <a:pPr marL="12700">
              <a:spcBef>
                <a:spcPts val="110"/>
              </a:spcBef>
            </a:pPr>
            <a:r>
              <a:rPr lang="fr-FR" sz="2000" b="1" dirty="0"/>
              <a:t>IDL (Interface </a:t>
            </a:r>
            <a:r>
              <a:rPr lang="fr-FR" sz="2000" b="1" dirty="0" err="1"/>
              <a:t>Definition</a:t>
            </a:r>
            <a:r>
              <a:rPr lang="fr-FR" sz="2000" b="1" dirty="0"/>
              <a:t> </a:t>
            </a:r>
            <a:r>
              <a:rPr lang="fr-FR" sz="2000" b="1" dirty="0" err="1"/>
              <a:t>Language</a:t>
            </a:r>
            <a:r>
              <a:rPr lang="fr-FR" sz="2000" b="1" dirty="0"/>
              <a:t>) </a:t>
            </a:r>
          </a:p>
          <a:p>
            <a:pPr marL="12700">
              <a:spcBef>
                <a:spcPts val="110"/>
              </a:spcBef>
            </a:pPr>
            <a:endParaRPr lang="fr-FR" sz="2000" b="1" dirty="0"/>
          </a:p>
          <a:p>
            <a:pPr marL="12700">
              <a:spcBef>
                <a:spcPts val="110"/>
              </a:spcBef>
            </a:pPr>
            <a:r>
              <a:rPr lang="fr-FR" sz="2000" dirty="0"/>
              <a:t>IDL: le premier composant implémenté</a:t>
            </a:r>
          </a:p>
          <a:p>
            <a:pPr marL="298450" indent="-285750">
              <a:spcBef>
                <a:spcPts val="110"/>
              </a:spcBef>
              <a:buFont typeface="Arial" panose="020B0604020202020204" pitchFamily="34" charset="0"/>
              <a:buChar char="•"/>
            </a:pPr>
            <a:r>
              <a:rPr lang="fr-FR" sz="2000" dirty="0"/>
              <a:t>Utilisé pour définir les procédures du serveur qui sont disponibles pour le client. </a:t>
            </a:r>
          </a:p>
          <a:p>
            <a:pPr marL="298450" indent="-285750">
              <a:spcBef>
                <a:spcPts val="110"/>
              </a:spcBef>
              <a:buFont typeface="Arial" panose="020B0604020202020204" pitchFamily="34" charset="0"/>
              <a:buChar char="•"/>
            </a:pPr>
            <a:r>
              <a:rPr lang="fr-FR" sz="2000" dirty="0"/>
              <a:t>Décrit les paramètres d'entrée ainsi que la réponse renvoyée. </a:t>
            </a:r>
          </a:p>
          <a:p>
            <a:pPr marL="298450" indent="-285750">
              <a:spcBef>
                <a:spcPts val="110"/>
              </a:spcBef>
              <a:buFont typeface="Arial" panose="020B0604020202020204" pitchFamily="34" charset="0"/>
              <a:buChar char="•"/>
            </a:pPr>
            <a:r>
              <a:rPr lang="fr-FR" sz="2000" dirty="0"/>
              <a:t>Indique au client quels services distants sont disponibles</a:t>
            </a:r>
          </a:p>
          <a:p>
            <a:pPr marL="298450" indent="-285750">
              <a:spcBef>
                <a:spcPts val="110"/>
              </a:spcBef>
              <a:buFont typeface="Arial" panose="020B0604020202020204" pitchFamily="34" charset="0"/>
              <a:buChar char="•"/>
            </a:pPr>
            <a:r>
              <a:rPr lang="fr-FR" sz="2000" dirty="0"/>
              <a:t>Comment ils sont accessibles et quelle sera la réponse du serveur</a:t>
            </a:r>
            <a:endParaRPr sz="2000" dirty="0">
              <a:latin typeface="Times New Roman" panose="02020603050405020304"/>
              <a:cs typeface="Times New Roman" panose="02020603050405020304"/>
            </a:endParaRPr>
          </a:p>
        </p:txBody>
      </p:sp>
      <p:pic>
        <p:nvPicPr>
          <p:cNvPr id="11" name="Image 10" descr="Une image contenant texte, diagramme, capture d’écran, Plan&#10;&#10;Le contenu généré par l’IA peut être incorrect."/>
          <p:cNvPicPr>
            <a:picLocks noChangeAspect="1"/>
          </p:cNvPicPr>
          <p:nvPr/>
        </p:nvPicPr>
        <p:blipFill>
          <a:blip r:embed="rId5"/>
          <a:srcRect b="15821"/>
          <a:stretch>
            <a:fillRect/>
          </a:stretch>
        </p:blipFill>
        <p:spPr>
          <a:xfrm>
            <a:off x="6369027" y="1654629"/>
            <a:ext cx="5689028" cy="3591741"/>
          </a:xfrm>
          <a:prstGeom prst="rect">
            <a:avLst/>
          </a:prstGeom>
        </p:spPr>
      </p:pic>
      <p:sp>
        <p:nvSpPr>
          <p:cNvPr id="12" name="ZoneTexte 11"/>
          <p:cNvSpPr txBox="1"/>
          <p:nvPr/>
        </p:nvSpPr>
        <p:spPr>
          <a:xfrm>
            <a:off x="7783830" y="5600700"/>
            <a:ext cx="2770310" cy="307777"/>
          </a:xfrm>
          <a:prstGeom prst="rect">
            <a:avLst/>
          </a:prstGeom>
          <a:noFill/>
        </p:spPr>
        <p:txBody>
          <a:bodyPr wrap="none" rtlCol="0">
            <a:spAutoFit/>
          </a:bodyPr>
          <a:lstStyle/>
          <a:p>
            <a:r>
              <a:rPr lang="fr-FR" dirty="0"/>
              <a:t>Interface </a:t>
            </a:r>
            <a:r>
              <a:rPr lang="fr-FR" dirty="0" err="1"/>
              <a:t>Definition</a:t>
            </a:r>
            <a:r>
              <a:rPr lang="fr-FR" dirty="0"/>
              <a:t> Langage [10]</a:t>
            </a:r>
          </a:p>
        </p:txBody>
      </p:sp>
      <p:pic>
        <p:nvPicPr>
          <p:cNvPr id="4" name="Google Shape;63;p1" descr="Picture 3">
            <a:extLst>
              <a:ext uri="{FF2B5EF4-FFF2-40B4-BE49-F238E27FC236}">
                <a16:creationId xmlns:a16="http://schemas.microsoft.com/office/drawing/2014/main" id="{3D33F93D-DDCE-1F3F-44F1-42FCD0202FA7}"/>
              </a:ext>
            </a:extLst>
          </p:cNvPr>
          <p:cNvPicPr preferRelativeResize="0"/>
          <p:nvPr/>
        </p:nvPicPr>
        <p:blipFill rotWithShape="1">
          <a:blip r:embed="rId6"/>
          <a:srcRect/>
          <a:stretch>
            <a:fillRect/>
          </a:stretch>
        </p:blipFill>
        <p:spPr>
          <a:xfrm flipH="1">
            <a:off x="9345375" y="86181"/>
            <a:ext cx="2846625" cy="15254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0" y="0"/>
            <a:ext cx="12652622" cy="6886241"/>
          </a:xfrm>
          <a:prstGeom prst="rect">
            <a:avLst/>
          </a:prstGeom>
          <a:noFill/>
          <a:ln>
            <a:noFill/>
          </a:ln>
        </p:spPr>
      </p:pic>
      <p:sp>
        <p:nvSpPr>
          <p:cNvPr id="454" name="Google Shape;454;p16"/>
          <p:cNvSpPr/>
          <p:nvPr/>
        </p:nvSpPr>
        <p:spPr>
          <a:xfrm>
            <a:off x="349227" y="1326892"/>
            <a:ext cx="12039600" cy="51346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6" name="Google Shape;456;p16"/>
          <p:cNvSpPr txBox="1"/>
          <p:nvPr/>
        </p:nvSpPr>
        <p:spPr>
          <a:xfrm>
            <a:off x="1143000" y="4114800"/>
            <a:ext cx="453390" cy="31994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2000" dirty="0">
                <a:solidFill>
                  <a:srgbClr val="C00000"/>
                </a:solidFill>
                <a:latin typeface="Arial" panose="020B0604020202020204"/>
                <a:ea typeface="Arial" panose="020B0604020202020204"/>
                <a:cs typeface="Arial" panose="020B0604020202020204"/>
                <a:sym typeface="Arial" panose="020B0604020202020204"/>
              </a:rPr>
              <a:t>	</a:t>
            </a:r>
            <a:endParaRPr sz="2000" dirty="0">
              <a:solidFill>
                <a:srgbClr val="C00000"/>
              </a:solidFill>
              <a:latin typeface="Arial" panose="020B0604020202020204"/>
              <a:ea typeface="Arial" panose="020B0604020202020204"/>
              <a:cs typeface="Arial" panose="020B0604020202020204"/>
              <a:sym typeface="Arial" panose="020B0604020202020204"/>
            </a:endParaRPr>
          </a:p>
        </p:txBody>
      </p:sp>
      <p:sp>
        <p:nvSpPr>
          <p:cNvPr id="472" name="Google Shape;472;p16"/>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32</a:t>
            </a:fld>
            <a:endParaRPr lang="fr-FR"/>
          </a:p>
        </p:txBody>
      </p:sp>
      <p:pic>
        <p:nvPicPr>
          <p:cNvPr id="3" name="Google Shape;297;g25b1bb62912_0_50" descr="Image 10"/>
          <p:cNvPicPr preferRelativeResize="0"/>
          <p:nvPr/>
        </p:nvPicPr>
        <p:blipFill rotWithShape="1">
          <a:blip r:embed="rId4"/>
          <a:srcRect/>
          <a:stretch>
            <a:fillRect/>
          </a:stretch>
        </p:blipFill>
        <p:spPr>
          <a:xfrm>
            <a:off x="831813" y="392535"/>
            <a:ext cx="585321" cy="579782"/>
          </a:xfrm>
          <a:prstGeom prst="rect">
            <a:avLst/>
          </a:prstGeom>
          <a:noFill/>
          <a:ln>
            <a:noFill/>
          </a:ln>
        </p:spPr>
      </p:pic>
      <p:sp>
        <p:nvSpPr>
          <p:cNvPr id="6" name="Google Shape;301;g25b1bb62912_0_50"/>
          <p:cNvSpPr txBox="1"/>
          <p:nvPr/>
        </p:nvSpPr>
        <p:spPr>
          <a:xfrm>
            <a:off x="1369695" y="36393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Middlewares: CORBA</a:t>
            </a:r>
            <a:endParaRPr dirty="0">
              <a:sym typeface="Times New Roman" panose="02020603050405020304"/>
            </a:endParaRPr>
          </a:p>
        </p:txBody>
      </p:sp>
      <p:sp>
        <p:nvSpPr>
          <p:cNvPr id="7" name="ZoneTexte 6"/>
          <p:cNvSpPr txBox="1"/>
          <p:nvPr/>
        </p:nvSpPr>
        <p:spPr>
          <a:xfrm>
            <a:off x="8220288" y="6081387"/>
            <a:ext cx="3042821" cy="307777"/>
          </a:xfrm>
          <a:prstGeom prst="rect">
            <a:avLst/>
          </a:prstGeom>
          <a:noFill/>
        </p:spPr>
        <p:txBody>
          <a:bodyPr wrap="none" rtlCol="0">
            <a:spAutoFit/>
          </a:bodyPr>
          <a:lstStyle/>
          <a:p>
            <a:r>
              <a:rPr lang="fr-FR" dirty="0"/>
              <a:t>Architecture </a:t>
            </a:r>
            <a:r>
              <a:rPr lang="fr-FR" dirty="0" err="1"/>
              <a:t>Middelware</a:t>
            </a:r>
            <a:r>
              <a:rPr lang="fr-FR" dirty="0"/>
              <a:t> CORBA [2]</a:t>
            </a:r>
          </a:p>
        </p:txBody>
      </p:sp>
      <p:sp>
        <p:nvSpPr>
          <p:cNvPr id="10" name="ZoneTexte 9"/>
          <p:cNvSpPr txBox="1"/>
          <p:nvPr/>
        </p:nvSpPr>
        <p:spPr>
          <a:xfrm>
            <a:off x="318141" y="1278531"/>
            <a:ext cx="6433456" cy="5770811"/>
          </a:xfrm>
          <a:prstGeom prst="rect">
            <a:avLst/>
          </a:prstGeom>
          <a:noFill/>
        </p:spPr>
        <p:txBody>
          <a:bodyPr wrap="square">
            <a:spAutoFit/>
          </a:bodyPr>
          <a:lstStyle/>
          <a:p>
            <a:pPr>
              <a:lnSpc>
                <a:spcPct val="150000"/>
              </a:lnSpc>
              <a:buNone/>
            </a:pPr>
            <a:r>
              <a:rPr lang="fr-FR" sz="1800" b="1" dirty="0"/>
              <a:t>CORBA (Common Object </a:t>
            </a:r>
            <a:r>
              <a:rPr lang="fr-FR" sz="1800" b="1" dirty="0" err="1"/>
              <a:t>Request</a:t>
            </a:r>
            <a:r>
              <a:rPr lang="fr-FR" sz="1800" b="1" dirty="0"/>
              <a:t> Broker Architecture)</a:t>
            </a:r>
          </a:p>
          <a:p>
            <a:pPr>
              <a:lnSpc>
                <a:spcPct val="150000"/>
              </a:lnSpc>
              <a:buNone/>
            </a:pPr>
            <a:r>
              <a:rPr lang="fr-FR" sz="1800" dirty="0"/>
              <a:t>Se compose de trois composants principaux :</a:t>
            </a:r>
          </a:p>
          <a:p>
            <a:pPr>
              <a:lnSpc>
                <a:spcPct val="150000"/>
              </a:lnSpc>
              <a:buFont typeface="Arial" panose="020B0604020202020204" pitchFamily="34" charset="0"/>
              <a:buChar char="•"/>
            </a:pPr>
            <a:r>
              <a:rPr lang="fr-FR" sz="1800" b="1" dirty="0"/>
              <a:t>Un client (l’appelant)</a:t>
            </a:r>
            <a:r>
              <a:rPr lang="fr-FR" sz="1800" dirty="0"/>
              <a:t> : demande un service en invoquant une méthode sur un objet distant.</a:t>
            </a:r>
          </a:p>
          <a:p>
            <a:pPr>
              <a:lnSpc>
                <a:spcPct val="150000"/>
              </a:lnSpc>
              <a:buFont typeface="Arial" panose="020B0604020202020204" pitchFamily="34" charset="0"/>
              <a:buChar char="•"/>
            </a:pPr>
            <a:r>
              <a:rPr lang="fr-FR" sz="1800" b="1" dirty="0"/>
              <a:t>Un serveur (l’appelé)</a:t>
            </a:r>
            <a:r>
              <a:rPr lang="fr-FR" sz="1800" dirty="0"/>
              <a:t> : implémente l’objet distant et fournit les services demandés par le client.</a:t>
            </a:r>
          </a:p>
          <a:p>
            <a:pPr>
              <a:lnSpc>
                <a:spcPct val="150000"/>
              </a:lnSpc>
              <a:buFont typeface="Arial" panose="020B0604020202020204" pitchFamily="34" charset="0"/>
              <a:buChar char="•"/>
            </a:pPr>
            <a:r>
              <a:rPr lang="fr-FR" sz="1800" b="1" dirty="0"/>
              <a:t>Un langage de définition d’interface (IDL)</a:t>
            </a:r>
            <a:r>
              <a:rPr lang="fr-FR" sz="1800" dirty="0"/>
              <a:t> : utilisé pour définir les interfaces des objets accessibles à distance, permettant l’interopérabilité entre différents langages de programmation.</a:t>
            </a:r>
          </a:p>
          <a:p>
            <a:pPr>
              <a:lnSpc>
                <a:spcPct val="150000"/>
              </a:lnSpc>
            </a:pPr>
            <a:r>
              <a:rPr lang="fr-FR" sz="1800" b="1" dirty="0"/>
              <a:t>. ORB (Object </a:t>
            </a:r>
            <a:r>
              <a:rPr lang="fr-FR" sz="1800" b="1" dirty="0" err="1"/>
              <a:t>Request</a:t>
            </a:r>
            <a:r>
              <a:rPr lang="fr-FR" sz="1800" b="1" dirty="0"/>
              <a:t> Broker): </a:t>
            </a:r>
            <a:r>
              <a:rPr lang="fr-FR" sz="1800" dirty="0"/>
              <a:t>C’est le cœur de CORBA : il assure la communication entre clients et objets distants. Il localise l’objet, transmet l’appel, et retourne la réponse.</a:t>
            </a:r>
          </a:p>
          <a:p>
            <a:pPr>
              <a:buFont typeface="Arial" panose="020B0604020202020204" pitchFamily="34" charset="0"/>
              <a:buChar char="•"/>
            </a:pPr>
            <a:endParaRPr lang="fr-FR" sz="1800" dirty="0"/>
          </a:p>
        </p:txBody>
      </p:sp>
      <p:pic>
        <p:nvPicPr>
          <p:cNvPr id="4" name="Google Shape;63;p1" descr="Picture 3">
            <a:extLst>
              <a:ext uri="{FF2B5EF4-FFF2-40B4-BE49-F238E27FC236}">
                <a16:creationId xmlns:a16="http://schemas.microsoft.com/office/drawing/2014/main" id="{34DB8B5D-03FE-26F6-A694-BDA722A0F0CC}"/>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pic>
        <p:nvPicPr>
          <p:cNvPr id="8" name="Image 7" descr="Une image contenant texte, bouteille, capture d’écran&#10;&#10;Le contenu généré par l’IA peut être incorrect."/>
          <p:cNvPicPr>
            <a:picLocks noChangeAspect="1"/>
          </p:cNvPicPr>
          <p:nvPr/>
        </p:nvPicPr>
        <p:blipFill>
          <a:blip r:embed="rId6"/>
          <a:srcRect l="3474" r="21710"/>
          <a:stretch>
            <a:fillRect/>
          </a:stretch>
        </p:blipFill>
        <p:spPr>
          <a:xfrm>
            <a:off x="6712312" y="1591776"/>
            <a:ext cx="5971396" cy="448961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454" name="Google Shape;454;p16"/>
          <p:cNvSpPr/>
          <p:nvPr/>
        </p:nvSpPr>
        <p:spPr>
          <a:xfrm>
            <a:off x="349227" y="1326892"/>
            <a:ext cx="12039600" cy="51346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6" name="Google Shape;456;p16"/>
          <p:cNvSpPr txBox="1"/>
          <p:nvPr/>
        </p:nvSpPr>
        <p:spPr>
          <a:xfrm>
            <a:off x="1143000" y="4114800"/>
            <a:ext cx="453390" cy="31994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2000" dirty="0">
                <a:solidFill>
                  <a:srgbClr val="C00000"/>
                </a:solidFill>
                <a:latin typeface="Arial" panose="020B0604020202020204"/>
                <a:ea typeface="Arial" panose="020B0604020202020204"/>
                <a:cs typeface="Arial" panose="020B0604020202020204"/>
                <a:sym typeface="Arial" panose="020B0604020202020204"/>
              </a:rPr>
              <a:t>	</a:t>
            </a:r>
            <a:endParaRPr sz="2000" dirty="0">
              <a:solidFill>
                <a:srgbClr val="C00000"/>
              </a:solidFill>
              <a:latin typeface="Arial" panose="020B0604020202020204"/>
              <a:ea typeface="Arial" panose="020B0604020202020204"/>
              <a:cs typeface="Arial" panose="020B0604020202020204"/>
              <a:sym typeface="Arial" panose="020B0604020202020204"/>
            </a:endParaRPr>
          </a:p>
        </p:txBody>
      </p:sp>
      <p:sp>
        <p:nvSpPr>
          <p:cNvPr id="472" name="Google Shape;472;p16"/>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33</a:t>
            </a:fld>
            <a:endParaRPr lang="fr-FR"/>
          </a:p>
        </p:txBody>
      </p:sp>
      <p:pic>
        <p:nvPicPr>
          <p:cNvPr id="3" name="Google Shape;297;g25b1bb62912_0_50" descr="Image 10"/>
          <p:cNvPicPr preferRelativeResize="0"/>
          <p:nvPr/>
        </p:nvPicPr>
        <p:blipFill rotWithShape="1">
          <a:blip r:embed="rId4"/>
          <a:srcRect/>
          <a:stretch>
            <a:fillRect/>
          </a:stretch>
        </p:blipFill>
        <p:spPr>
          <a:xfrm>
            <a:off x="831813" y="392535"/>
            <a:ext cx="585321" cy="579782"/>
          </a:xfrm>
          <a:prstGeom prst="rect">
            <a:avLst/>
          </a:prstGeom>
          <a:noFill/>
          <a:ln>
            <a:noFill/>
          </a:ln>
        </p:spPr>
      </p:pic>
      <p:sp>
        <p:nvSpPr>
          <p:cNvPr id="6" name="Google Shape;301;g25b1bb62912_0_50"/>
          <p:cNvSpPr txBox="1"/>
          <p:nvPr/>
        </p:nvSpPr>
        <p:spPr>
          <a:xfrm>
            <a:off x="1369695" y="36393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Middlewares: CORBA VS RPC</a:t>
            </a:r>
            <a:endParaRPr dirty="0">
              <a:sym typeface="Times New Roman" panose="02020603050405020304"/>
            </a:endParaRPr>
          </a:p>
        </p:txBody>
      </p:sp>
      <p:graphicFrame>
        <p:nvGraphicFramePr>
          <p:cNvPr id="4" name="Tableau 3"/>
          <p:cNvGraphicFramePr>
            <a:graphicFrameLocks noGrp="1"/>
          </p:cNvGraphicFramePr>
          <p:nvPr/>
        </p:nvGraphicFramePr>
        <p:xfrm>
          <a:off x="893065" y="1418064"/>
          <a:ext cx="10819963" cy="5043438"/>
        </p:xfrm>
        <a:graphic>
          <a:graphicData uri="http://schemas.openxmlformats.org/drawingml/2006/table">
            <a:tbl>
              <a:tblPr>
                <a:tableStyleId>{616DA210-FB5B-4158-B5E0-FEB733F419BA}</a:tableStyleId>
              </a:tblPr>
              <a:tblGrid>
                <a:gridCol w="3288035">
                  <a:extLst>
                    <a:ext uri="{9D8B030D-6E8A-4147-A177-3AD203B41FA5}">
                      <a16:colId xmlns:a16="http://schemas.microsoft.com/office/drawing/2014/main" val="20000"/>
                    </a:ext>
                  </a:extLst>
                </a:gridCol>
                <a:gridCol w="3765964">
                  <a:extLst>
                    <a:ext uri="{9D8B030D-6E8A-4147-A177-3AD203B41FA5}">
                      <a16:colId xmlns:a16="http://schemas.microsoft.com/office/drawing/2014/main" val="20001"/>
                    </a:ext>
                  </a:extLst>
                </a:gridCol>
                <a:gridCol w="3765964">
                  <a:extLst>
                    <a:ext uri="{9D8B030D-6E8A-4147-A177-3AD203B41FA5}">
                      <a16:colId xmlns:a16="http://schemas.microsoft.com/office/drawing/2014/main" val="20002"/>
                    </a:ext>
                  </a:extLst>
                </a:gridCol>
              </a:tblGrid>
              <a:tr h="765522">
                <a:tc>
                  <a:txBody>
                    <a:bodyPr/>
                    <a:lstStyle/>
                    <a:p>
                      <a:pPr>
                        <a:buNone/>
                      </a:pPr>
                      <a:r>
                        <a:rPr lang="fr-FR" sz="1200" b="1" dirty="0"/>
                        <a:t>Critère</a:t>
                      </a:r>
                      <a:endParaRPr lang="fr-FR" sz="1200" dirty="0"/>
                    </a:p>
                  </a:txBody>
                  <a:tcPr marL="80086" marR="80086" marT="40043" marB="40043" anchor="ctr">
                    <a:solidFill>
                      <a:schemeClr val="bg2"/>
                    </a:solidFill>
                  </a:tcPr>
                </a:tc>
                <a:tc>
                  <a:txBody>
                    <a:bodyPr/>
                    <a:lstStyle/>
                    <a:p>
                      <a:pPr>
                        <a:buNone/>
                      </a:pPr>
                      <a:r>
                        <a:rPr lang="fr-FR" sz="1200" b="1"/>
                        <a:t>RPC (Remote Procedure Call)</a:t>
                      </a:r>
                      <a:endParaRPr lang="fr-FR" sz="1200"/>
                    </a:p>
                  </a:txBody>
                  <a:tcPr marL="80086" marR="80086" marT="40043" marB="40043" anchor="ctr">
                    <a:solidFill>
                      <a:schemeClr val="bg2"/>
                    </a:solidFill>
                  </a:tcPr>
                </a:tc>
                <a:tc>
                  <a:txBody>
                    <a:bodyPr/>
                    <a:lstStyle/>
                    <a:p>
                      <a:pPr>
                        <a:buNone/>
                      </a:pPr>
                      <a:r>
                        <a:rPr lang="en-US" sz="1200" b="1" dirty="0"/>
                        <a:t>CORBA (Common Object Request Broker Architecture)</a:t>
                      </a:r>
                      <a:endParaRPr lang="en-US" sz="1200" dirty="0"/>
                    </a:p>
                  </a:txBody>
                  <a:tcPr marL="80086" marR="80086" marT="40043" marB="40043" anchor="ctr">
                    <a:solidFill>
                      <a:schemeClr val="bg2"/>
                    </a:solidFill>
                  </a:tcPr>
                </a:tc>
                <a:extLst>
                  <a:ext uri="{0D108BD9-81ED-4DB2-BD59-A6C34878D82A}">
                    <a16:rowId xmlns:a16="http://schemas.microsoft.com/office/drawing/2014/main" val="10000"/>
                  </a:ext>
                </a:extLst>
              </a:tr>
              <a:tr h="765522">
                <a:tc>
                  <a:txBody>
                    <a:bodyPr/>
                    <a:lstStyle/>
                    <a:p>
                      <a:pPr>
                        <a:buNone/>
                      </a:pPr>
                      <a:r>
                        <a:rPr lang="fr-FR" sz="1400" b="1"/>
                        <a:t>Langage d’interface (IDL)</a:t>
                      </a:r>
                      <a:endParaRPr lang="fr-FR" sz="1400"/>
                    </a:p>
                  </a:txBody>
                  <a:tcPr marL="80086" marR="80086" marT="40043" marB="40043" anchor="ctr"/>
                </a:tc>
                <a:tc>
                  <a:txBody>
                    <a:bodyPr/>
                    <a:lstStyle/>
                    <a:p>
                      <a:pPr>
                        <a:buNone/>
                      </a:pPr>
                      <a:r>
                        <a:rPr lang="fr-FR" sz="1400" dirty="0"/>
                        <a:t>Parfois spécifique à l’implémentation (ex. Sun RPC IDL)</a:t>
                      </a:r>
                    </a:p>
                  </a:txBody>
                  <a:tcPr marL="80086" marR="80086" marT="40043" marB="40043" anchor="ctr"/>
                </a:tc>
                <a:tc>
                  <a:txBody>
                    <a:bodyPr/>
                    <a:lstStyle/>
                    <a:p>
                      <a:pPr>
                        <a:buNone/>
                      </a:pPr>
                      <a:r>
                        <a:rPr lang="fr-FR" sz="1400" dirty="0"/>
                        <a:t>Utilise un </a:t>
                      </a:r>
                      <a:r>
                        <a:rPr lang="fr-FR" sz="1400" b="1" dirty="0"/>
                        <a:t>IDL standardisé</a:t>
                      </a:r>
                      <a:r>
                        <a:rPr lang="fr-FR" sz="1400" dirty="0"/>
                        <a:t> (CORBA IDL) indépendant des langages</a:t>
                      </a:r>
                    </a:p>
                  </a:txBody>
                  <a:tcPr marL="80086" marR="80086" marT="40043" marB="40043" anchor="ctr"/>
                </a:tc>
                <a:extLst>
                  <a:ext uri="{0D108BD9-81ED-4DB2-BD59-A6C34878D82A}">
                    <a16:rowId xmlns:a16="http://schemas.microsoft.com/office/drawing/2014/main" val="10001"/>
                  </a:ext>
                </a:extLst>
              </a:tr>
              <a:tr h="765522">
                <a:tc>
                  <a:txBody>
                    <a:bodyPr/>
                    <a:lstStyle/>
                    <a:p>
                      <a:pPr>
                        <a:buNone/>
                      </a:pPr>
                      <a:r>
                        <a:rPr lang="fr-FR" sz="1400" b="1"/>
                        <a:t>Interopérabilité</a:t>
                      </a:r>
                      <a:endParaRPr lang="fr-FR" sz="1400"/>
                    </a:p>
                  </a:txBody>
                  <a:tcPr marL="80086" marR="80086" marT="40043" marB="40043" anchor="ctr"/>
                </a:tc>
                <a:tc>
                  <a:txBody>
                    <a:bodyPr/>
                    <a:lstStyle/>
                    <a:p>
                      <a:pPr>
                        <a:buNone/>
                      </a:pPr>
                      <a:r>
                        <a:rPr lang="fr-FR" sz="1400" dirty="0"/>
                        <a:t>Limitée, souvent dépendante de la plateforme</a:t>
                      </a:r>
                    </a:p>
                  </a:txBody>
                  <a:tcPr marL="80086" marR="80086" marT="40043" marB="40043" anchor="ctr"/>
                </a:tc>
                <a:tc>
                  <a:txBody>
                    <a:bodyPr/>
                    <a:lstStyle/>
                    <a:p>
                      <a:pPr>
                        <a:buNone/>
                      </a:pPr>
                      <a:r>
                        <a:rPr lang="fr-FR" sz="1400" b="1"/>
                        <a:t>Forte interopérabilité</a:t>
                      </a:r>
                      <a:r>
                        <a:rPr lang="fr-FR" sz="1400"/>
                        <a:t> entre langages et plateformes</a:t>
                      </a:r>
                    </a:p>
                  </a:txBody>
                  <a:tcPr marL="80086" marR="80086" marT="40043" marB="40043" anchor="ctr"/>
                </a:tc>
                <a:extLst>
                  <a:ext uri="{0D108BD9-81ED-4DB2-BD59-A6C34878D82A}">
                    <a16:rowId xmlns:a16="http://schemas.microsoft.com/office/drawing/2014/main" val="10002"/>
                  </a:ext>
                </a:extLst>
              </a:tr>
              <a:tr h="765522">
                <a:tc>
                  <a:txBody>
                    <a:bodyPr/>
                    <a:lstStyle/>
                    <a:p>
                      <a:pPr>
                        <a:buNone/>
                      </a:pPr>
                      <a:r>
                        <a:rPr lang="fr-FR" sz="1400" b="1"/>
                        <a:t>Complexité</a:t>
                      </a:r>
                      <a:endParaRPr lang="fr-FR" sz="1400"/>
                    </a:p>
                  </a:txBody>
                  <a:tcPr marL="80086" marR="80086" marT="40043" marB="40043" anchor="ctr"/>
                </a:tc>
                <a:tc>
                  <a:txBody>
                    <a:bodyPr/>
                    <a:lstStyle/>
                    <a:p>
                      <a:pPr>
                        <a:buNone/>
                      </a:pPr>
                      <a:r>
                        <a:rPr lang="fr-FR" sz="1400"/>
                        <a:t>Plus </a:t>
                      </a:r>
                      <a:r>
                        <a:rPr lang="fr-FR" sz="1400" b="1"/>
                        <a:t>simple</a:t>
                      </a:r>
                      <a:r>
                        <a:rPr lang="fr-FR" sz="1400"/>
                        <a:t> à implémenter</a:t>
                      </a:r>
                    </a:p>
                  </a:txBody>
                  <a:tcPr marL="80086" marR="80086" marT="40043" marB="40043" anchor="ctr"/>
                </a:tc>
                <a:tc>
                  <a:txBody>
                    <a:bodyPr/>
                    <a:lstStyle/>
                    <a:p>
                      <a:pPr>
                        <a:buNone/>
                      </a:pPr>
                      <a:r>
                        <a:rPr lang="fr-FR" sz="1400" dirty="0"/>
                        <a:t>Plus </a:t>
                      </a:r>
                      <a:r>
                        <a:rPr lang="fr-FR" sz="1400" b="1" dirty="0"/>
                        <a:t>complexe</a:t>
                      </a:r>
                      <a:r>
                        <a:rPr lang="fr-FR" sz="1400" dirty="0"/>
                        <a:t> mais plus riche en fonctionnalités</a:t>
                      </a:r>
                    </a:p>
                  </a:txBody>
                  <a:tcPr marL="80086" marR="80086" marT="40043" marB="40043" anchor="ctr"/>
                </a:tc>
                <a:extLst>
                  <a:ext uri="{0D108BD9-81ED-4DB2-BD59-A6C34878D82A}">
                    <a16:rowId xmlns:a16="http://schemas.microsoft.com/office/drawing/2014/main" val="10003"/>
                  </a:ext>
                </a:extLst>
              </a:tr>
              <a:tr h="765522">
                <a:tc>
                  <a:txBody>
                    <a:bodyPr/>
                    <a:lstStyle/>
                    <a:p>
                      <a:pPr>
                        <a:buNone/>
                      </a:pPr>
                      <a:r>
                        <a:rPr lang="fr-FR" sz="1400" b="1"/>
                        <a:t>Support des objets distribués</a:t>
                      </a:r>
                      <a:endParaRPr lang="fr-FR" sz="1400"/>
                    </a:p>
                  </a:txBody>
                  <a:tcPr marL="80086" marR="80086" marT="40043" marB="40043" anchor="ctr"/>
                </a:tc>
                <a:tc>
                  <a:txBody>
                    <a:bodyPr/>
                    <a:lstStyle/>
                    <a:p>
                      <a:pPr>
                        <a:buNone/>
                      </a:pPr>
                      <a:r>
                        <a:rPr lang="fr-FR" sz="1400" dirty="0"/>
                        <a:t>Non (seulement des fonctions)</a:t>
                      </a:r>
                    </a:p>
                  </a:txBody>
                  <a:tcPr marL="80086" marR="80086" marT="40043" marB="40043" anchor="ctr"/>
                </a:tc>
                <a:tc>
                  <a:txBody>
                    <a:bodyPr/>
                    <a:lstStyle/>
                    <a:p>
                      <a:pPr>
                        <a:buNone/>
                      </a:pPr>
                      <a:r>
                        <a:rPr lang="fr-FR" sz="1400" dirty="0"/>
                        <a:t> Oui (objets distants, héritage, polymorphisme)</a:t>
                      </a:r>
                    </a:p>
                  </a:txBody>
                  <a:tcPr marL="80086" marR="80086" marT="40043" marB="40043" anchor="ctr"/>
                </a:tc>
                <a:extLst>
                  <a:ext uri="{0D108BD9-81ED-4DB2-BD59-A6C34878D82A}">
                    <a16:rowId xmlns:a16="http://schemas.microsoft.com/office/drawing/2014/main" val="10004"/>
                  </a:ext>
                </a:extLst>
              </a:tr>
              <a:tr h="765522">
                <a:tc>
                  <a:txBody>
                    <a:bodyPr/>
                    <a:lstStyle/>
                    <a:p>
                      <a:pPr>
                        <a:buNone/>
                      </a:pPr>
                      <a:r>
                        <a:rPr lang="fr-FR" sz="1400" b="1"/>
                        <a:t>Langages pris en charge</a:t>
                      </a:r>
                      <a:endParaRPr lang="fr-FR" sz="1400"/>
                    </a:p>
                  </a:txBody>
                  <a:tcPr marL="80086" marR="80086" marT="40043" marB="40043" anchor="ctr"/>
                </a:tc>
                <a:tc>
                  <a:txBody>
                    <a:bodyPr/>
                    <a:lstStyle/>
                    <a:p>
                      <a:pPr>
                        <a:buNone/>
                      </a:pPr>
                      <a:r>
                        <a:rPr lang="fr-FR" sz="1400"/>
                        <a:t>Dépend de l’implémentation (souvent C/C++)</a:t>
                      </a:r>
                    </a:p>
                  </a:txBody>
                  <a:tcPr marL="80086" marR="80086" marT="40043" marB="40043" anchor="ctr"/>
                </a:tc>
                <a:tc>
                  <a:txBody>
                    <a:bodyPr/>
                    <a:lstStyle/>
                    <a:p>
                      <a:pPr>
                        <a:buNone/>
                      </a:pPr>
                      <a:r>
                        <a:rPr lang="fr-FR" sz="1400" dirty="0"/>
                        <a:t>Multi-langage (Java, C++, Python, Ada, etc.) grâce à l’IDL</a:t>
                      </a:r>
                    </a:p>
                  </a:txBody>
                  <a:tcPr marL="80086" marR="80086" marT="40043" marB="40043" anchor="ctr"/>
                </a:tc>
                <a:extLst>
                  <a:ext uri="{0D108BD9-81ED-4DB2-BD59-A6C34878D82A}">
                    <a16:rowId xmlns:a16="http://schemas.microsoft.com/office/drawing/2014/main" val="10005"/>
                  </a:ext>
                </a:extLst>
              </a:tr>
              <a:tr h="450306">
                <a:tc>
                  <a:txBody>
                    <a:bodyPr/>
                    <a:lstStyle/>
                    <a:p>
                      <a:pPr>
                        <a:buNone/>
                      </a:pPr>
                      <a:r>
                        <a:rPr lang="fr-FR" sz="1400" b="1"/>
                        <a:t>Exemple typique</a:t>
                      </a:r>
                      <a:endParaRPr lang="fr-FR" sz="1400"/>
                    </a:p>
                  </a:txBody>
                  <a:tcPr marL="80086" marR="80086" marT="40043" marB="40043" anchor="ctr"/>
                </a:tc>
                <a:tc>
                  <a:txBody>
                    <a:bodyPr/>
                    <a:lstStyle/>
                    <a:p>
                      <a:pPr>
                        <a:buNone/>
                      </a:pPr>
                      <a:r>
                        <a:rPr lang="fr-FR" sz="1400"/>
                        <a:t>Sun RPC, ONC RPC, Java RMI</a:t>
                      </a:r>
                    </a:p>
                  </a:txBody>
                  <a:tcPr marL="80086" marR="80086" marT="40043" marB="40043" anchor="ctr"/>
                </a:tc>
                <a:tc>
                  <a:txBody>
                    <a:bodyPr/>
                    <a:lstStyle/>
                    <a:p>
                      <a:pPr>
                        <a:buNone/>
                      </a:pPr>
                      <a:r>
                        <a:rPr lang="fr-FR" sz="1400" dirty="0" err="1"/>
                        <a:t>ORBacus</a:t>
                      </a:r>
                      <a:r>
                        <a:rPr lang="fr-FR" sz="1400" dirty="0"/>
                        <a:t>, TAO, </a:t>
                      </a:r>
                      <a:r>
                        <a:rPr lang="fr-FR" sz="1400" dirty="0" err="1"/>
                        <a:t>JacORB</a:t>
                      </a:r>
                      <a:endParaRPr lang="fr-FR" sz="1400" dirty="0"/>
                    </a:p>
                  </a:txBody>
                  <a:tcPr marL="80086" marR="80086" marT="40043" marB="40043" anchor="ctr"/>
                </a:tc>
                <a:extLst>
                  <a:ext uri="{0D108BD9-81ED-4DB2-BD59-A6C34878D82A}">
                    <a16:rowId xmlns:a16="http://schemas.microsoft.com/office/drawing/2014/main" val="10006"/>
                  </a:ext>
                </a:extLst>
              </a:tr>
            </a:tbl>
          </a:graphicData>
        </a:graphic>
      </p:graphicFrame>
      <p:pic>
        <p:nvPicPr>
          <p:cNvPr id="5" name="Google Shape;63;p1" descr="Picture 3">
            <a:extLst>
              <a:ext uri="{FF2B5EF4-FFF2-40B4-BE49-F238E27FC236}">
                <a16:creationId xmlns:a16="http://schemas.microsoft.com/office/drawing/2014/main" id="{C9D24B63-EE3B-2C49-1FD6-DBE52FD624F4}"/>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2" name="Google Shape;59;p1"/>
          <p:cNvGrpSpPr/>
          <p:nvPr/>
        </p:nvGrpSpPr>
        <p:grpSpPr>
          <a:xfrm>
            <a:off x="0" y="0"/>
            <a:ext cx="12504712" cy="8829600"/>
            <a:chOff x="0" y="0"/>
            <a:chExt cx="12192000" cy="6858000"/>
          </a:xfrm>
        </p:grpSpPr>
        <p:sp>
          <p:nvSpPr>
            <p:cNvPr id="60" name="Google Shape;60;p1"/>
            <p:cNvSpPr/>
            <p:nvPr/>
          </p:nvSpPr>
          <p:spPr>
            <a:xfrm>
              <a:off x="0" y="0"/>
              <a:ext cx="12192000" cy="6858000"/>
            </a:xfrm>
            <a:prstGeom prst="rect">
              <a:avLst/>
            </a:prstGeom>
            <a:blipFill rotWithShape="1">
              <a:blip r:embed="rId3" cstate="print"/>
              <a:tile tx="0" ty="0" sx="100000" sy="100000" flip="none" algn="tl"/>
            </a:blip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61" name="Google Shape;61;p1" descr="image2.png"/>
            <p:cNvPicPr preferRelativeResize="0"/>
            <p:nvPr/>
          </p:nvPicPr>
          <p:blipFill rotWithShape="1">
            <a:blip r:embed="rId4" cstate="print"/>
            <a:srcRect/>
            <a:stretch>
              <a:fillRect/>
            </a:stretch>
          </p:blipFill>
          <p:spPr>
            <a:xfrm>
              <a:off x="0" y="0"/>
              <a:ext cx="12192000" cy="6858000"/>
            </a:xfrm>
            <a:prstGeom prst="rect">
              <a:avLst/>
            </a:prstGeom>
            <a:noFill/>
            <a:ln>
              <a:noFill/>
            </a:ln>
          </p:spPr>
        </p:pic>
      </p:grpSp>
      <p:pic>
        <p:nvPicPr>
          <p:cNvPr id="63" name="Google Shape;63;p1" descr="Picture 3"/>
          <p:cNvPicPr preferRelativeResize="0"/>
          <p:nvPr/>
        </p:nvPicPr>
        <p:blipFill rotWithShape="1">
          <a:blip r:embed="rId5" cstate="print"/>
          <a:srcRect/>
          <a:stretch>
            <a:fillRect/>
          </a:stretch>
        </p:blipFill>
        <p:spPr>
          <a:xfrm flipH="1">
            <a:off x="9264351" y="-41780"/>
            <a:ext cx="3273468" cy="1454556"/>
          </a:xfrm>
          <a:prstGeom prst="rect">
            <a:avLst/>
          </a:prstGeom>
          <a:noFill/>
          <a:ln>
            <a:noFill/>
          </a:ln>
        </p:spPr>
      </p:pic>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34</a:t>
            </a:fld>
            <a:endParaRPr lang="fr-FR"/>
          </a:p>
        </p:txBody>
      </p:sp>
      <p:sp>
        <p:nvSpPr>
          <p:cNvPr id="5" name="Espace réservé du texte 2"/>
          <p:cNvSpPr>
            <a:spLocks noGrp="1"/>
          </p:cNvSpPr>
          <p:nvPr>
            <p:ph type="body" idx="1"/>
          </p:nvPr>
        </p:nvSpPr>
        <p:spPr>
          <a:xfrm>
            <a:off x="1814721" y="2513008"/>
            <a:ext cx="8202636" cy="2422825"/>
          </a:xfrm>
        </p:spPr>
        <p:txBody>
          <a:bodyPr>
            <a:normAutofit/>
          </a:bodyPr>
          <a:lstStyle/>
          <a:p>
            <a:pPr marL="114300" indent="0">
              <a:buNone/>
            </a:pPr>
            <a:r>
              <a:rPr kumimoji="0" lang="fr-FR" sz="6000" b="1" i="0" u="none" strike="noStrike" kern="1200" cap="none" spc="10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sym typeface="Times New Roman" panose="02020603050405020304"/>
              </a:rPr>
              <a:t>Le terme Service</a:t>
            </a:r>
            <a:endParaRPr lang="fr-FR" sz="28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2" name="Google Shape;85;g25b1bb62912_0_14" descr="Picture 2"/>
          <p:cNvPicPr preferRelativeResize="0"/>
          <p:nvPr/>
        </p:nvPicPr>
        <p:blipFill rotWithShape="1">
          <a:blip r:embed="rId3"/>
          <a:srcRect/>
          <a:stretch>
            <a:fillRect/>
          </a:stretch>
        </p:blipFill>
        <p:spPr>
          <a:xfrm>
            <a:off x="0" y="-14121"/>
            <a:ext cx="12652622" cy="6886241"/>
          </a:xfrm>
          <a:prstGeom prst="rect">
            <a:avLst/>
          </a:prstGeom>
          <a:noFill/>
          <a:ln>
            <a:noFill/>
          </a:ln>
        </p:spPr>
      </p:pic>
      <p:sp>
        <p:nvSpPr>
          <p:cNvPr id="483" name="Google Shape;483;p17"/>
          <p:cNvSpPr txBox="1">
            <a:spLocks noGrp="1"/>
          </p:cNvSpPr>
          <p:nvPr>
            <p:ph type="title"/>
          </p:nvPr>
        </p:nvSpPr>
        <p:spPr>
          <a:xfrm>
            <a:off x="1286456" y="691033"/>
            <a:ext cx="5893277" cy="633348"/>
          </a:xfrm>
          <a:prstGeom prst="rect">
            <a:avLst/>
          </a:prstGeom>
          <a:noFill/>
          <a:ln>
            <a:noFill/>
          </a:ln>
        </p:spPr>
        <p:txBody>
          <a:bodyPr spcFirstLastPara="1" wrap="square" lIns="91425" tIns="91425" rIns="91425" bIns="91425" anchor="t" anchorCtr="0">
            <a:spAutoFit/>
          </a:bodyPr>
          <a:lstStyle/>
          <a:p>
            <a:pPr>
              <a:lnSpc>
                <a:spcPct val="108000"/>
              </a:lnSpc>
              <a:buFont typeface="Arial" panose="020B0604020202020204"/>
            </a:pPr>
            <a:r>
              <a:rPr lang="fr-FR" sz="2700" b="1" dirty="0">
                <a:solidFill>
                  <a:schemeClr val="dk1"/>
                </a:solidFill>
                <a:latin typeface="Times New Roman" panose="02020603050405020304"/>
                <a:cs typeface="Times New Roman" panose="02020603050405020304"/>
                <a:sym typeface="Arial" panose="020B0604020202020204"/>
              </a:rPr>
              <a:t>Définition</a:t>
            </a:r>
            <a:endParaRPr sz="2700" b="1" dirty="0">
              <a:solidFill>
                <a:schemeClr val="dk1"/>
              </a:solidFill>
              <a:latin typeface="Times New Roman" panose="02020603050405020304"/>
              <a:cs typeface="Times New Roman" panose="02020603050405020304"/>
              <a:sym typeface="Arial" panose="020B0604020202020204"/>
            </a:endParaRPr>
          </a:p>
        </p:txBody>
      </p:sp>
      <p:sp>
        <p:nvSpPr>
          <p:cNvPr id="484" name="Google Shape;484;p17"/>
          <p:cNvSpPr txBox="1"/>
          <p:nvPr/>
        </p:nvSpPr>
        <p:spPr>
          <a:xfrm>
            <a:off x="672845" y="1772042"/>
            <a:ext cx="10397490" cy="4875694"/>
          </a:xfrm>
          <a:prstGeom prst="rect">
            <a:avLst/>
          </a:prstGeom>
          <a:noFill/>
          <a:ln>
            <a:noFill/>
          </a:ln>
        </p:spPr>
        <p:txBody>
          <a:bodyPr spcFirstLastPara="1" wrap="square" lIns="0" tIns="12700" rIns="0" bIns="0" anchor="t" anchorCtr="0">
            <a:spAutoFit/>
          </a:bodyPr>
          <a:lstStyle/>
          <a:p>
            <a:pPr marL="356870" indent="-344805">
              <a:buClr>
                <a:schemeClr val="dk1"/>
              </a:buClr>
              <a:buSzPts val="2400"/>
              <a:buFont typeface="Arial" panose="020B0604020202020204"/>
              <a:buChar char="•"/>
            </a:pPr>
            <a:r>
              <a:rPr lang="fr-FR" sz="2400" dirty="0">
                <a:solidFill>
                  <a:schemeClr val="dk1"/>
                </a:solidFill>
                <a:latin typeface="Times New Roman" panose="02020603050405020304" pitchFamily="18" charset="0"/>
                <a:cs typeface="Times New Roman" panose="02020603050405020304" pitchFamily="18" charset="0"/>
              </a:rPr>
              <a:t>Un service est un terme général utilisé en informatique pour décrire une unité autonome de fonctionnalités qui peut être exécutée de manière indépendante.</a:t>
            </a:r>
          </a:p>
          <a:p>
            <a:pPr marL="356870" indent="-344805">
              <a:buClr>
                <a:schemeClr val="dk1"/>
              </a:buClr>
              <a:buSzPts val="2400"/>
              <a:buFont typeface="Arial" panose="020B0604020202020204"/>
              <a:buChar char="•"/>
            </a:pPr>
            <a:r>
              <a:rPr lang="fr-FR" sz="2400" dirty="0">
                <a:solidFill>
                  <a:schemeClr val="dk1"/>
                </a:solidFill>
                <a:latin typeface="Times New Roman" panose="02020603050405020304" pitchFamily="18" charset="0"/>
                <a:cs typeface="Times New Roman" panose="02020603050405020304" pitchFamily="18" charset="0"/>
              </a:rPr>
              <a:t>Il possède une interface pour la communication et l'interaction avec un demandeur de service. </a:t>
            </a:r>
          </a:p>
          <a:p>
            <a:pPr marL="356870" indent="-344805">
              <a:buClr>
                <a:schemeClr val="dk1"/>
              </a:buClr>
              <a:buSzPts val="2400"/>
              <a:buFont typeface="Arial" panose="020B0604020202020204"/>
              <a:buChar char="•"/>
            </a:pPr>
            <a:endParaRPr lang="fr-FR" sz="2400" dirty="0">
              <a:solidFill>
                <a:schemeClr val="dk1"/>
              </a:solidFill>
              <a:latin typeface="Times New Roman" panose="02020603050405020304" pitchFamily="18" charset="0"/>
              <a:cs typeface="Times New Roman" panose="02020603050405020304" pitchFamily="18" charset="0"/>
            </a:endParaRPr>
          </a:p>
          <a:p>
            <a:pPr marL="356870" indent="-344805">
              <a:buClr>
                <a:schemeClr val="dk1"/>
              </a:buClr>
              <a:buSzPts val="2400"/>
              <a:buFont typeface="Arial" panose="020B0604020202020204"/>
              <a:buChar char="•"/>
            </a:pPr>
            <a:r>
              <a:rPr lang="fr-FR" sz="2400" dirty="0">
                <a:solidFill>
                  <a:schemeClr val="dk1"/>
                </a:solidFill>
                <a:latin typeface="Times New Roman" panose="02020603050405020304" pitchFamily="18" charset="0"/>
                <a:cs typeface="Times New Roman" panose="02020603050405020304" pitchFamily="18" charset="0"/>
              </a:rPr>
              <a:t>Les services peuvent être à la fois locaux ou distants :</a:t>
            </a:r>
          </a:p>
          <a:p>
            <a:pPr marL="808355" lvl="6" indent="-344805">
              <a:buClr>
                <a:schemeClr val="dk1"/>
              </a:buClr>
              <a:buSzPts val="2400"/>
              <a:buFont typeface="Wingdings" panose="05000000000000000000" pitchFamily="2" charset="2"/>
              <a:buChar char="ü"/>
            </a:pPr>
            <a:r>
              <a:rPr lang="fr-FR" sz="2400" dirty="0">
                <a:solidFill>
                  <a:schemeClr val="dk1"/>
                </a:solidFill>
                <a:latin typeface="Times New Roman" panose="02020603050405020304" pitchFamily="18" charset="0"/>
                <a:cs typeface="Times New Roman" panose="02020603050405020304" pitchFamily="18" charset="0"/>
              </a:rPr>
              <a:t>Locaux: s'exécutent sur la même machine que l'application qui les consomme ou bien en </a:t>
            </a:r>
            <a:r>
              <a:rPr lang="fr-FR" sz="2400" dirty="0">
                <a:latin typeface="Times New Roman" panose="02020603050405020304" pitchFamily="18" charset="0"/>
                <a:cs typeface="Times New Roman" panose="02020603050405020304" pitchFamily="18" charset="0"/>
              </a:rPr>
              <a:t>internes à une organisation comme </a:t>
            </a:r>
            <a:r>
              <a:rPr lang="fr-FR" sz="2400" b="1" dirty="0">
                <a:latin typeface="Times New Roman" panose="02020603050405020304" pitchFamily="18" charset="0"/>
                <a:cs typeface="Times New Roman" panose="02020603050405020304" pitchFamily="18" charset="0"/>
              </a:rPr>
              <a:t>les services système </a:t>
            </a:r>
            <a:r>
              <a:rPr lang="fr-FR" sz="2400" dirty="0">
                <a:latin typeface="Times New Roman" panose="02020603050405020304" pitchFamily="18" charset="0"/>
                <a:cs typeface="Times New Roman" panose="02020603050405020304" pitchFamily="18" charset="0"/>
              </a:rPr>
              <a:t>ou </a:t>
            </a:r>
            <a:r>
              <a:rPr lang="fr-FR" sz="2400" b="1" dirty="0">
                <a:latin typeface="Times New Roman" panose="02020603050405020304" pitchFamily="18" charset="0"/>
                <a:cs typeface="Times New Roman" panose="02020603050405020304" pitchFamily="18" charset="0"/>
              </a:rPr>
              <a:t>d’application de bureau</a:t>
            </a:r>
            <a:r>
              <a:rPr lang="fr-FR" sz="2400" dirty="0">
                <a:latin typeface="Times New Roman" panose="02020603050405020304" pitchFamily="18" charset="0"/>
                <a:cs typeface="Times New Roman" panose="02020603050405020304" pitchFamily="18" charset="0"/>
              </a:rPr>
              <a:t>;</a:t>
            </a:r>
            <a:endParaRPr lang="fr-FR" sz="2400" dirty="0">
              <a:solidFill>
                <a:schemeClr val="dk1"/>
              </a:solidFill>
              <a:latin typeface="Times New Roman" panose="02020603050405020304" pitchFamily="18" charset="0"/>
              <a:cs typeface="Times New Roman" panose="02020603050405020304" pitchFamily="18" charset="0"/>
            </a:endParaRPr>
          </a:p>
          <a:p>
            <a:pPr marL="808355" lvl="6" indent="-344805">
              <a:buClr>
                <a:schemeClr val="dk1"/>
              </a:buClr>
              <a:buSzPts val="2400"/>
            </a:pPr>
            <a:endParaRPr lang="fr-FR" sz="2400" dirty="0">
              <a:solidFill>
                <a:schemeClr val="dk1"/>
              </a:solidFill>
              <a:latin typeface="Times New Roman" panose="02020603050405020304" pitchFamily="18" charset="0"/>
              <a:cs typeface="Times New Roman" panose="02020603050405020304" pitchFamily="18" charset="0"/>
            </a:endParaRPr>
          </a:p>
          <a:p>
            <a:pPr marL="808355" lvl="6" indent="-344805">
              <a:buClr>
                <a:schemeClr val="dk1"/>
              </a:buClr>
              <a:buSzPts val="2400"/>
              <a:buFont typeface="Wingdings" panose="05000000000000000000" pitchFamily="2" charset="2"/>
              <a:buChar char="ü"/>
            </a:pPr>
            <a:r>
              <a:rPr lang="fr-FR" sz="2400" dirty="0">
                <a:solidFill>
                  <a:schemeClr val="dk1"/>
                </a:solidFill>
                <a:latin typeface="Times New Roman" panose="02020603050405020304" pitchFamily="18" charset="0"/>
                <a:cs typeface="Times New Roman" panose="02020603050405020304" pitchFamily="18" charset="0"/>
              </a:rPr>
              <a:t>Distants: existent sur le Web et peuvent s'exécuter sur des machines différentes ou être hébergés dans le cloud comme </a:t>
            </a:r>
            <a:r>
              <a:rPr lang="fr-FR" sz="2400" dirty="0">
                <a:solidFill>
                  <a:srgbClr val="C00000"/>
                </a:solidFill>
                <a:latin typeface="Times New Roman" panose="02020603050405020304" pitchFamily="18" charset="0"/>
                <a:cs typeface="Times New Roman" panose="02020603050405020304" pitchFamily="18" charset="0"/>
              </a:rPr>
              <a:t>les services web </a:t>
            </a:r>
            <a:r>
              <a:rPr lang="fr-FR" sz="2400" dirty="0">
                <a:solidFill>
                  <a:schemeClr val="tx1"/>
                </a:solidFill>
                <a:latin typeface="Times New Roman" panose="02020603050405020304" pitchFamily="18" charset="0"/>
                <a:cs typeface="Times New Roman" panose="02020603050405020304" pitchFamily="18" charset="0"/>
              </a:rPr>
              <a:t>ou</a:t>
            </a:r>
            <a:r>
              <a:rPr lang="fr-FR" sz="2400" dirty="0">
                <a:solidFill>
                  <a:srgbClr val="C00000"/>
                </a:solidFill>
                <a:latin typeface="Times New Roman" panose="02020603050405020304" pitchFamily="18" charset="0"/>
                <a:cs typeface="Times New Roman" panose="02020603050405020304" pitchFamily="18" charset="0"/>
              </a:rPr>
              <a:t> </a:t>
            </a:r>
            <a:r>
              <a:rPr lang="fr-FR" sz="2400" b="1" dirty="0">
                <a:solidFill>
                  <a:schemeClr val="tx1"/>
                </a:solidFill>
                <a:latin typeface="Times New Roman" panose="02020603050405020304" pitchFamily="18" charset="0"/>
                <a:cs typeface="Times New Roman" panose="02020603050405020304" pitchFamily="18" charset="0"/>
              </a:rPr>
              <a:t>cloud</a:t>
            </a:r>
            <a:r>
              <a:rPr lang="fr-FR" sz="2400" dirty="0">
                <a:solidFill>
                  <a:schemeClr val="dk1"/>
                </a:solidFill>
                <a:latin typeface="Times New Roman" panose="02020603050405020304" pitchFamily="18" charset="0"/>
                <a:cs typeface="Times New Roman" panose="02020603050405020304" pitchFamily="18" charset="0"/>
              </a:rPr>
              <a:t>.</a:t>
            </a:r>
          </a:p>
          <a:p>
            <a:pPr marL="0" marR="0" lvl="0" indent="0" algn="l" rtl="0">
              <a:lnSpc>
                <a:spcPct val="100000"/>
              </a:lnSpc>
              <a:spcBef>
                <a:spcPts val="20"/>
              </a:spcBef>
              <a:spcAft>
                <a:spcPts val="0"/>
              </a:spcAft>
              <a:buNone/>
            </a:pPr>
            <a:endParaRPr sz="28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485" name="Google Shape;485;p1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35</a:t>
            </a:fld>
            <a:endParaRPr lang="fr-FR"/>
          </a:p>
        </p:txBody>
      </p:sp>
      <p:pic>
        <p:nvPicPr>
          <p:cNvPr id="3" name="Google Shape;275;g25b1bb62912_0_245"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pic>
        <p:nvPicPr>
          <p:cNvPr id="4" name="Google Shape;63;p1" descr="Picture 3">
            <a:extLst>
              <a:ext uri="{FF2B5EF4-FFF2-40B4-BE49-F238E27FC236}">
                <a16:creationId xmlns:a16="http://schemas.microsoft.com/office/drawing/2014/main" id="{8A4D71DF-9095-5413-1B8A-47257BD0E61B}"/>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6" name="Google Shape;296;g25b1bb62912_0_50"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sp>
        <p:nvSpPr>
          <p:cNvPr id="484" name="Google Shape;484;p17"/>
          <p:cNvSpPr txBox="1"/>
          <p:nvPr/>
        </p:nvSpPr>
        <p:spPr>
          <a:xfrm>
            <a:off x="729289" y="1517612"/>
            <a:ext cx="11310311" cy="3921586"/>
          </a:xfrm>
          <a:prstGeom prst="rect">
            <a:avLst/>
          </a:prstGeom>
          <a:noFill/>
          <a:ln>
            <a:noFill/>
          </a:ln>
        </p:spPr>
        <p:txBody>
          <a:bodyPr spcFirstLastPara="1" wrap="square" lIns="0" tIns="12700" rIns="0" bIns="0" anchor="t" anchorCtr="0">
            <a:spAutoFit/>
          </a:bodyPr>
          <a:lstStyle/>
          <a:p>
            <a:pPr marL="356870" indent="-344805">
              <a:buClr>
                <a:schemeClr val="dk1"/>
              </a:buClr>
              <a:buSzPts val="2400"/>
              <a:buFont typeface="Arial" panose="020B0604020202020204"/>
              <a:buChar char="•"/>
            </a:pPr>
            <a:endParaRPr lang="fr-FR" sz="2000" dirty="0">
              <a:solidFill>
                <a:schemeClr val="dk1"/>
              </a:solidFill>
              <a:latin typeface="Times New Roman" panose="02020603050405020304" pitchFamily="18" charset="0"/>
              <a:cs typeface="Times New Roman" panose="02020603050405020304" pitchFamily="18" charset="0"/>
            </a:endParaRPr>
          </a:p>
          <a:p>
            <a:pPr marL="356870" marR="0" lvl="0" indent="-344805" algn="l" rtl="0">
              <a:lnSpc>
                <a:spcPct val="100000"/>
              </a:lnSpc>
              <a:spcBef>
                <a:spcPts val="0"/>
              </a:spcBef>
              <a:spcAft>
                <a:spcPts val="0"/>
              </a:spcAft>
              <a:buClr>
                <a:schemeClr val="dk1"/>
              </a:buClr>
              <a:buSzPts val="2400"/>
              <a:buFont typeface="Arial" panose="020B0604020202020204"/>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Service web = </a:t>
            </a:r>
            <a:r>
              <a:rPr lang="fr-FR" sz="2000" b="1" dirty="0">
                <a:solidFill>
                  <a:schemeClr val="dk1"/>
                </a:solidFill>
                <a:latin typeface="Times New Roman" panose="02020603050405020304" pitchFamily="18" charset="0"/>
                <a:cs typeface="Times New Roman" panose="02020603050405020304" pitchFamily="18" charset="0"/>
                <a:sym typeface="Arial" panose="020B0604020202020204"/>
              </a:rPr>
              <a:t>service + web</a:t>
            </a:r>
          </a:p>
          <a:p>
            <a:pPr marL="356870" marR="0" lvl="0" indent="-344805" algn="l" rtl="0">
              <a:lnSpc>
                <a:spcPct val="100000"/>
              </a:lnSpc>
              <a:spcBef>
                <a:spcPts val="0"/>
              </a:spcBef>
              <a:spcAft>
                <a:spcPts val="0"/>
              </a:spcAft>
              <a:buClr>
                <a:schemeClr val="dk1"/>
              </a:buClr>
              <a:buSzPts val="2400"/>
              <a:buFont typeface="Arial" panose="020B0604020202020204"/>
              <a:buChar char="•"/>
            </a:pPr>
            <a:endParaRPr lang="fr-FR" sz="2000" dirty="0">
              <a:solidFill>
                <a:schemeClr val="dk1"/>
              </a:solidFill>
              <a:latin typeface="Times New Roman" panose="02020603050405020304" pitchFamily="18" charset="0"/>
              <a:cs typeface="Times New Roman" panose="02020603050405020304" pitchFamily="18" charset="0"/>
            </a:endParaRPr>
          </a:p>
          <a:p>
            <a:pPr marL="356870" marR="0" lvl="0" indent="-344805" algn="l" rtl="0">
              <a:lnSpc>
                <a:spcPct val="100000"/>
              </a:lnSpc>
              <a:spcBef>
                <a:spcPts val="0"/>
              </a:spcBef>
              <a:spcAft>
                <a:spcPts val="0"/>
              </a:spcAft>
              <a:buClr>
                <a:schemeClr val="dk1"/>
              </a:buClr>
              <a:buSzPts val="2400"/>
              <a:buFont typeface="Arial" panose="020B0604020202020204"/>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Un service Web met à disposition un service </a:t>
            </a:r>
            <a:r>
              <a:rPr lang="fr-FR" sz="2000" b="1" dirty="0">
                <a:solidFill>
                  <a:schemeClr val="dk1"/>
                </a:solidFill>
                <a:latin typeface="Times New Roman" panose="02020603050405020304" pitchFamily="18" charset="0"/>
                <a:cs typeface="Times New Roman" panose="02020603050405020304" pitchFamily="18" charset="0"/>
                <a:sym typeface="Arial" panose="020B0604020202020204"/>
              </a:rPr>
              <a:t>via Internet</a:t>
            </a:r>
            <a:endParaRPr lang="fr-FR" sz="2000" b="1" dirty="0">
              <a:solidFill>
                <a:schemeClr val="dk1"/>
              </a:solidFill>
              <a:latin typeface="Times New Roman" panose="02020603050405020304" pitchFamily="18" charset="0"/>
              <a:cs typeface="Times New Roman" panose="02020603050405020304" pitchFamily="18" charset="0"/>
            </a:endParaRPr>
          </a:p>
          <a:p>
            <a:pPr marL="356870" marR="0" lvl="0" indent="-344805" algn="l" rtl="0">
              <a:lnSpc>
                <a:spcPct val="100000"/>
              </a:lnSpc>
              <a:spcBef>
                <a:spcPts val="0"/>
              </a:spcBef>
              <a:spcAft>
                <a:spcPts val="0"/>
              </a:spcAft>
              <a:buClr>
                <a:schemeClr val="dk1"/>
              </a:buClr>
              <a:buSzPts val="2400"/>
              <a:buFont typeface="Arial" panose="020B0604020202020204"/>
              <a:buChar char="•"/>
            </a:pPr>
            <a:endParaRPr lang="fr-FR" sz="2000" b="1"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356870" marR="0" lvl="0" indent="-344805" algn="l" rtl="0">
              <a:lnSpc>
                <a:spcPct val="100000"/>
              </a:lnSpc>
              <a:spcBef>
                <a:spcPts val="0"/>
              </a:spcBef>
              <a:spcAft>
                <a:spcPts val="0"/>
              </a:spcAft>
              <a:buClr>
                <a:schemeClr val="dk1"/>
              </a:buClr>
              <a:buSzPts val="2400"/>
              <a:buFont typeface="Arial" panose="020B0604020202020204"/>
              <a:buChar char="•"/>
            </a:pPr>
            <a:endParaRPr lang="fr-FR" sz="2000" b="1"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356870" marR="0" lvl="0" indent="-344805" algn="l" rtl="0">
              <a:spcBef>
                <a:spcPts val="0"/>
              </a:spcBef>
              <a:spcAft>
                <a:spcPts val="0"/>
              </a:spcAft>
              <a:buClr>
                <a:schemeClr val="dk1"/>
              </a:buClr>
              <a:buSzPts val="2400"/>
              <a:buFont typeface="Arial" panose="020B0604020202020204"/>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Un SW est un </a:t>
            </a:r>
            <a:r>
              <a:rPr lang="fr-FR" sz="2000" b="1" dirty="0">
                <a:solidFill>
                  <a:schemeClr val="dk1"/>
                </a:solidFill>
                <a:latin typeface="Times New Roman" panose="02020603050405020304" pitchFamily="18" charset="0"/>
                <a:cs typeface="Times New Roman" panose="02020603050405020304" pitchFamily="18" charset="0"/>
                <a:sym typeface="Arial" panose="020B0604020202020204"/>
              </a:rPr>
              <a:t>programme informatique</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 permettant la communication et l'échange de données entre applications et systèmes </a:t>
            </a:r>
            <a:r>
              <a:rPr lang="fr-FR" sz="2000" dirty="0">
                <a:solidFill>
                  <a:srgbClr val="C00000"/>
                </a:solidFill>
                <a:latin typeface="Times New Roman" panose="02020603050405020304" pitchFamily="18" charset="0"/>
                <a:cs typeface="Times New Roman" panose="02020603050405020304" pitchFamily="18" charset="0"/>
                <a:sym typeface="Arial" panose="020B0604020202020204"/>
              </a:rPr>
              <a:t>hétérogènes</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 dans des environnements </a:t>
            </a:r>
            <a:r>
              <a:rPr lang="fr-FR" sz="2000" dirty="0">
                <a:solidFill>
                  <a:srgbClr val="C00000"/>
                </a:solidFill>
                <a:latin typeface="Times New Roman" panose="02020603050405020304" pitchFamily="18" charset="0"/>
                <a:cs typeface="Times New Roman" panose="02020603050405020304" pitchFamily="18" charset="0"/>
                <a:sym typeface="Arial" panose="020B0604020202020204"/>
              </a:rPr>
              <a:t>distribués</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a:t>
            </a:r>
            <a:endParaRPr lang="fr-FR" sz="2000" dirty="0">
              <a:latin typeface="Times New Roman" panose="02020603050405020304" pitchFamily="18" charset="0"/>
              <a:cs typeface="Times New Roman" panose="02020603050405020304" pitchFamily="18" charset="0"/>
            </a:endParaRPr>
          </a:p>
          <a:p>
            <a:pPr marL="356870" marR="0" lvl="0" indent="-344805" algn="l" rtl="0">
              <a:spcBef>
                <a:spcPts val="0"/>
              </a:spcBef>
              <a:spcAft>
                <a:spcPts val="0"/>
              </a:spcAft>
              <a:buNone/>
            </a:pPr>
            <a:endParaRPr lang="fr-F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356870" marR="0" lvl="0" indent="-344805" algn="l" rtl="0">
              <a:lnSpc>
                <a:spcPct val="100000"/>
              </a:lnSpc>
              <a:spcBef>
                <a:spcPts val="0"/>
              </a:spcBef>
              <a:spcAft>
                <a:spcPts val="0"/>
              </a:spcAft>
              <a:buClr>
                <a:schemeClr val="dk1"/>
              </a:buClr>
              <a:buSzPts val="2400"/>
              <a:buFont typeface="Arial" panose="020B0604020202020204"/>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Les services Web interagissent à travers l’échange de messages</a:t>
            </a:r>
          </a:p>
          <a:p>
            <a:pPr marL="356870" marR="0" lvl="0" indent="-344805" algn="l" rtl="0">
              <a:lnSpc>
                <a:spcPct val="100000"/>
              </a:lnSpc>
              <a:spcBef>
                <a:spcPts val="0"/>
              </a:spcBef>
              <a:spcAft>
                <a:spcPts val="0"/>
              </a:spcAft>
              <a:buClr>
                <a:schemeClr val="dk1"/>
              </a:buClr>
              <a:buSzPts val="2400"/>
              <a:buFont typeface="Arial" panose="020B0604020202020204"/>
              <a:buChar char="•"/>
            </a:pPr>
            <a:endParaRPr lang="fr-FR" sz="27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20"/>
              </a:spcBef>
              <a:spcAft>
                <a:spcPts val="0"/>
              </a:spcAft>
              <a:buNone/>
            </a:pPr>
            <a:endParaRPr sz="27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85" name="Google Shape;485;p1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36</a:t>
            </a:fld>
            <a:endParaRPr lang="fr-FR"/>
          </a:p>
        </p:txBody>
      </p:sp>
      <p:sp>
        <p:nvSpPr>
          <p:cNvPr id="3" name="Google Shape;301;g25b1bb62912_0_50"/>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Services Web</a:t>
            </a:r>
            <a:endParaRPr dirty="0">
              <a:sym typeface="Times New Roman" panose="02020603050405020304"/>
            </a:endParaRPr>
          </a:p>
        </p:txBody>
      </p:sp>
      <p:pic>
        <p:nvPicPr>
          <p:cNvPr id="7"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pic>
        <p:nvPicPr>
          <p:cNvPr id="2" name="Google Shape;63;p1" descr="Picture 3">
            <a:extLst>
              <a:ext uri="{FF2B5EF4-FFF2-40B4-BE49-F238E27FC236}">
                <a16:creationId xmlns:a16="http://schemas.microsoft.com/office/drawing/2014/main" id="{57DDF66A-71AB-B4C2-44F7-ABC2FFBEF72A}"/>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11" name="Google Shape;296;g25b1bb62912_0_50"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sp>
        <p:nvSpPr>
          <p:cNvPr id="484" name="Google Shape;484;p17"/>
          <p:cNvSpPr txBox="1"/>
          <p:nvPr/>
        </p:nvSpPr>
        <p:spPr>
          <a:xfrm>
            <a:off x="712356" y="1686945"/>
            <a:ext cx="10397490" cy="3213700"/>
          </a:xfrm>
          <a:prstGeom prst="rect">
            <a:avLst/>
          </a:prstGeom>
          <a:noFill/>
          <a:ln>
            <a:noFill/>
          </a:ln>
        </p:spPr>
        <p:txBody>
          <a:bodyPr spcFirstLastPara="1" wrap="square" lIns="0" tIns="12700" rIns="0" bIns="0" anchor="t" anchorCtr="0">
            <a:spAutoFit/>
          </a:bodyPr>
          <a:lstStyle/>
          <a:p>
            <a:pPr algn="l"/>
            <a:endParaRPr lang="fr-FR" sz="2400" b="0" i="0" dirty="0">
              <a:solidFill>
                <a:srgbClr val="333333"/>
              </a:solidFill>
              <a:effectLst/>
              <a:latin typeface="OpenSansRegular"/>
            </a:endParaRPr>
          </a:p>
          <a:p>
            <a:pPr algn="l"/>
            <a:r>
              <a:rPr lang="fr-FR" sz="2000" dirty="0">
                <a:solidFill>
                  <a:srgbClr val="333333"/>
                </a:solidFill>
                <a:latin typeface="Times New Roman" panose="02020603050405020304" pitchFamily="18" charset="0"/>
                <a:cs typeface="Times New Roman" panose="02020603050405020304" pitchFamily="18" charset="0"/>
              </a:rPr>
              <a:t>Il constitue ainsi une interface permettant à deux machines (ou applications) de communiquer. </a:t>
            </a:r>
            <a:r>
              <a:rPr lang="fr-FR" sz="2000" b="0" i="0" dirty="0">
                <a:solidFill>
                  <a:srgbClr val="333333"/>
                </a:solidFill>
                <a:effectLst/>
                <a:latin typeface="Times New Roman" panose="02020603050405020304" pitchFamily="18" charset="0"/>
                <a:cs typeface="Times New Roman" panose="02020603050405020304" pitchFamily="18" charset="0"/>
              </a:rPr>
              <a:t>Pour y parvenir, la technologie doit disposer de deux propriétés essentielles :</a:t>
            </a:r>
          </a:p>
          <a:p>
            <a:pPr algn="l"/>
            <a:endParaRPr lang="fr-FR" sz="2000" b="0" i="0" dirty="0">
              <a:solidFill>
                <a:srgbClr val="333333"/>
              </a:solidFill>
              <a:effectLst/>
              <a:latin typeface="Times New Roman" panose="02020603050405020304" pitchFamily="18" charset="0"/>
              <a:cs typeface="Times New Roman" panose="02020603050405020304" pitchFamily="18" charset="0"/>
            </a:endParaRPr>
          </a:p>
          <a:p>
            <a:pPr algn="l"/>
            <a:r>
              <a:rPr lang="fr-FR" sz="2000" b="1" dirty="0">
                <a:solidFill>
                  <a:srgbClr val="333333"/>
                </a:solidFill>
                <a:latin typeface="Times New Roman" panose="02020603050405020304" pitchFamily="18" charset="0"/>
                <a:cs typeface="Times New Roman" panose="02020603050405020304" pitchFamily="18" charset="0"/>
              </a:rPr>
              <a:t>        </a:t>
            </a:r>
            <a:r>
              <a:rPr lang="fr-FR" sz="2000" dirty="0">
                <a:solidFill>
                  <a:srgbClr val="333333"/>
                </a:solidFill>
                <a:latin typeface="Times New Roman" panose="02020603050405020304" pitchFamily="18" charset="0"/>
                <a:cs typeface="Times New Roman" panose="02020603050405020304" pitchFamily="18" charset="0"/>
              </a:rPr>
              <a:t>-</a:t>
            </a:r>
            <a:r>
              <a:rPr lang="fr-FR" sz="2000" b="1" dirty="0">
                <a:solidFill>
                  <a:srgbClr val="333333"/>
                </a:solidFill>
                <a:latin typeface="Times New Roman" panose="02020603050405020304" pitchFamily="18" charset="0"/>
                <a:cs typeface="Times New Roman" panose="02020603050405020304" pitchFamily="18" charset="0"/>
              </a:rPr>
              <a:t> </a:t>
            </a:r>
            <a:r>
              <a:rPr lang="fr-FR" sz="2000" b="1" i="0" dirty="0">
                <a:solidFill>
                  <a:srgbClr val="333333"/>
                </a:solidFill>
                <a:effectLst/>
                <a:latin typeface="Times New Roman" panose="02020603050405020304" pitchFamily="18" charset="0"/>
                <a:cs typeface="Times New Roman" panose="02020603050405020304" pitchFamily="18" charset="0"/>
              </a:rPr>
              <a:t>être multiplateforme </a:t>
            </a:r>
            <a:r>
              <a:rPr lang="fr-FR" sz="2000" b="0" i="0" dirty="0">
                <a:solidFill>
                  <a:srgbClr val="333333"/>
                </a:solidFill>
                <a:effectLst/>
                <a:latin typeface="Times New Roman" panose="02020603050405020304" pitchFamily="18" charset="0"/>
                <a:cs typeface="Times New Roman" panose="02020603050405020304" pitchFamily="18" charset="0"/>
              </a:rPr>
              <a:t>: il n’est pas nécessaire que le client et le serveur aient la même configuration pour pouvoir communiquer. Le service Web leur permet de se retrouver à un même niveau.</a:t>
            </a:r>
          </a:p>
          <a:p>
            <a:pPr algn="l"/>
            <a:r>
              <a:rPr lang="fr-FR" sz="2000" dirty="0">
                <a:solidFill>
                  <a:srgbClr val="333333"/>
                </a:solidFill>
                <a:latin typeface="Times New Roman" panose="02020603050405020304" pitchFamily="18" charset="0"/>
                <a:cs typeface="Times New Roman" panose="02020603050405020304" pitchFamily="18" charset="0"/>
              </a:rPr>
              <a:t>        -  </a:t>
            </a:r>
            <a:r>
              <a:rPr lang="fr-FR" sz="2000" b="1" dirty="0">
                <a:solidFill>
                  <a:srgbClr val="333333"/>
                </a:solidFill>
                <a:latin typeface="Times New Roman" panose="02020603050405020304" pitchFamily="18" charset="0"/>
                <a:cs typeface="Times New Roman" panose="02020603050405020304" pitchFamily="18" charset="0"/>
              </a:rPr>
              <a:t>être partagée </a:t>
            </a:r>
            <a:r>
              <a:rPr lang="fr-FR" sz="2000" dirty="0">
                <a:solidFill>
                  <a:srgbClr val="333333"/>
                </a:solidFill>
                <a:latin typeface="Times New Roman" panose="02020603050405020304" pitchFamily="18" charset="0"/>
                <a:cs typeface="Times New Roman" panose="02020603050405020304" pitchFamily="18" charset="0"/>
              </a:rPr>
              <a:t>: dans la plupart des cas, un service Web est à disposition de plus d’un client. Différents clients accèdent à ce service via Internet.</a:t>
            </a:r>
          </a:p>
          <a:p>
            <a:pPr marL="0" marR="0" lvl="0" indent="0" algn="l" rtl="0">
              <a:lnSpc>
                <a:spcPct val="100000"/>
              </a:lnSpc>
              <a:spcBef>
                <a:spcPts val="20"/>
              </a:spcBef>
              <a:spcAft>
                <a:spcPts val="0"/>
              </a:spcAft>
              <a:buNone/>
            </a:pPr>
            <a:endParaRPr lang="fr-FR" sz="24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85" name="Google Shape;485;p1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37</a:t>
            </a:fld>
            <a:endParaRPr lang="fr-FR"/>
          </a:p>
        </p:txBody>
      </p:sp>
      <p:sp>
        <p:nvSpPr>
          <p:cNvPr id="486" name="Google Shape;486;p17"/>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12700" lvl="0" indent="0" algn="l" rtl="0">
              <a:lnSpc>
                <a:spcPct val="100000"/>
              </a:lnSpc>
              <a:spcBef>
                <a:spcPts val="0"/>
              </a:spcBef>
              <a:spcAft>
                <a:spcPts val="0"/>
              </a:spcAft>
              <a:buNone/>
            </a:pPr>
            <a:endParaRPr/>
          </a:p>
        </p:txBody>
      </p:sp>
      <p:sp>
        <p:nvSpPr>
          <p:cNvPr id="9" name="Google Shape;301;g25b1bb62912_0_50"/>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Services Web</a:t>
            </a:r>
            <a:endParaRPr dirty="0">
              <a:sym typeface="Times New Roman" panose="02020603050405020304"/>
            </a:endParaRPr>
          </a:p>
        </p:txBody>
      </p:sp>
      <p:pic>
        <p:nvPicPr>
          <p:cNvPr id="10"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pic>
        <p:nvPicPr>
          <p:cNvPr id="2" name="Google Shape;63;p1" descr="Picture 3">
            <a:extLst>
              <a:ext uri="{FF2B5EF4-FFF2-40B4-BE49-F238E27FC236}">
                <a16:creationId xmlns:a16="http://schemas.microsoft.com/office/drawing/2014/main" id="{6805D054-9D60-3113-B187-FAB8514A3060}"/>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11" name="Google Shape;296;g25b1bb62912_0_50"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sp>
        <p:nvSpPr>
          <p:cNvPr id="484" name="Google Shape;484;p17"/>
          <p:cNvSpPr txBox="1"/>
          <p:nvPr/>
        </p:nvSpPr>
        <p:spPr>
          <a:xfrm>
            <a:off x="787144" y="2770261"/>
            <a:ext cx="10759105" cy="2721258"/>
          </a:xfrm>
          <a:prstGeom prst="rect">
            <a:avLst/>
          </a:prstGeom>
          <a:noFill/>
          <a:ln>
            <a:noFill/>
          </a:ln>
        </p:spPr>
        <p:txBody>
          <a:bodyPr spcFirstLastPara="1" wrap="square" lIns="0" tIns="12700" rIns="0" bIns="0" numCol="2" anchor="t" anchorCtr="0">
            <a:spAutoFit/>
          </a:bodyPr>
          <a:lstStyle/>
          <a:p>
            <a:pPr marL="342900" indent="-342900" algn="just">
              <a:buFont typeface="Wingdings" panose="05000000000000000000" pitchFamily="2" charset="2"/>
              <a:buChar char="q"/>
            </a:pPr>
            <a:r>
              <a:rPr lang="fr-FR" sz="2200" b="1" dirty="0">
                <a:solidFill>
                  <a:srgbClr val="333333"/>
                </a:solidFill>
                <a:latin typeface="Times New Roman" panose="02020603050405020304" pitchFamily="18" charset="0"/>
                <a:cs typeface="Times New Roman" panose="02020603050405020304" pitchFamily="18" charset="0"/>
              </a:rPr>
              <a:t>Une </a:t>
            </a:r>
            <a:r>
              <a:rPr lang="fr-FR" sz="2200" b="1" i="0" dirty="0">
                <a:solidFill>
                  <a:srgbClr val="333333"/>
                </a:solidFill>
                <a:effectLst/>
                <a:latin typeface="Times New Roman" panose="02020603050405020304" pitchFamily="18" charset="0"/>
                <a:cs typeface="Times New Roman" panose="02020603050405020304" pitchFamily="18" charset="0"/>
              </a:rPr>
              <a:t>API </a:t>
            </a:r>
            <a:r>
              <a:rPr lang="fr-FR" sz="2200" b="0" i="0" dirty="0">
                <a:solidFill>
                  <a:srgbClr val="333333"/>
                </a:solidFill>
                <a:effectLst/>
                <a:latin typeface="Times New Roman" panose="02020603050405020304" pitchFamily="18" charset="0"/>
                <a:cs typeface="Times New Roman" panose="02020603050405020304" pitchFamily="18" charset="0"/>
              </a:rPr>
              <a:t>est une interface qui permet à différentes applications ou systèmes de communiquer entre eux.</a:t>
            </a:r>
          </a:p>
          <a:p>
            <a:pPr algn="just"/>
            <a:endParaRPr lang="fr-FR" sz="2200" b="0" i="0" dirty="0">
              <a:solidFill>
                <a:srgbClr val="333333"/>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fr-FR" sz="2200" b="0" i="0" dirty="0">
                <a:solidFill>
                  <a:srgbClr val="333333"/>
                </a:solidFill>
                <a:effectLst/>
                <a:latin typeface="Times New Roman" panose="02020603050405020304" pitchFamily="18" charset="0"/>
                <a:cs typeface="Times New Roman" panose="02020603050405020304" pitchFamily="18" charset="0"/>
              </a:rPr>
              <a:t>Les API </a:t>
            </a:r>
            <a:r>
              <a:rPr lang="fr-FR" sz="2200" b="1" i="0" dirty="0">
                <a:solidFill>
                  <a:srgbClr val="333333"/>
                </a:solidFill>
                <a:effectLst/>
                <a:latin typeface="Times New Roman" panose="02020603050405020304" pitchFamily="18" charset="0"/>
                <a:cs typeface="Times New Roman" panose="02020603050405020304" pitchFamily="18" charset="0"/>
              </a:rPr>
              <a:t>ne nécessitent pas forcément d'utiliser le réseau ou Internet</a:t>
            </a:r>
            <a:r>
              <a:rPr lang="fr-FR" sz="2200" b="0" i="0" dirty="0">
                <a:solidFill>
                  <a:srgbClr val="333333"/>
                </a:solidFill>
                <a:effectLst/>
                <a:latin typeface="Times New Roman" panose="02020603050405020304" pitchFamily="18" charset="0"/>
                <a:cs typeface="Times New Roman" panose="02020603050405020304" pitchFamily="18" charset="0"/>
              </a:rPr>
              <a:t>.</a:t>
            </a:r>
          </a:p>
          <a:p>
            <a:pPr algn="just"/>
            <a:r>
              <a:rPr lang="fr-FR" sz="2200" b="0" i="0" dirty="0">
                <a:solidFill>
                  <a:srgbClr val="333333"/>
                </a:solidFill>
                <a:effectLst/>
                <a:latin typeface="Times New Roman" panose="02020603050405020304" pitchFamily="18" charset="0"/>
                <a:cs typeface="Times New Roman" panose="02020603050405020304" pitchFamily="18" charset="0"/>
              </a:rPr>
              <a:t>									</a:t>
            </a:r>
          </a:p>
          <a:p>
            <a:pPr marL="535305" indent="-342900" algn="just">
              <a:buFont typeface="Wingdings" panose="05000000000000000000" pitchFamily="2" charset="2"/>
              <a:buChar char="q"/>
            </a:pPr>
            <a:r>
              <a:rPr lang="fr-FR" sz="2200" b="1" i="0" dirty="0">
                <a:solidFill>
                  <a:srgbClr val="333333"/>
                </a:solidFill>
                <a:effectLst/>
                <a:latin typeface="Times New Roman" panose="02020603050405020304" pitchFamily="18" charset="0"/>
                <a:cs typeface="Times New Roman" panose="02020603050405020304" pitchFamily="18" charset="0"/>
              </a:rPr>
              <a:t>Un service web </a:t>
            </a:r>
            <a:r>
              <a:rPr lang="fr-FR" sz="2200" b="0" i="0" dirty="0">
                <a:solidFill>
                  <a:srgbClr val="333333"/>
                </a:solidFill>
                <a:effectLst/>
                <a:latin typeface="Times New Roman" panose="02020603050405020304" pitchFamily="18" charset="0"/>
                <a:cs typeface="Times New Roman" panose="02020603050405020304" pitchFamily="18" charset="0"/>
              </a:rPr>
              <a:t>(</a:t>
            </a:r>
            <a:r>
              <a:rPr lang="fr-FR" sz="2200" b="0" i="0" dirty="0">
                <a:solidFill>
                  <a:srgbClr val="C00000"/>
                </a:solidFill>
                <a:effectLst/>
                <a:latin typeface="Times New Roman" panose="02020603050405020304" pitchFamily="18" charset="0"/>
                <a:cs typeface="Times New Roman" panose="02020603050405020304" pitchFamily="18" charset="0"/>
              </a:rPr>
              <a:t>API web</a:t>
            </a:r>
            <a:r>
              <a:rPr lang="fr-FR" sz="2200" b="0" i="0" dirty="0">
                <a:solidFill>
                  <a:srgbClr val="333333"/>
                </a:solidFill>
                <a:effectLst/>
                <a:latin typeface="Times New Roman" panose="02020603050405020304" pitchFamily="18" charset="0"/>
                <a:cs typeface="Times New Roman" panose="02020603050405020304" pitchFamily="18" charset="0"/>
              </a:rPr>
              <a:t>) est un type spécifique d'API qui </a:t>
            </a:r>
            <a:r>
              <a:rPr lang="fr-FR" sz="2200" b="1" i="0" dirty="0">
                <a:solidFill>
                  <a:srgbClr val="333333"/>
                </a:solidFill>
                <a:effectLst/>
                <a:latin typeface="Times New Roman" panose="02020603050405020304" pitchFamily="18" charset="0"/>
                <a:cs typeface="Times New Roman" panose="02020603050405020304" pitchFamily="18" charset="0"/>
              </a:rPr>
              <a:t>utilise des protocoles web </a:t>
            </a:r>
            <a:r>
              <a:rPr lang="fr-FR" sz="2200" b="0" i="0" dirty="0">
                <a:solidFill>
                  <a:srgbClr val="333333"/>
                </a:solidFill>
                <a:effectLst/>
                <a:latin typeface="Times New Roman" panose="02020603050405020304" pitchFamily="18" charset="0"/>
                <a:cs typeface="Times New Roman" panose="02020603050405020304" pitchFamily="18" charset="0"/>
              </a:rPr>
              <a:t>pour permettre la communication entre machines sur un réseau, généralement </a:t>
            </a:r>
            <a:r>
              <a:rPr lang="fr-FR" sz="2200" b="1" i="0" dirty="0">
                <a:solidFill>
                  <a:srgbClr val="333333"/>
                </a:solidFill>
                <a:effectLst/>
                <a:latin typeface="Times New Roman" panose="02020603050405020304" pitchFamily="18" charset="0"/>
                <a:cs typeface="Times New Roman" panose="02020603050405020304" pitchFamily="18" charset="0"/>
              </a:rPr>
              <a:t>Internet</a:t>
            </a:r>
            <a:r>
              <a:rPr lang="fr-FR" sz="2200" b="0" i="0" dirty="0">
                <a:solidFill>
                  <a:srgbClr val="333333"/>
                </a:solidFill>
                <a:effectLst/>
                <a:latin typeface="Times New Roman" panose="02020603050405020304" pitchFamily="18" charset="0"/>
                <a:cs typeface="Times New Roman" panose="02020603050405020304" pitchFamily="18" charset="0"/>
              </a:rPr>
              <a:t>.</a:t>
            </a:r>
          </a:p>
          <a:p>
            <a:pPr marL="535305" indent="-342900" algn="just">
              <a:buFont typeface="Wingdings" panose="05000000000000000000" pitchFamily="2" charset="2"/>
              <a:buChar char="q"/>
            </a:pPr>
            <a:r>
              <a:rPr lang="fr-FR" sz="2200" b="0" i="0" dirty="0">
                <a:solidFill>
                  <a:srgbClr val="333333"/>
                </a:solidFill>
                <a:effectLst/>
                <a:latin typeface="Times New Roman" panose="02020603050405020304" pitchFamily="18" charset="0"/>
                <a:cs typeface="Times New Roman" panose="02020603050405020304" pitchFamily="18" charset="0"/>
              </a:rPr>
              <a:t>Fonctionnent sur des machines différentes, souvent via Internet ou un réseau interne.</a:t>
            </a:r>
          </a:p>
          <a:p>
            <a:pPr algn="just"/>
            <a:endParaRPr lang="fr-FR" sz="2200" b="0" i="0" dirty="0">
              <a:solidFill>
                <a:srgbClr val="333333"/>
              </a:solidFill>
              <a:effectLst/>
              <a:latin typeface="Times New Roman" panose="02020603050405020304" pitchFamily="18" charset="0"/>
              <a:cs typeface="Times New Roman" panose="02020603050405020304" pitchFamily="18" charset="0"/>
            </a:endParaRPr>
          </a:p>
        </p:txBody>
      </p:sp>
      <p:sp>
        <p:nvSpPr>
          <p:cNvPr id="485" name="Google Shape;485;p1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38</a:t>
            </a:fld>
            <a:endParaRPr lang="fr-FR"/>
          </a:p>
        </p:txBody>
      </p:sp>
      <p:sp>
        <p:nvSpPr>
          <p:cNvPr id="9" name="Google Shape;301;g25b1bb62912_0_50"/>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Service Web VS API</a:t>
            </a:r>
            <a:endParaRPr dirty="0">
              <a:sym typeface="Times New Roman" panose="02020603050405020304"/>
            </a:endParaRPr>
          </a:p>
        </p:txBody>
      </p:sp>
      <p:pic>
        <p:nvPicPr>
          <p:cNvPr id="10"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sp>
        <p:nvSpPr>
          <p:cNvPr id="2" name="Google Shape;165;g25b1bb62912_0_342"/>
          <p:cNvSpPr txBox="1"/>
          <p:nvPr/>
        </p:nvSpPr>
        <p:spPr>
          <a:xfrm>
            <a:off x="1258165" y="1354373"/>
            <a:ext cx="10288085" cy="861744"/>
          </a:xfrm>
          <a:prstGeom prst="rect">
            <a:avLst/>
          </a:prstGeom>
          <a:solidFill>
            <a:schemeClr val="accent2">
              <a:lumMod val="20000"/>
              <a:lumOff val="80000"/>
            </a:schemeClr>
          </a:solidFill>
          <a:ln>
            <a:noFill/>
          </a:ln>
        </p:spPr>
        <p:txBody>
          <a:bodyPr spcFirstLastPara="1" wrap="square" lIns="91425" tIns="91425" rIns="91425" bIns="91425" anchor="t" anchorCtr="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fr-FR" sz="2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Tout service web est une API (Interface de Programmation d'Applications)</a:t>
            </a:r>
          </a:p>
          <a:p>
            <a:pPr marL="0" marR="0" lvl="0" indent="0" defTabSz="914400" rtl="0" eaLnBrk="1" fontAlgn="auto" latinLnBrk="0" hangingPunct="1">
              <a:lnSpc>
                <a:spcPct val="100000"/>
              </a:lnSpc>
              <a:spcBef>
                <a:spcPts val="0"/>
              </a:spcBef>
              <a:spcAft>
                <a:spcPts val="0"/>
              </a:spcAft>
              <a:buClrTx/>
              <a:buSzTx/>
              <a:buFontTx/>
              <a:buNone/>
              <a:defRPr/>
            </a:pPr>
            <a:r>
              <a:rPr kumimoji="0" lang="fr-FR" sz="2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Tout API n’est pas un forcément un service web ( l'inverse n'est pas toujours vrai) </a:t>
            </a:r>
            <a:endParaRPr lang="fr-FR" sz="2200" b="1" dirty="0">
              <a:latin typeface="Times New Roman" panose="02020603050405020304" pitchFamily="18" charset="0"/>
              <a:cs typeface="Times New Roman" panose="02020603050405020304" pitchFamily="18" charset="0"/>
            </a:endParaRPr>
          </a:p>
        </p:txBody>
      </p:sp>
      <p:pic>
        <p:nvPicPr>
          <p:cNvPr id="3" name="Google Shape;63;p1" descr="Picture 3">
            <a:extLst>
              <a:ext uri="{FF2B5EF4-FFF2-40B4-BE49-F238E27FC236}">
                <a16:creationId xmlns:a16="http://schemas.microsoft.com/office/drawing/2014/main" id="{F1B45EFC-F298-9415-DE94-00B8AEF9941A}"/>
              </a:ext>
            </a:extLst>
          </p:cNvPr>
          <p:cNvPicPr preferRelativeResize="0"/>
          <p:nvPr/>
        </p:nvPicPr>
        <p:blipFill rotWithShape="1">
          <a:blip r:embed="rId5"/>
          <a:srcRect/>
          <a:stretch>
            <a:fillRect/>
          </a:stretch>
        </p:blipFill>
        <p:spPr>
          <a:xfrm flipH="1">
            <a:off x="10036628" y="71323"/>
            <a:ext cx="2492233" cy="133245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494" name="Google Shape;494;p18"/>
          <p:cNvSpPr txBox="1"/>
          <p:nvPr/>
        </p:nvSpPr>
        <p:spPr>
          <a:xfrm>
            <a:off x="672845" y="1263611"/>
            <a:ext cx="10397490" cy="5796459"/>
          </a:xfrm>
          <a:prstGeom prst="rect">
            <a:avLst/>
          </a:prstGeom>
          <a:noFill/>
          <a:ln>
            <a:noFill/>
          </a:ln>
        </p:spPr>
        <p:txBody>
          <a:bodyPr spcFirstLastPara="1" wrap="square" lIns="0" tIns="12700" rIns="0" bIns="0" anchor="t" anchorCtr="0">
            <a:spAutoFit/>
          </a:bodyPr>
          <a:lstStyle/>
          <a:p>
            <a:pPr marL="0" marR="0" lvl="0" indent="-152400" algn="l" rtl="0">
              <a:spcBef>
                <a:spcPts val="0"/>
              </a:spcBef>
              <a:spcAft>
                <a:spcPts val="0"/>
              </a:spcAft>
              <a:buClr>
                <a:schemeClr val="dk1"/>
              </a:buClr>
              <a:buSzPts val="2400"/>
              <a:buFont typeface="Noto Sans Symbols"/>
              <a:buChar char="❑"/>
            </a:pPr>
            <a:endParaRPr lang="fr-F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152400" algn="l" rtl="0">
              <a:spcBef>
                <a:spcPts val="0"/>
              </a:spcBef>
              <a:spcAft>
                <a:spcPts val="0"/>
              </a:spcAft>
              <a:buClr>
                <a:schemeClr val="dk1"/>
              </a:buClr>
              <a:buSzPts val="24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Il existe deux grandes familles de services web:</a:t>
            </a:r>
            <a:endParaRPr sz="2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lang="fr-F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spcBef>
                <a:spcPts val="0"/>
              </a:spcBef>
              <a:spcAft>
                <a:spcPts val="0"/>
              </a:spcAft>
              <a:buNone/>
            </a:pPr>
            <a:endParaRP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139700" algn="l" rtl="0">
              <a:spcBef>
                <a:spcPts val="0"/>
              </a:spcBef>
              <a:spcAft>
                <a:spcPts val="0"/>
              </a:spcAft>
              <a:buClr>
                <a:schemeClr val="dk1"/>
              </a:buClr>
              <a:buSzPts val="2200"/>
              <a:buFont typeface="Arial" panose="020B0604020202020204"/>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Les services web </a:t>
            </a:r>
            <a:r>
              <a:rPr lang="fr-FR" sz="2000" b="1" dirty="0">
                <a:solidFill>
                  <a:srgbClr val="CC0000"/>
                </a:solidFill>
                <a:latin typeface="Times New Roman" panose="02020603050405020304" pitchFamily="18" charset="0"/>
                <a:cs typeface="Times New Roman" panose="02020603050405020304" pitchFamily="18" charset="0"/>
                <a:sym typeface="Arial" panose="020B0604020202020204"/>
              </a:rPr>
              <a:t>étendus</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 utilisant les standards:</a:t>
            </a:r>
            <a:endParaRPr sz="2000" dirty="0">
              <a:latin typeface="Times New Roman" panose="02020603050405020304" pitchFamily="18" charset="0"/>
              <a:cs typeface="Times New Roman" panose="02020603050405020304" pitchFamily="18" charset="0"/>
            </a:endParaRPr>
          </a:p>
          <a:p>
            <a:pPr marL="914400" marR="0" lvl="2" indent="-127000" algn="l" rtl="0">
              <a:spcBef>
                <a:spcPts val="0"/>
              </a:spcBef>
              <a:spcAft>
                <a:spcPts val="0"/>
              </a:spcAft>
              <a:buClr>
                <a:schemeClr val="dk1"/>
              </a:buClr>
              <a:buSzPts val="2000"/>
              <a:buFont typeface="Arial" panose="020B0604020202020204"/>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SOAP pour la communication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panose="020B0604020202020204"/>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UDDI (annuaire) pour la publication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panose="020B0604020202020204"/>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WSDL (contrat) pour la description</a:t>
            </a:r>
            <a:endParaRPr sz="2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lang="fr-F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spcBef>
                <a:spcPts val="0"/>
              </a:spcBef>
              <a:spcAft>
                <a:spcPts val="0"/>
              </a:spcAft>
              <a:buNone/>
            </a:pPr>
            <a:endParaRP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139700" algn="l" rtl="0">
              <a:spcBef>
                <a:spcPts val="0"/>
              </a:spcBef>
              <a:spcAft>
                <a:spcPts val="0"/>
              </a:spcAft>
              <a:buClr>
                <a:schemeClr val="dk1"/>
              </a:buClr>
              <a:buSzPts val="2200"/>
              <a:buFont typeface="Arial" panose="020B0604020202020204"/>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Les services web </a:t>
            </a:r>
            <a:r>
              <a:rPr lang="fr-FR" sz="2000" b="1" dirty="0">
                <a:solidFill>
                  <a:srgbClr val="CC0000"/>
                </a:solidFill>
                <a:latin typeface="Times New Roman" panose="02020603050405020304" pitchFamily="18" charset="0"/>
                <a:cs typeface="Times New Roman" panose="02020603050405020304" pitchFamily="18" charset="0"/>
                <a:sym typeface="Arial" panose="020B0604020202020204"/>
              </a:rPr>
              <a:t>REST</a:t>
            </a:r>
            <a:r>
              <a:rPr lang="fr-FR" sz="2000" b="1" dirty="0">
                <a:solidFill>
                  <a:schemeClr val="dk1"/>
                </a:solidFill>
                <a:latin typeface="Times New Roman" panose="02020603050405020304" pitchFamily="18" charset="0"/>
                <a:cs typeface="Times New Roman" panose="02020603050405020304" pitchFamily="18" charset="0"/>
                <a:sym typeface="Arial" panose="020B0604020202020204"/>
              </a:rPr>
              <a:t> </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utilisant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panose="020B0604020202020204"/>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Directement  HTTP au lieu d’une enveloppe  SOAP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panose="020B0604020202020204"/>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Un URI pour nommer et identifier une ressource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panose="020B0604020202020204"/>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Les méthodes HTTP (POST, GET, PUT et DELETE) pour effectuer les opérations de base CRUD</a:t>
            </a:r>
            <a:endParaRPr sz="20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spcBef>
                <a:spcPts val="0"/>
              </a:spcBef>
              <a:spcAft>
                <a:spcPts val="0"/>
              </a:spcAft>
              <a:buNone/>
            </a:pPr>
            <a:endParaRPr sz="2400" dirty="0">
              <a:solidFill>
                <a:schemeClr val="dk1"/>
              </a:solidFill>
              <a:latin typeface="Arial" panose="020B0604020202020204"/>
              <a:ea typeface="Arial" panose="020B0604020202020204"/>
              <a:cs typeface="Arial" panose="020B0604020202020204"/>
              <a:sym typeface="Arial" panose="020B0604020202020204"/>
            </a:endParaRPr>
          </a:p>
          <a:p>
            <a:pPr marL="12065" marR="0" lvl="0" indent="0" algn="l" rtl="0">
              <a:lnSpc>
                <a:spcPct val="100000"/>
              </a:lnSpc>
              <a:spcBef>
                <a:spcPts val="100"/>
              </a:spcBef>
              <a:spcAft>
                <a:spcPts val="0"/>
              </a:spcAft>
              <a:buNone/>
            </a:pPr>
            <a:endParaRPr sz="24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20"/>
              </a:spcBef>
              <a:spcAft>
                <a:spcPts val="0"/>
              </a:spcAft>
              <a:buNone/>
            </a:pPr>
            <a:endParaRPr sz="27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95" name="Google Shape;495;p18"/>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39</a:t>
            </a:fld>
            <a:endParaRPr lang="fr-FR"/>
          </a:p>
        </p:txBody>
      </p:sp>
      <p:sp>
        <p:nvSpPr>
          <p:cNvPr id="5" name="Google Shape;301;g25b1bb62912_0_50"/>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Famille de Services Web</a:t>
            </a:r>
            <a:endParaRPr dirty="0">
              <a:sym typeface="Times New Roman" panose="02020603050405020304"/>
            </a:endParaRPr>
          </a:p>
        </p:txBody>
      </p:sp>
      <p:pic>
        <p:nvPicPr>
          <p:cNvPr id="6"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pic>
        <p:nvPicPr>
          <p:cNvPr id="3" name="Google Shape;63;p1" descr="Picture 3">
            <a:extLst>
              <a:ext uri="{FF2B5EF4-FFF2-40B4-BE49-F238E27FC236}">
                <a16:creationId xmlns:a16="http://schemas.microsoft.com/office/drawing/2014/main" id="{50DA7E0B-A6C4-6270-4C7B-7A83FD32D716}"/>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288" name="Google Shape;288;g25b1bb62912_0_41"/>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40</a:t>
            </a:fld>
            <a:endParaRPr lang="fr-FR"/>
          </a:p>
        </p:txBody>
      </p:sp>
      <p:sp>
        <p:nvSpPr>
          <p:cNvPr id="291" name="Google Shape;291;g25b1bb62912_0_41"/>
          <p:cNvSpPr txBox="1"/>
          <p:nvPr/>
        </p:nvSpPr>
        <p:spPr>
          <a:xfrm>
            <a:off x="1198268" y="649743"/>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Principes d’un service Web</a:t>
            </a:r>
            <a:endParaRPr dirty="0">
              <a:sym typeface="Times New Roman" panose="02020603050405020304"/>
            </a:endParaRPr>
          </a:p>
        </p:txBody>
      </p:sp>
      <p:sp>
        <p:nvSpPr>
          <p:cNvPr id="2" name="Google Shape;554;p24"/>
          <p:cNvSpPr txBox="1"/>
          <p:nvPr/>
        </p:nvSpPr>
        <p:spPr>
          <a:xfrm>
            <a:off x="418160" y="1799280"/>
            <a:ext cx="3837088" cy="289823"/>
          </a:xfrm>
          <a:prstGeom prst="rect">
            <a:avLst/>
          </a:prstGeom>
          <a:noFill/>
          <a:ln>
            <a:noFill/>
          </a:ln>
        </p:spPr>
        <p:txBody>
          <a:bodyPr spcFirstLastPara="1" wrap="square" lIns="0" tIns="12700" rIns="0" bIns="0" anchor="t" anchorCtr="0">
            <a:spAutoFit/>
          </a:bodyPr>
          <a:lstStyle/>
          <a:p>
            <a:pPr marL="12700"/>
            <a:r>
              <a:rPr lang="fr-FR" sz="1800" dirty="0">
                <a:solidFill>
                  <a:schemeClr val="dk1"/>
                </a:solidFill>
                <a:latin typeface="Arial" panose="020B0604020202020204"/>
                <a:ea typeface="Arial" panose="020B0604020202020204"/>
                <a:cs typeface="Arial" panose="020B0604020202020204"/>
                <a:sym typeface="Arial" panose="020B0604020202020204"/>
              </a:rPr>
              <a:t>Auto-description(Contrat standardisé) </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3" name="Google Shape;555;p24"/>
          <p:cNvSpPr txBox="1"/>
          <p:nvPr/>
        </p:nvSpPr>
        <p:spPr>
          <a:xfrm>
            <a:off x="1069134" y="2985463"/>
            <a:ext cx="2131060" cy="3917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Couplage</a:t>
            </a:r>
            <a:r>
              <a:rPr lang="fr-FR" sz="2400" dirty="0">
                <a:solidFill>
                  <a:schemeClr val="dk1"/>
                </a:solidFill>
                <a:latin typeface="Arial" panose="020B0604020202020204"/>
                <a:ea typeface="Arial" panose="020B0604020202020204"/>
                <a:cs typeface="Arial" panose="020B0604020202020204"/>
                <a:sym typeface="Arial" panose="020B0604020202020204"/>
              </a:rPr>
              <a:t> </a:t>
            </a:r>
            <a:r>
              <a:rPr lang="fr-FR" sz="1800" dirty="0">
                <a:solidFill>
                  <a:schemeClr val="dk1"/>
                </a:solidFill>
              </a:rPr>
              <a:t>lâche</a:t>
            </a:r>
            <a:endParaRPr sz="1800" dirty="0">
              <a:solidFill>
                <a:schemeClr val="dk1"/>
              </a:solidFill>
            </a:endParaRPr>
          </a:p>
        </p:txBody>
      </p:sp>
      <p:sp>
        <p:nvSpPr>
          <p:cNvPr id="4" name="Google Shape;556;p24"/>
          <p:cNvSpPr txBox="1"/>
          <p:nvPr/>
        </p:nvSpPr>
        <p:spPr>
          <a:xfrm>
            <a:off x="1720961" y="4039627"/>
            <a:ext cx="155321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Abstraction</a:t>
            </a:r>
            <a:endParaRPr sz="1800" dirty="0">
              <a:solidFill>
                <a:schemeClr val="dk1"/>
              </a:solidFill>
            </a:endParaRPr>
          </a:p>
        </p:txBody>
      </p:sp>
      <p:sp>
        <p:nvSpPr>
          <p:cNvPr id="5" name="Google Shape;557;p24"/>
          <p:cNvSpPr txBox="1"/>
          <p:nvPr/>
        </p:nvSpPr>
        <p:spPr>
          <a:xfrm>
            <a:off x="1447657" y="5040260"/>
            <a:ext cx="1821814"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Réutilisabilité</a:t>
            </a:r>
            <a:endParaRPr sz="1800" dirty="0">
              <a:solidFill>
                <a:schemeClr val="dk1"/>
              </a:solidFill>
            </a:endParaRPr>
          </a:p>
        </p:txBody>
      </p:sp>
      <p:sp>
        <p:nvSpPr>
          <p:cNvPr id="6" name="Google Shape;558;p24"/>
          <p:cNvSpPr txBox="1"/>
          <p:nvPr/>
        </p:nvSpPr>
        <p:spPr>
          <a:xfrm>
            <a:off x="9169384" y="2037725"/>
            <a:ext cx="148653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Autonomie</a:t>
            </a:r>
            <a:endParaRPr sz="1800" dirty="0">
              <a:solidFill>
                <a:schemeClr val="dk1"/>
              </a:solidFill>
            </a:endParaRPr>
          </a:p>
        </p:txBody>
      </p:sp>
      <p:sp>
        <p:nvSpPr>
          <p:cNvPr id="7" name="Google Shape;559;p24"/>
          <p:cNvSpPr txBox="1"/>
          <p:nvPr/>
        </p:nvSpPr>
        <p:spPr>
          <a:xfrm>
            <a:off x="9264507" y="3072141"/>
            <a:ext cx="2481581"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L="12700" indent="0">
              <a:buNone/>
              <a:defRPr sz="1800">
                <a:solidFill>
                  <a:schemeClr val="dk1"/>
                </a:solidFill>
              </a:defRPr>
            </a:lvl1pPr>
          </a:lstStyle>
          <a:p>
            <a:r>
              <a:rPr lang="fr-FR" dirty="0"/>
              <a:t>Sans état(Stateless)</a:t>
            </a:r>
            <a:endParaRPr dirty="0"/>
          </a:p>
        </p:txBody>
      </p:sp>
      <p:sp>
        <p:nvSpPr>
          <p:cNvPr id="8" name="Google Shape;560;p24"/>
          <p:cNvSpPr txBox="1"/>
          <p:nvPr/>
        </p:nvSpPr>
        <p:spPr>
          <a:xfrm>
            <a:off x="9264507" y="3968329"/>
            <a:ext cx="173736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Découvrable</a:t>
            </a:r>
            <a:endParaRPr sz="1800" dirty="0">
              <a:solidFill>
                <a:schemeClr val="dk1"/>
              </a:solidFill>
            </a:endParaRPr>
          </a:p>
        </p:txBody>
      </p:sp>
      <p:sp>
        <p:nvSpPr>
          <p:cNvPr id="9" name="Google Shape;561;p24"/>
          <p:cNvSpPr txBox="1"/>
          <p:nvPr/>
        </p:nvSpPr>
        <p:spPr>
          <a:xfrm>
            <a:off x="9264507" y="5002160"/>
            <a:ext cx="173672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Composable</a:t>
            </a:r>
            <a:endParaRPr sz="1800" dirty="0">
              <a:solidFill>
                <a:schemeClr val="dk1"/>
              </a:solidFill>
            </a:endParaRPr>
          </a:p>
        </p:txBody>
      </p:sp>
      <p:grpSp>
        <p:nvGrpSpPr>
          <p:cNvPr id="10" name="Google Shape;562;p24"/>
          <p:cNvGrpSpPr/>
          <p:nvPr/>
        </p:nvGrpSpPr>
        <p:grpSpPr>
          <a:xfrm>
            <a:off x="3821288" y="2148217"/>
            <a:ext cx="5334000" cy="3126865"/>
            <a:chOff x="3810000" y="2159509"/>
            <a:chExt cx="5334000" cy="3126865"/>
          </a:xfrm>
        </p:grpSpPr>
        <p:sp>
          <p:nvSpPr>
            <p:cNvPr id="11" name="Google Shape;563;p24"/>
            <p:cNvSpPr/>
            <p:nvPr/>
          </p:nvSpPr>
          <p:spPr>
            <a:xfrm>
              <a:off x="4133341" y="2173478"/>
              <a:ext cx="1230630" cy="1019175"/>
            </a:xfrm>
            <a:custGeom>
              <a:avLst/>
              <a:gdLst/>
              <a:ahLst/>
              <a:cxnLst/>
              <a:rect l="l" t="t" r="r" b="b"/>
              <a:pathLst>
                <a:path w="1230629" h="1019175" extrusionOk="0">
                  <a:moveTo>
                    <a:pt x="0" y="0"/>
                  </a:moveTo>
                  <a:lnTo>
                    <a:pt x="2540" y="9398"/>
                  </a:lnTo>
                  <a:lnTo>
                    <a:pt x="1220978" y="1019048"/>
                  </a:lnTo>
                  <a:lnTo>
                    <a:pt x="1230503" y="1012571"/>
                  </a:lnTo>
                  <a:lnTo>
                    <a:pt x="11937" y="2921"/>
                  </a:lnTo>
                  <a:lnTo>
                    <a:pt x="0"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 name="Google Shape;564;p24"/>
            <p:cNvSpPr/>
            <p:nvPr/>
          </p:nvSpPr>
          <p:spPr>
            <a:xfrm>
              <a:off x="4116324" y="2159509"/>
              <a:ext cx="127635" cy="98550"/>
            </a:xfrm>
            <a:prstGeom prst="rect">
              <a:avLst/>
            </a:prstGeom>
            <a:blipFill rotWithShape="1">
              <a:blip r:embed="rId4"/>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565;p24"/>
            <p:cNvSpPr/>
            <p:nvPr/>
          </p:nvSpPr>
          <p:spPr>
            <a:xfrm>
              <a:off x="4077588" y="3223767"/>
              <a:ext cx="782320" cy="210185"/>
            </a:xfrm>
            <a:custGeom>
              <a:avLst/>
              <a:gdLst/>
              <a:ahLst/>
              <a:cxnLst/>
              <a:rect l="l" t="t" r="r" b="b"/>
              <a:pathLst>
                <a:path w="782320" h="210185" extrusionOk="0">
                  <a:moveTo>
                    <a:pt x="12319" y="0"/>
                  </a:moveTo>
                  <a:lnTo>
                    <a:pt x="0" y="1905"/>
                  </a:lnTo>
                  <a:lnTo>
                    <a:pt x="8382" y="9144"/>
                  </a:lnTo>
                  <a:lnTo>
                    <a:pt x="777875" y="209804"/>
                  </a:lnTo>
                  <a:lnTo>
                    <a:pt x="782065" y="200914"/>
                  </a:lnTo>
                  <a:lnTo>
                    <a:pt x="12319"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 name="Google Shape;566;p24"/>
            <p:cNvSpPr/>
            <p:nvPr/>
          </p:nvSpPr>
          <p:spPr>
            <a:xfrm>
              <a:off x="4053840" y="3200401"/>
              <a:ext cx="134112" cy="94486"/>
            </a:xfrm>
            <a:prstGeom prst="rect">
              <a:avLst/>
            </a:prstGeom>
            <a:blipFill rotWithShape="1">
              <a:blip r:embed="rId5"/>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 name="Google Shape;567;p24"/>
            <p:cNvSpPr/>
            <p:nvPr/>
          </p:nvSpPr>
          <p:spPr>
            <a:xfrm>
              <a:off x="3904488" y="4192017"/>
              <a:ext cx="135000" cy="93216"/>
            </a:xfrm>
            <a:prstGeom prst="rect">
              <a:avLst/>
            </a:prstGeom>
            <a:blipFill rotWithShape="1">
              <a:blip r:embed="rId6"/>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568;p24"/>
            <p:cNvSpPr/>
            <p:nvPr/>
          </p:nvSpPr>
          <p:spPr>
            <a:xfrm>
              <a:off x="3928110" y="3924300"/>
              <a:ext cx="1122680" cy="340995"/>
            </a:xfrm>
            <a:custGeom>
              <a:avLst/>
              <a:gdLst/>
              <a:ahLst/>
              <a:cxnLst/>
              <a:rect l="l" t="t" r="r" b="b"/>
              <a:pathLst>
                <a:path w="1122679" h="340995" extrusionOk="0">
                  <a:moveTo>
                    <a:pt x="1117727" y="0"/>
                  </a:moveTo>
                  <a:lnTo>
                    <a:pt x="7619" y="331850"/>
                  </a:lnTo>
                  <a:lnTo>
                    <a:pt x="0" y="339089"/>
                  </a:lnTo>
                  <a:lnTo>
                    <a:pt x="12318" y="340487"/>
                  </a:lnTo>
                  <a:lnTo>
                    <a:pt x="1122299" y="8762"/>
                  </a:lnTo>
                  <a:lnTo>
                    <a:pt x="1117727"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569;p24"/>
            <p:cNvSpPr/>
            <p:nvPr/>
          </p:nvSpPr>
          <p:spPr>
            <a:xfrm>
              <a:off x="3810000" y="5193031"/>
              <a:ext cx="133096" cy="93343"/>
            </a:xfrm>
            <a:prstGeom prst="rect">
              <a:avLst/>
            </a:prstGeom>
            <a:blipFill rotWithShape="1">
              <a:blip r:embed="rId7"/>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570;p24"/>
            <p:cNvSpPr/>
            <p:nvPr/>
          </p:nvSpPr>
          <p:spPr>
            <a:xfrm>
              <a:off x="3829685" y="2283840"/>
              <a:ext cx="5201920" cy="2990850"/>
            </a:xfrm>
            <a:custGeom>
              <a:avLst/>
              <a:gdLst/>
              <a:ahLst/>
              <a:cxnLst/>
              <a:rect l="l" t="t" r="r" b="b"/>
              <a:pathLst>
                <a:path w="5201920" h="2990850" extrusionOk="0">
                  <a:moveTo>
                    <a:pt x="1794764" y="1934464"/>
                  </a:moveTo>
                  <a:lnTo>
                    <a:pt x="1786763" y="1926971"/>
                  </a:lnTo>
                  <a:lnTo>
                    <a:pt x="4572" y="2982087"/>
                  </a:lnTo>
                  <a:lnTo>
                    <a:pt x="0" y="2990850"/>
                  </a:lnTo>
                  <a:lnTo>
                    <a:pt x="12573" y="2989580"/>
                  </a:lnTo>
                  <a:lnTo>
                    <a:pt x="1794764" y="1934464"/>
                  </a:lnTo>
                  <a:close/>
                </a:path>
                <a:path w="5201920" h="2990850" extrusionOk="0">
                  <a:moveTo>
                    <a:pt x="5201539" y="0"/>
                  </a:moveTo>
                  <a:lnTo>
                    <a:pt x="5189220" y="2286"/>
                  </a:lnTo>
                  <a:lnTo>
                    <a:pt x="3950335" y="902081"/>
                  </a:lnTo>
                  <a:lnTo>
                    <a:pt x="3959098" y="908812"/>
                  </a:lnTo>
                  <a:lnTo>
                    <a:pt x="5198110" y="9144"/>
                  </a:lnTo>
                  <a:lnTo>
                    <a:pt x="5201539"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 name="Google Shape;571;p24"/>
            <p:cNvSpPr/>
            <p:nvPr/>
          </p:nvSpPr>
          <p:spPr>
            <a:xfrm>
              <a:off x="8918828" y="2270760"/>
              <a:ext cx="130555" cy="96647"/>
            </a:xfrm>
            <a:prstGeom prst="rect">
              <a:avLst/>
            </a:prstGeom>
            <a:blipFill rotWithShape="1">
              <a:blip r:embed="rId8"/>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 name="Google Shape;572;p24"/>
            <p:cNvSpPr/>
            <p:nvPr/>
          </p:nvSpPr>
          <p:spPr>
            <a:xfrm>
              <a:off x="8189976" y="3304413"/>
              <a:ext cx="930275" cy="200660"/>
            </a:xfrm>
            <a:custGeom>
              <a:avLst/>
              <a:gdLst/>
              <a:ahLst/>
              <a:cxnLst/>
              <a:rect l="l" t="t" r="r" b="b"/>
              <a:pathLst>
                <a:path w="930275" h="200660" extrusionOk="0">
                  <a:moveTo>
                    <a:pt x="917701" y="0"/>
                  </a:moveTo>
                  <a:lnTo>
                    <a:pt x="0" y="191135"/>
                  </a:lnTo>
                  <a:lnTo>
                    <a:pt x="3428" y="200406"/>
                  </a:lnTo>
                  <a:lnTo>
                    <a:pt x="921130" y="9144"/>
                  </a:lnTo>
                  <a:lnTo>
                    <a:pt x="929894" y="2412"/>
                  </a:lnTo>
                  <a:lnTo>
                    <a:pt x="917701"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 name="Google Shape;573;p24"/>
            <p:cNvSpPr/>
            <p:nvPr/>
          </p:nvSpPr>
          <p:spPr>
            <a:xfrm>
              <a:off x="9011158" y="3276601"/>
              <a:ext cx="132842" cy="96137"/>
            </a:xfrm>
            <a:prstGeom prst="rect">
              <a:avLst/>
            </a:prstGeom>
            <a:blipFill rotWithShape="1">
              <a:blip r:embed="rId9"/>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 name="Google Shape;574;p24"/>
            <p:cNvSpPr/>
            <p:nvPr/>
          </p:nvSpPr>
          <p:spPr>
            <a:xfrm>
              <a:off x="9009126" y="4121659"/>
              <a:ext cx="134493" cy="93724"/>
            </a:xfrm>
            <a:prstGeom prst="rect">
              <a:avLst/>
            </a:prstGeom>
            <a:blipFill rotWithShape="1">
              <a:blip r:embed="rId10"/>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 name="Google Shape;575;p24"/>
            <p:cNvSpPr/>
            <p:nvPr/>
          </p:nvSpPr>
          <p:spPr>
            <a:xfrm>
              <a:off x="8189976" y="3924299"/>
              <a:ext cx="943610" cy="269875"/>
            </a:xfrm>
            <a:custGeom>
              <a:avLst/>
              <a:gdLst/>
              <a:ahLst/>
              <a:cxnLst/>
              <a:rect l="l" t="t" r="r" b="b"/>
              <a:pathLst>
                <a:path w="943609" h="269875" extrusionOk="0">
                  <a:moveTo>
                    <a:pt x="943356" y="266573"/>
                  </a:moveTo>
                  <a:lnTo>
                    <a:pt x="922147" y="260477"/>
                  </a:lnTo>
                  <a:lnTo>
                    <a:pt x="4445" y="0"/>
                  </a:lnTo>
                  <a:lnTo>
                    <a:pt x="0" y="9017"/>
                  </a:lnTo>
                  <a:lnTo>
                    <a:pt x="917702" y="269494"/>
                  </a:lnTo>
                  <a:lnTo>
                    <a:pt x="930021" y="267970"/>
                  </a:lnTo>
                  <a:lnTo>
                    <a:pt x="940816" y="266573"/>
                  </a:lnTo>
                  <a:lnTo>
                    <a:pt x="943356" y="266573"/>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 name="Google Shape;576;p24"/>
            <p:cNvSpPr/>
            <p:nvPr/>
          </p:nvSpPr>
          <p:spPr>
            <a:xfrm>
              <a:off x="9010522" y="5136895"/>
              <a:ext cx="133096" cy="93472"/>
            </a:xfrm>
            <a:prstGeom prst="rect">
              <a:avLst/>
            </a:prstGeom>
            <a:blipFill rotWithShape="1">
              <a:blip r:embed="rId11"/>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 name="Google Shape;577;p24"/>
            <p:cNvSpPr/>
            <p:nvPr/>
          </p:nvSpPr>
          <p:spPr>
            <a:xfrm>
              <a:off x="7424928" y="4210811"/>
              <a:ext cx="1699260" cy="1007744"/>
            </a:xfrm>
            <a:custGeom>
              <a:avLst/>
              <a:gdLst/>
              <a:ahLst/>
              <a:cxnLst/>
              <a:rect l="l" t="t" r="r" b="b"/>
              <a:pathLst>
                <a:path w="1699259" h="1007745" extrusionOk="0">
                  <a:moveTo>
                    <a:pt x="7747" y="0"/>
                  </a:moveTo>
                  <a:lnTo>
                    <a:pt x="0" y="7493"/>
                  </a:lnTo>
                  <a:lnTo>
                    <a:pt x="1686560" y="1006475"/>
                  </a:lnTo>
                  <a:lnTo>
                    <a:pt x="1699005" y="1007744"/>
                  </a:lnTo>
                  <a:lnTo>
                    <a:pt x="1694433" y="998982"/>
                  </a:lnTo>
                  <a:lnTo>
                    <a:pt x="7747"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 name="Google Shape;578;p24"/>
            <p:cNvSpPr/>
            <p:nvPr/>
          </p:nvSpPr>
          <p:spPr>
            <a:xfrm>
              <a:off x="4792980" y="2979419"/>
              <a:ext cx="3558539" cy="1383791"/>
            </a:xfrm>
            <a:prstGeom prst="rect">
              <a:avLst/>
            </a:prstGeom>
            <a:blipFill rotWithShape="1">
              <a:blip r:embed="rId12"/>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7" name="Google Shape;579;p24"/>
          <p:cNvSpPr txBox="1"/>
          <p:nvPr/>
        </p:nvSpPr>
        <p:spPr>
          <a:xfrm>
            <a:off x="5604510" y="3346450"/>
            <a:ext cx="2258695" cy="503555"/>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3200" b="1">
                <a:solidFill>
                  <a:srgbClr val="FFFFFF"/>
                </a:solidFill>
                <a:latin typeface="Arial" panose="020B0604020202020204"/>
                <a:ea typeface="Arial" panose="020B0604020202020204"/>
                <a:cs typeface="Arial" panose="020B0604020202020204"/>
                <a:sym typeface="Arial" panose="020B0604020202020204"/>
              </a:rPr>
              <a:t>Service</a:t>
            </a:r>
            <a:endParaRPr sz="3200" dirty="0">
              <a:solidFill>
                <a:schemeClr val="dk1"/>
              </a:solidFill>
              <a:latin typeface="Arial" panose="020B0604020202020204"/>
              <a:ea typeface="Arial" panose="020B0604020202020204"/>
              <a:cs typeface="Arial" panose="020B0604020202020204"/>
              <a:sym typeface="Arial" panose="020B0604020202020204"/>
            </a:endParaRPr>
          </a:p>
        </p:txBody>
      </p:sp>
      <p:cxnSp>
        <p:nvCxnSpPr>
          <p:cNvPr id="29" name="Connecteur droit avec flèche 28"/>
          <p:cNvCxnSpPr/>
          <p:nvPr/>
        </p:nvCxnSpPr>
        <p:spPr>
          <a:xfrm>
            <a:off x="6564489" y="4419600"/>
            <a:ext cx="0" cy="824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p:cNvCxnSpPr>
            <a:stCxn id="26" idx="0"/>
          </p:cNvCxnSpPr>
          <p:nvPr/>
        </p:nvCxnSpPr>
        <p:spPr>
          <a:xfrm flipH="1" flipV="1">
            <a:off x="6583537" y="2089103"/>
            <a:ext cx="1" cy="879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6" name="Google Shape;555;p24"/>
          <p:cNvSpPr txBox="1"/>
          <p:nvPr/>
        </p:nvSpPr>
        <p:spPr>
          <a:xfrm>
            <a:off x="6070204" y="1706944"/>
            <a:ext cx="213106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Modularité</a:t>
            </a:r>
            <a:endParaRPr sz="1800" dirty="0">
              <a:solidFill>
                <a:schemeClr val="dk1"/>
              </a:solidFill>
            </a:endParaRPr>
          </a:p>
        </p:txBody>
      </p:sp>
      <p:sp>
        <p:nvSpPr>
          <p:cNvPr id="257" name="Google Shape;555;p24"/>
          <p:cNvSpPr txBox="1"/>
          <p:nvPr/>
        </p:nvSpPr>
        <p:spPr>
          <a:xfrm>
            <a:off x="6070204" y="5341849"/>
            <a:ext cx="213106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Interopérabilité</a:t>
            </a:r>
            <a:endParaRPr sz="1800" dirty="0">
              <a:solidFill>
                <a:schemeClr val="dk1"/>
              </a:solidFill>
            </a:endParaRPr>
          </a:p>
        </p:txBody>
      </p:sp>
      <p:pic>
        <p:nvPicPr>
          <p:cNvPr id="30" name="Google Shape;297;g25b1bb62912_0_50" descr="Image 10"/>
          <p:cNvPicPr preferRelativeResize="0"/>
          <p:nvPr/>
        </p:nvPicPr>
        <p:blipFill rotWithShape="1">
          <a:blip r:embed="rId13"/>
          <a:srcRect/>
          <a:stretch>
            <a:fillRect/>
          </a:stretch>
        </p:blipFill>
        <p:spPr>
          <a:xfrm>
            <a:off x="672844" y="614541"/>
            <a:ext cx="585321" cy="579782"/>
          </a:xfrm>
          <a:prstGeom prst="rect">
            <a:avLst/>
          </a:prstGeom>
          <a:noFill/>
          <a:ln>
            <a:noFill/>
          </a:ln>
        </p:spPr>
      </p:pic>
      <p:pic>
        <p:nvPicPr>
          <p:cNvPr id="32" name="Google Shape;63;p1" descr="Picture 3">
            <a:extLst>
              <a:ext uri="{FF2B5EF4-FFF2-40B4-BE49-F238E27FC236}">
                <a16:creationId xmlns:a16="http://schemas.microsoft.com/office/drawing/2014/main" id="{1CCACDF6-D7C5-EE65-DB12-EB419FCD8A29}"/>
              </a:ext>
            </a:extLst>
          </p:cNvPr>
          <p:cNvPicPr preferRelativeResize="0"/>
          <p:nvPr/>
        </p:nvPicPr>
        <p:blipFill rotWithShape="1">
          <a:blip r:embed="rId14"/>
          <a:srcRect/>
          <a:stretch>
            <a:fillRect/>
          </a:stretch>
        </p:blipFill>
        <p:spPr>
          <a:xfrm flipH="1">
            <a:off x="9682238" y="71322"/>
            <a:ext cx="2846625" cy="152544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74736"/>
            <a:ext cx="12652622" cy="6886241"/>
          </a:xfrm>
          <a:prstGeom prst="rect">
            <a:avLst/>
          </a:prstGeom>
          <a:noFill/>
          <a:ln>
            <a:noFill/>
          </a:ln>
        </p:spPr>
      </p:pic>
      <p:sp>
        <p:nvSpPr>
          <p:cNvPr id="589" name="Google Shape;589;p25"/>
          <p:cNvSpPr txBox="1">
            <a:spLocks noGrp="1"/>
          </p:cNvSpPr>
          <p:nvPr>
            <p:ph type="body" idx="4294967295"/>
          </p:nvPr>
        </p:nvSpPr>
        <p:spPr>
          <a:xfrm>
            <a:off x="609600" y="1837106"/>
            <a:ext cx="10972800" cy="4653582"/>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rgbClr val="CC0000"/>
              </a:buClr>
              <a:buSzPts val="2400"/>
              <a:buFont typeface="Noto Sans Symbols"/>
              <a:buChar char="⮚"/>
            </a:pPr>
            <a:r>
              <a:rPr lang="fr-FR" sz="2400" dirty="0">
                <a:solidFill>
                  <a:srgbClr val="CC0000"/>
                </a:solidFill>
                <a:latin typeface="Times New Roman" panose="02020603050405020304" pitchFamily="18" charset="0"/>
                <a:ea typeface="Arial" panose="020B0604020202020204"/>
                <a:cs typeface="Times New Roman" panose="02020603050405020304" pitchFamily="18" charset="0"/>
                <a:sym typeface="Arial" panose="020B0604020202020204"/>
              </a:rPr>
              <a:t>Auto-description (Contrat standardisé)</a:t>
            </a:r>
          </a:p>
          <a:p>
            <a:pPr marL="0" lvl="0" indent="-152400" algn="just" rtl="0">
              <a:spcBef>
                <a:spcPts val="0"/>
              </a:spcBef>
              <a:spcAft>
                <a:spcPts val="0"/>
              </a:spcAft>
              <a:buClr>
                <a:srgbClr val="CC0000"/>
              </a:buClr>
              <a:buSzPts val="2400"/>
              <a:buFont typeface="Noto Sans Symbols"/>
              <a:buChar char="⮚"/>
            </a:pPr>
            <a:endParaRPr sz="24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None/>
            </a:pP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L’ensemble des services d’un même Système Technique sont exposés au travers de contrats respectant les mêmes règles de standardisation.</a:t>
            </a:r>
          </a:p>
          <a:p>
            <a:pPr marL="0" lvl="0" indent="0" algn="just" rtl="0">
              <a:spcBef>
                <a:spcPts val="0"/>
              </a:spcBef>
              <a:spcAft>
                <a:spcPts val="0"/>
              </a:spcAft>
              <a:buNone/>
            </a:pPr>
            <a:endParaRPr sz="24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Clr>
                <a:schemeClr val="dk1"/>
              </a:buClr>
              <a:buSzPts val="2000"/>
              <a:buFont typeface="Noto Sans Symbols"/>
              <a:buNone/>
            </a:pPr>
            <a:endParaRPr sz="24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152400" algn="just" rtl="0">
              <a:spcBef>
                <a:spcPts val="0"/>
              </a:spcBef>
              <a:spcAft>
                <a:spcPts val="0"/>
              </a:spcAft>
              <a:buClr>
                <a:srgbClr val="CC0000"/>
              </a:buClr>
              <a:buSzPts val="2400"/>
              <a:buFont typeface="Noto Sans Symbols"/>
              <a:buChar char="⮚"/>
            </a:pPr>
            <a:r>
              <a:rPr lang="fr-FR" sz="2400" dirty="0">
                <a:solidFill>
                  <a:srgbClr val="CC0000"/>
                </a:solidFill>
                <a:latin typeface="Times New Roman" panose="02020603050405020304" pitchFamily="18" charset="0"/>
                <a:ea typeface="Arial" panose="020B0604020202020204"/>
                <a:cs typeface="Times New Roman" panose="02020603050405020304" pitchFamily="18" charset="0"/>
                <a:sym typeface="Arial" panose="020B0604020202020204"/>
              </a:rPr>
              <a:t>Abstraction</a:t>
            </a:r>
            <a:endParaRPr sz="24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None/>
            </a:pP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Le service fonctionne en « </a:t>
            </a:r>
            <a:r>
              <a:rPr lang="fr-FR" sz="2400" b="1" dirty="0">
                <a:latin typeface="Times New Roman" panose="02020603050405020304" pitchFamily="18" charset="0"/>
                <a:ea typeface="Arial" panose="020B0604020202020204"/>
                <a:cs typeface="Times New Roman" panose="02020603050405020304" pitchFamily="18" charset="0"/>
                <a:sym typeface="Arial" panose="020B0604020202020204"/>
              </a:rPr>
              <a:t>boîte noire</a:t>
            </a: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 » </a:t>
            </a:r>
            <a:endParaRPr sz="2400" dirty="0">
              <a:latin typeface="Times New Roman" panose="02020603050405020304" pitchFamily="18" charset="0"/>
              <a:cs typeface="Times New Roman" panose="02020603050405020304" pitchFamily="18" charset="0"/>
            </a:endParaRPr>
          </a:p>
          <a:p>
            <a:pPr marL="457200" lvl="1" indent="-127000" algn="just" rtl="0">
              <a:spcBef>
                <a:spcPts val="0"/>
              </a:spcBef>
              <a:spcAft>
                <a:spcPts val="0"/>
              </a:spcAft>
              <a:buSzPts val="2000"/>
              <a:buFont typeface="Arial" panose="020B0604020202020204"/>
              <a:buChar char="•"/>
            </a:pP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 Seul le contrat du service (informations nécessaires pour l’invocation) est exposé au consommateur du service .</a:t>
            </a:r>
            <a:endParaRPr sz="2400"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None/>
            </a:pPr>
            <a:endParaRPr sz="24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spcBef>
                <a:spcPts val="0"/>
              </a:spcBef>
              <a:spcAft>
                <a:spcPts val="0"/>
              </a:spcAft>
              <a:buSzPts val="2000"/>
              <a:buFont typeface="Arial" panose="020B0604020202020204"/>
              <a:buChar char="•"/>
            </a:pP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 Le fonctionnement interne du service (sa logique métier et son implémentation) n’est </a:t>
            </a:r>
            <a:r>
              <a:rPr lang="fr-FR" sz="2400" b="1" dirty="0">
                <a:latin typeface="Times New Roman" panose="02020603050405020304" pitchFamily="18" charset="0"/>
                <a:ea typeface="Arial" panose="020B0604020202020204"/>
                <a:cs typeface="Times New Roman" panose="02020603050405020304" pitchFamily="18" charset="0"/>
                <a:sym typeface="Arial" panose="020B0604020202020204"/>
              </a:rPr>
              <a:t>pas visible </a:t>
            </a: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a:t>
            </a:r>
            <a:endParaRPr sz="2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1600"/>
              <a:buFont typeface="Arial" panose="020B0604020202020204"/>
              <a:buNone/>
            </a:pPr>
            <a:endParaRPr sz="2400" dirty="0">
              <a:solidFill>
                <a:srgbClr val="000099"/>
              </a:solidFill>
              <a:latin typeface="Times New Roman" panose="02020603050405020304" pitchFamily="18" charset="0"/>
              <a:cs typeface="Times New Roman" panose="02020603050405020304" pitchFamily="18" charset="0"/>
            </a:endParaRPr>
          </a:p>
        </p:txBody>
      </p:sp>
      <p:sp>
        <p:nvSpPr>
          <p:cNvPr id="591" name="Google Shape;591;p25"/>
          <p:cNvSpPr txBox="1">
            <a:spLocks noGrp="1"/>
          </p:cNvSpPr>
          <p:nvPr>
            <p:ph type="sldNum" idx="12"/>
          </p:nvPr>
        </p:nvSpPr>
        <p:spPr>
          <a:xfrm>
            <a:off x="11070335" y="6430643"/>
            <a:ext cx="228600" cy="188503"/>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latin typeface="Times New Roman" panose="02020603050405020304" pitchFamily="18" charset="0"/>
                <a:cs typeface="Times New Roman" panose="02020603050405020304" pitchFamily="18" charset="0"/>
              </a:rPr>
              <a:t>41</a:t>
            </a:fld>
            <a:endParaRPr lang="fr-FR">
              <a:latin typeface="Times New Roman" panose="02020603050405020304" pitchFamily="18" charset="0"/>
              <a:cs typeface="Times New Roman" panose="02020603050405020304" pitchFamily="18" charset="0"/>
            </a:endParaRPr>
          </a:p>
        </p:txBody>
      </p:sp>
      <p:sp>
        <p:nvSpPr>
          <p:cNvPr id="3" name="Google Shape;291;g25b1bb62912_0_41"/>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latin typeface="Times New Roman" panose="02020603050405020304" pitchFamily="18" charset="0"/>
                <a:cs typeface="Times New Roman" panose="02020603050405020304" pitchFamily="18" charset="0"/>
                <a:sym typeface="Times New Roman" panose="02020603050405020304"/>
              </a:rPr>
              <a:t>Principes d’un service Web</a:t>
            </a:r>
            <a:endParaRPr dirty="0">
              <a:latin typeface="Times New Roman" panose="02020603050405020304" pitchFamily="18" charset="0"/>
              <a:cs typeface="Times New Roman" panose="02020603050405020304" pitchFamily="18" charset="0"/>
              <a:sym typeface="Times New Roman" panose="02020603050405020304"/>
            </a:endParaRPr>
          </a:p>
        </p:txBody>
      </p:sp>
      <p:pic>
        <p:nvPicPr>
          <p:cNvPr id="4"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pic>
        <p:nvPicPr>
          <p:cNvPr id="5" name="Google Shape;63;p1" descr="Picture 3">
            <a:extLst>
              <a:ext uri="{FF2B5EF4-FFF2-40B4-BE49-F238E27FC236}">
                <a16:creationId xmlns:a16="http://schemas.microsoft.com/office/drawing/2014/main" id="{235E5294-ED7F-E884-BB2D-02EC2E5939DF}"/>
              </a:ext>
            </a:extLst>
          </p:cNvPr>
          <p:cNvPicPr preferRelativeResize="0"/>
          <p:nvPr/>
        </p:nvPicPr>
        <p:blipFill rotWithShape="1">
          <a:blip r:embed="rId5"/>
          <a:srcRect/>
          <a:stretch>
            <a:fillRect/>
          </a:stretch>
        </p:blipFill>
        <p:spPr>
          <a:xfrm flipH="1">
            <a:off x="9769446" y="-50141"/>
            <a:ext cx="2846625" cy="1525449"/>
          </a:xfrm>
          <a:prstGeom prst="rect">
            <a:avLst/>
          </a:prstGeom>
          <a:noFill/>
          <a:ln>
            <a:noFill/>
          </a:ln>
        </p:spPr>
      </p:pic>
    </p:spTree>
  </p:cSld>
  <p:clrMapOvr>
    <a:masterClrMapping/>
  </p:clrMapOvr>
  <p:transition spd="med">
    <p:push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597" name="Google Shape;597;p26"/>
          <p:cNvSpPr txBox="1">
            <a:spLocks noGrp="1"/>
          </p:cNvSpPr>
          <p:nvPr>
            <p:ph type="title" idx="4294967295"/>
          </p:nvPr>
        </p:nvSpPr>
        <p:spPr>
          <a:xfrm>
            <a:off x="770466" y="1890672"/>
            <a:ext cx="7010400" cy="399966"/>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fr-FR" sz="2800" b="0" i="0" u="none" strike="noStrike" cap="none" dirty="0">
                <a:solidFill>
                  <a:schemeClr val="tx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Couplage </a:t>
            </a:r>
            <a:r>
              <a:rPr lang="fr-FR" sz="2800" dirty="0">
                <a:solidFill>
                  <a:schemeClr val="tx1"/>
                </a:solidFill>
                <a:latin typeface="Times New Roman" panose="02020603050405020304" pitchFamily="18" charset="0"/>
                <a:cs typeface="Times New Roman" panose="02020603050405020304" pitchFamily="18" charset="0"/>
                <a:sym typeface="Trebuchet MS" panose="020B0603020202020204"/>
              </a:rPr>
              <a:t>lâche</a:t>
            </a:r>
            <a:endParaRPr sz="2800" dirty="0">
              <a:solidFill>
                <a:schemeClr val="tx1"/>
              </a:solidFill>
              <a:latin typeface="Times New Roman" panose="02020603050405020304" pitchFamily="18" charset="0"/>
              <a:cs typeface="Times New Roman" panose="02020603050405020304" pitchFamily="18" charset="0"/>
            </a:endParaRPr>
          </a:p>
        </p:txBody>
      </p:sp>
      <p:sp>
        <p:nvSpPr>
          <p:cNvPr id="598" name="Google Shape;598;p26"/>
          <p:cNvSpPr txBox="1">
            <a:spLocks noGrp="1"/>
          </p:cNvSpPr>
          <p:nvPr>
            <p:ph type="body" idx="4294967295"/>
          </p:nvPr>
        </p:nvSpPr>
        <p:spPr>
          <a:xfrm>
            <a:off x="609600" y="2588331"/>
            <a:ext cx="10972800" cy="2825389"/>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rgbClr val="C00000"/>
              </a:buClr>
              <a:buSzPts val="2400"/>
              <a:buFont typeface="Noto Sans Symbols"/>
              <a:buChar char="⮚"/>
            </a:pPr>
            <a:r>
              <a:rPr lang="fr-FR" dirty="0">
                <a:solidFill>
                  <a:srgbClr val="C00000"/>
                </a:solidFill>
                <a:latin typeface="Times New Roman" panose="02020603050405020304" pitchFamily="18" charset="0"/>
                <a:cs typeface="Times New Roman" panose="02020603050405020304" pitchFamily="18" charset="0"/>
              </a:rPr>
              <a:t>Dépendance faible </a:t>
            </a:r>
            <a:r>
              <a:rPr lang="fr-FR" dirty="0">
                <a:latin typeface="Times New Roman" panose="02020603050405020304" pitchFamily="18" charset="0"/>
                <a:cs typeface="Times New Roman" panose="02020603050405020304" pitchFamily="18" charset="0"/>
              </a:rPr>
              <a:t>entre le consommateur et le service</a:t>
            </a:r>
            <a:endParaRPr sz="2400" dirty="0">
              <a:solidFill>
                <a:srgbClr val="CC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0" algn="just" rtl="0">
              <a:spcBef>
                <a:spcPts val="0"/>
              </a:spcBef>
              <a:spcAft>
                <a:spcPts val="0"/>
              </a:spcAft>
              <a:buNone/>
            </a:pPr>
            <a:endParaRPr sz="20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spcBef>
                <a:spcPts val="0"/>
              </a:spcBef>
              <a:spcAft>
                <a:spcPts val="0"/>
              </a:spcAft>
              <a:buSzPts val="2000"/>
              <a:buFont typeface="Arial" panose="020B0604020202020204"/>
              <a:buChar char="•"/>
            </a:pPr>
            <a:r>
              <a:rPr lang="fr-FR" sz="2000" b="1" dirty="0">
                <a:latin typeface="Times New Roman" panose="02020603050405020304" pitchFamily="18" charset="0"/>
                <a:ea typeface="Arial" panose="020B0604020202020204"/>
                <a:cs typeface="Times New Roman" panose="02020603050405020304" pitchFamily="18" charset="0"/>
                <a:sym typeface="Arial" panose="020B0604020202020204"/>
              </a:rPr>
              <a:t> Dépendance du contrat</a:t>
            </a: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 et non pas de l’implémentation;</a:t>
            </a:r>
            <a:endParaRPr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None/>
            </a:pPr>
            <a:endParaRPr sz="20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spcBef>
                <a:spcPts val="0"/>
              </a:spcBef>
              <a:spcAft>
                <a:spcPts val="0"/>
              </a:spcAft>
              <a:buSzPts val="2000"/>
              <a:buFont typeface="Arial" panose="020B0604020202020204"/>
              <a:buChar char="•"/>
            </a:pP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 Echange à travers des </a:t>
            </a:r>
            <a:r>
              <a:rPr lang="fr-FR" sz="2000" b="1" dirty="0">
                <a:latin typeface="Times New Roman" panose="02020603050405020304" pitchFamily="18" charset="0"/>
                <a:ea typeface="Arial" panose="020B0604020202020204"/>
                <a:cs typeface="Times New Roman" panose="02020603050405020304" pitchFamily="18" charset="0"/>
                <a:sym typeface="Arial" panose="020B0604020202020204"/>
              </a:rPr>
              <a:t>messages;</a:t>
            </a:r>
            <a:endParaRPr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None/>
            </a:pPr>
            <a:endParaRPr sz="2000"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spcBef>
                <a:spcPts val="0"/>
              </a:spcBef>
              <a:spcAft>
                <a:spcPts val="0"/>
              </a:spcAft>
              <a:buSzPts val="2000"/>
              <a:buFont typeface="Arial" panose="020B0604020202020204"/>
              <a:buChar char="•"/>
            </a:pPr>
            <a:r>
              <a:rPr lang="fr-FR" sz="2000" b="1" dirty="0">
                <a:latin typeface="Times New Roman" panose="02020603050405020304" pitchFamily="18" charset="0"/>
                <a:ea typeface="Arial" panose="020B0604020202020204"/>
                <a:cs typeface="Times New Roman" panose="02020603050405020304" pitchFamily="18" charset="0"/>
                <a:sym typeface="Arial" panose="020B0604020202020204"/>
              </a:rPr>
              <a:t> </a:t>
            </a: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Orchestration qui assure l’indépendance des services vu  qu’elle leur permet de communiquer pour réaliser un processus, sans avoir à se connaître</a:t>
            </a:r>
            <a:endParaRPr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SzPts val="2000"/>
              <a:buFont typeface="Arial" panose="020B0604020202020204"/>
              <a:buNone/>
            </a:pPr>
            <a:endParaRPr sz="20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gn="l" rtl="0">
              <a:spcBef>
                <a:spcPts val="0"/>
              </a:spcBef>
              <a:spcAft>
                <a:spcPts val="0"/>
              </a:spcAft>
              <a:buClr>
                <a:schemeClr val="dk1"/>
              </a:buClr>
              <a:buSzPts val="1600"/>
              <a:buFont typeface="Arial" panose="020B0604020202020204"/>
              <a:buNone/>
            </a:pPr>
            <a:endParaRPr sz="1600" dirty="0">
              <a:solidFill>
                <a:srgbClr val="000099"/>
              </a:solidFill>
              <a:latin typeface="Times New Roman" panose="02020603050405020304" pitchFamily="18" charset="0"/>
              <a:cs typeface="Times New Roman" panose="02020603050405020304" pitchFamily="18" charset="0"/>
            </a:endParaRPr>
          </a:p>
        </p:txBody>
      </p:sp>
      <p:sp>
        <p:nvSpPr>
          <p:cNvPr id="600" name="Google Shape;600;p26"/>
          <p:cNvSpPr txBox="1">
            <a:spLocks noGrp="1"/>
          </p:cNvSpPr>
          <p:nvPr>
            <p:ph type="sldNum" idx="12"/>
          </p:nvPr>
        </p:nvSpPr>
        <p:spPr>
          <a:xfrm>
            <a:off x="11070335" y="6430643"/>
            <a:ext cx="228600" cy="188503"/>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latin typeface="Times New Roman" panose="02020603050405020304" pitchFamily="18" charset="0"/>
                <a:cs typeface="Times New Roman" panose="02020603050405020304" pitchFamily="18" charset="0"/>
              </a:rPr>
              <a:t>42</a:t>
            </a:fld>
            <a:endParaRPr lang="fr-FR">
              <a:latin typeface="Times New Roman" panose="02020603050405020304" pitchFamily="18" charset="0"/>
              <a:cs typeface="Times New Roman" panose="02020603050405020304" pitchFamily="18" charset="0"/>
            </a:endParaRPr>
          </a:p>
        </p:txBody>
      </p:sp>
      <p:sp>
        <p:nvSpPr>
          <p:cNvPr id="3" name="Google Shape;291;g25b1bb62912_0_41"/>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latin typeface="Times New Roman" panose="02020603050405020304" pitchFamily="18" charset="0"/>
                <a:cs typeface="Times New Roman" panose="02020603050405020304" pitchFamily="18" charset="0"/>
                <a:sym typeface="Times New Roman" panose="02020603050405020304"/>
              </a:rPr>
              <a:t>Principes d’un service Web</a:t>
            </a:r>
            <a:endParaRPr dirty="0">
              <a:latin typeface="Times New Roman" panose="02020603050405020304" pitchFamily="18" charset="0"/>
              <a:cs typeface="Times New Roman" panose="02020603050405020304" pitchFamily="18" charset="0"/>
              <a:sym typeface="Times New Roman" panose="02020603050405020304"/>
            </a:endParaRPr>
          </a:p>
        </p:txBody>
      </p:sp>
      <p:pic>
        <p:nvPicPr>
          <p:cNvPr id="4"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pic>
        <p:nvPicPr>
          <p:cNvPr id="5" name="Google Shape;63;p1" descr="Picture 3">
            <a:extLst>
              <a:ext uri="{FF2B5EF4-FFF2-40B4-BE49-F238E27FC236}">
                <a16:creationId xmlns:a16="http://schemas.microsoft.com/office/drawing/2014/main" id="{A4348CC9-2618-40BE-7C0C-D1295CF47DC9}"/>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transition spd="med">
    <p:push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sp>
        <p:nvSpPr>
          <p:cNvPr id="608" name="Google Shape;608;p27"/>
          <p:cNvSpPr txBox="1">
            <a:spLocks noGrp="1"/>
          </p:cNvSpPr>
          <p:nvPr>
            <p:ph type="body" idx="4294967295"/>
          </p:nvPr>
        </p:nvSpPr>
        <p:spPr>
          <a:xfrm>
            <a:off x="609600" y="1476375"/>
            <a:ext cx="10972800" cy="3822585"/>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rgbClr val="C00000"/>
              </a:buClr>
              <a:buSzPts val="2400"/>
              <a:buFont typeface="Noto Sans Symbols"/>
              <a:buChar char="⮚"/>
            </a:pPr>
            <a:r>
              <a:rPr lang="fr-FR" dirty="0">
                <a:solidFill>
                  <a:srgbClr val="C00000"/>
                </a:solidFill>
              </a:rPr>
              <a:t> </a:t>
            </a:r>
            <a:r>
              <a:rPr lang="fr-FR" sz="2000" dirty="0">
                <a:solidFill>
                  <a:srgbClr val="C00000"/>
                </a:solidFill>
                <a:latin typeface="Times New Roman" panose="02020603050405020304" pitchFamily="18" charset="0"/>
                <a:cs typeface="Times New Roman" panose="02020603050405020304" pitchFamily="18" charset="0"/>
              </a:rPr>
              <a:t>Autonomie</a:t>
            </a:r>
            <a:endParaRPr sz="2000" dirty="0">
              <a:solidFill>
                <a:srgbClr val="CC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0" algn="just" rtl="0">
              <a:spcBef>
                <a:spcPts val="0"/>
              </a:spcBef>
              <a:spcAft>
                <a:spcPts val="0"/>
              </a:spcAft>
              <a:buNone/>
            </a:pPr>
            <a:endParaRPr sz="20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spcBef>
                <a:spcPts val="0"/>
              </a:spcBef>
              <a:spcAft>
                <a:spcPts val="0"/>
              </a:spcAft>
              <a:buSzPts val="2000"/>
              <a:buFont typeface="Arial" panose="020B0604020202020204"/>
              <a:buChar char="•"/>
            </a:pPr>
            <a:r>
              <a:rPr lang="fr-FR" sz="2000" b="1" dirty="0">
                <a:latin typeface="Times New Roman" panose="02020603050405020304" pitchFamily="18" charset="0"/>
                <a:ea typeface="Arial" panose="020B0604020202020204"/>
                <a:cs typeface="Times New Roman" panose="02020603050405020304" pitchFamily="18" charset="0"/>
                <a:sym typeface="Arial" panose="020B0604020202020204"/>
              </a:rPr>
              <a:t> </a:t>
            </a: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Un service ne doit être dépendant d'aucun contexte ou service externe:</a:t>
            </a:r>
            <a:endParaRPr sz="2000" dirty="0">
              <a:latin typeface="Times New Roman" panose="02020603050405020304" pitchFamily="18" charset="0"/>
              <a:cs typeface="Times New Roman" panose="02020603050405020304" pitchFamily="18" charset="0"/>
            </a:endParaRPr>
          </a:p>
          <a:p>
            <a:pPr marL="914400" lvl="2" indent="-139700" algn="l" rtl="0">
              <a:spcBef>
                <a:spcPts val="0"/>
              </a:spcBef>
              <a:spcAft>
                <a:spcPts val="0"/>
              </a:spcAft>
              <a:buSzPts val="2200"/>
              <a:buFont typeface="Arial" panose="020B0604020202020204"/>
              <a:buChar char="-"/>
            </a:pP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 Son comportement est indépendant du contexte fonctionnel et technique dans lequel il a été invoqué.</a:t>
            </a:r>
            <a:endParaRPr sz="2000" dirty="0">
              <a:latin typeface="Times New Roman" panose="02020603050405020304" pitchFamily="18" charset="0"/>
              <a:cs typeface="Times New Roman" panose="02020603050405020304" pitchFamily="18" charset="0"/>
            </a:endParaRPr>
          </a:p>
          <a:p>
            <a:pPr marL="914400" lvl="2" indent="0" algn="l" rtl="0">
              <a:spcBef>
                <a:spcPts val="0"/>
              </a:spcBef>
              <a:spcAft>
                <a:spcPts val="0"/>
              </a:spcAft>
              <a:buNone/>
            </a:pPr>
            <a:endParaRPr sz="20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152400" algn="just" rtl="0">
              <a:spcBef>
                <a:spcPts val="0"/>
              </a:spcBef>
              <a:spcAft>
                <a:spcPts val="0"/>
              </a:spcAft>
              <a:buClr>
                <a:srgbClr val="C00000"/>
              </a:buClr>
              <a:buSzPts val="2400"/>
              <a:buFont typeface="Noto Sans Symbols"/>
              <a:buChar char="⮚"/>
            </a:pPr>
            <a:r>
              <a:rPr lang="fr-FR" sz="2000" dirty="0">
                <a:solidFill>
                  <a:srgbClr val="C00000"/>
                </a:solidFill>
                <a:latin typeface="Times New Roman" panose="02020603050405020304" pitchFamily="18" charset="0"/>
                <a:cs typeface="Times New Roman" panose="02020603050405020304" pitchFamily="18" charset="0"/>
              </a:rPr>
              <a:t>Stateless</a:t>
            </a:r>
            <a:endParaRPr sz="2000" dirty="0">
              <a:solidFill>
                <a:srgbClr val="CC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0" algn="just" rtl="0">
              <a:spcBef>
                <a:spcPts val="0"/>
              </a:spcBef>
              <a:spcAft>
                <a:spcPts val="0"/>
              </a:spcAft>
              <a:buNone/>
            </a:pPr>
            <a:endParaRPr sz="20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spcBef>
                <a:spcPts val="0"/>
              </a:spcBef>
              <a:spcAft>
                <a:spcPts val="0"/>
              </a:spcAft>
              <a:buSzPts val="2000"/>
              <a:buFont typeface="Arial" panose="020B0604020202020204"/>
              <a:buChar char="•"/>
            </a:pPr>
            <a:r>
              <a:rPr lang="fr-FR" sz="2000" b="1" dirty="0">
                <a:latin typeface="Times New Roman" panose="02020603050405020304" pitchFamily="18" charset="0"/>
                <a:ea typeface="Arial" panose="020B0604020202020204"/>
                <a:cs typeface="Times New Roman" panose="02020603050405020304" pitchFamily="18" charset="0"/>
                <a:sym typeface="Arial" panose="020B0604020202020204"/>
              </a:rPr>
              <a:t> </a:t>
            </a: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Un service ne stocke pas les informations des clients:</a:t>
            </a:r>
            <a:endParaRPr sz="2000" dirty="0">
              <a:latin typeface="Times New Roman" panose="02020603050405020304" pitchFamily="18" charset="0"/>
              <a:cs typeface="Times New Roman" panose="02020603050405020304" pitchFamily="18" charset="0"/>
            </a:endParaRPr>
          </a:p>
          <a:p>
            <a:pPr marL="914400" lvl="2" indent="-152400" algn="l" rtl="0">
              <a:spcBef>
                <a:spcPts val="0"/>
              </a:spcBef>
              <a:spcAft>
                <a:spcPts val="0"/>
              </a:spcAft>
              <a:buSzPts val="2400"/>
              <a:buFont typeface="Arial" panose="020B0604020202020204"/>
              <a:buChar char="-"/>
            </a:pP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 Ne stocke pas de données;</a:t>
            </a:r>
            <a:endParaRPr sz="2000" dirty="0">
              <a:latin typeface="Times New Roman" panose="02020603050405020304" pitchFamily="18" charset="0"/>
              <a:cs typeface="Times New Roman" panose="02020603050405020304" pitchFamily="18" charset="0"/>
            </a:endParaRPr>
          </a:p>
          <a:p>
            <a:pPr marL="914400" lvl="2" indent="-139700" algn="l" rtl="0">
              <a:spcBef>
                <a:spcPts val="0"/>
              </a:spcBef>
              <a:spcAft>
                <a:spcPts val="0"/>
              </a:spcAft>
              <a:buSzPts val="2200"/>
              <a:buFont typeface="Arial" panose="020B0604020202020204"/>
              <a:buChar char="-"/>
            </a:pPr>
            <a:r>
              <a:rPr lang="fr-FR" sz="2000" dirty="0">
                <a:latin typeface="Times New Roman" panose="02020603050405020304" pitchFamily="18" charset="0"/>
                <a:ea typeface="Arial" panose="020B0604020202020204"/>
                <a:cs typeface="Times New Roman" panose="02020603050405020304" pitchFamily="18" charset="0"/>
                <a:sym typeface="Arial" panose="020B0604020202020204"/>
              </a:rPr>
              <a:t> Ne fait référence à aucune transaction passée. </a:t>
            </a:r>
            <a:endParaRPr sz="2000" dirty="0">
              <a:latin typeface="Times New Roman" panose="02020603050405020304" pitchFamily="18" charset="0"/>
              <a:cs typeface="Times New Roman" panose="02020603050405020304" pitchFamily="18" charset="0"/>
            </a:endParaRPr>
          </a:p>
          <a:p>
            <a:pPr marL="914400" lvl="2" indent="0" algn="l" rtl="0">
              <a:spcBef>
                <a:spcPts val="0"/>
              </a:spcBef>
              <a:spcAft>
                <a:spcPts val="0"/>
              </a:spcAft>
              <a:buNone/>
            </a:pPr>
            <a:endParaRPr sz="2400" dirty="0">
              <a:latin typeface="Arial" panose="020B0604020202020204"/>
              <a:ea typeface="Arial" panose="020B0604020202020204"/>
              <a:cs typeface="Arial" panose="020B0604020202020204"/>
              <a:sym typeface="Arial" panose="020B0604020202020204"/>
            </a:endParaRPr>
          </a:p>
          <a:p>
            <a:pPr marL="914400" lvl="2" indent="0" algn="l" rtl="0">
              <a:spcBef>
                <a:spcPts val="0"/>
              </a:spcBef>
              <a:spcAft>
                <a:spcPts val="0"/>
              </a:spcAft>
              <a:buSzPts val="2400"/>
              <a:buFont typeface="Calibri" panose="020F0502020204030204"/>
              <a:buNone/>
            </a:pPr>
            <a:endParaRPr sz="2400" dirty="0">
              <a:latin typeface="Arial" panose="020B0604020202020204"/>
              <a:ea typeface="Arial" panose="020B0604020202020204"/>
              <a:cs typeface="Arial" panose="020B0604020202020204"/>
              <a:sym typeface="Arial" panose="020B0604020202020204"/>
            </a:endParaRPr>
          </a:p>
        </p:txBody>
      </p:sp>
      <p:sp>
        <p:nvSpPr>
          <p:cNvPr id="609" name="Google Shape;609;p27"/>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12700" lvl="0" indent="0" algn="l" rtl="0">
              <a:lnSpc>
                <a:spcPct val="100000"/>
              </a:lnSpc>
              <a:spcBef>
                <a:spcPts val="0"/>
              </a:spcBef>
              <a:spcAft>
                <a:spcPts val="0"/>
              </a:spcAft>
              <a:buNone/>
            </a:pPr>
            <a:endParaRPr/>
          </a:p>
        </p:txBody>
      </p:sp>
      <p:sp>
        <p:nvSpPr>
          <p:cNvPr id="610" name="Google Shape;610;p2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43</a:t>
            </a:fld>
            <a:endParaRPr lang="fr-FR"/>
          </a:p>
        </p:txBody>
      </p:sp>
      <p:sp>
        <p:nvSpPr>
          <p:cNvPr id="3" name="Google Shape;291;g25b1bb62912_0_41"/>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Principes d’un service Web</a:t>
            </a:r>
            <a:endParaRPr dirty="0">
              <a:sym typeface="Times New Roman" panose="02020603050405020304"/>
            </a:endParaRPr>
          </a:p>
        </p:txBody>
      </p:sp>
      <p:pic>
        <p:nvPicPr>
          <p:cNvPr id="4"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spTree>
  </p:cSld>
  <p:clrMapOvr>
    <a:masterClrMapping/>
  </p:clrMapOvr>
  <p:transition spd="med">
    <p:push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sp>
        <p:nvSpPr>
          <p:cNvPr id="616" name="Google Shape;616;p28"/>
          <p:cNvSpPr txBox="1">
            <a:spLocks noGrp="1"/>
          </p:cNvSpPr>
          <p:nvPr>
            <p:ph type="title" idx="4294967295"/>
          </p:nvPr>
        </p:nvSpPr>
        <p:spPr>
          <a:xfrm>
            <a:off x="550333" y="1485283"/>
            <a:ext cx="7010400" cy="369332"/>
          </a:xfrm>
          <a:prstGeom prst="rect">
            <a:avLst/>
          </a:prstGeom>
          <a:noFill/>
          <a:ln>
            <a:noFill/>
          </a:ln>
        </p:spPr>
        <p:txBody>
          <a:bodyPr spcFirstLastPara="1" wrap="square" lIns="0" tIns="0" rIns="0" bIns="0" anchor="t" anchorCtr="0">
            <a:spAutoFit/>
          </a:bodyPr>
          <a:lstStyle/>
          <a:p>
            <a:pPr marL="571500" lvl="0" indent="-571500">
              <a:lnSpc>
                <a:spcPct val="100000"/>
              </a:lnSpc>
              <a:buClr>
                <a:srgbClr val="C00000"/>
              </a:buClr>
              <a:buSzPct val="60000"/>
              <a:buFont typeface="Wingdings" panose="05000000000000000000" pitchFamily="2" charset="2"/>
              <a:buChar char="Ø"/>
            </a:pPr>
            <a:r>
              <a:rPr lang="fr-FR" sz="2400" dirty="0">
                <a:solidFill>
                  <a:srgbClr val="C00000"/>
                </a:solidFill>
                <a:latin typeface="Times New Roman" panose="02020603050405020304" pitchFamily="18" charset="0"/>
                <a:cs typeface="Times New Roman" panose="02020603050405020304" pitchFamily="18" charset="0"/>
                <a:sym typeface="Trebuchet MS" panose="020B0603020202020204"/>
              </a:rPr>
              <a:t>Composable </a:t>
            </a:r>
            <a:endParaRPr lang="fr-FR" sz="2400" dirty="0">
              <a:solidFill>
                <a:srgbClr val="C00000"/>
              </a:solidFill>
              <a:latin typeface="Times New Roman" panose="02020603050405020304" pitchFamily="18" charset="0"/>
              <a:cs typeface="Times New Roman" panose="02020603050405020304" pitchFamily="18" charset="0"/>
              <a:sym typeface="Arial" panose="020B0604020202020204"/>
            </a:endParaRPr>
          </a:p>
        </p:txBody>
      </p:sp>
      <p:sp>
        <p:nvSpPr>
          <p:cNvPr id="617" name="Google Shape;617;p28"/>
          <p:cNvSpPr txBox="1">
            <a:spLocks noGrp="1"/>
          </p:cNvSpPr>
          <p:nvPr>
            <p:ph type="body" idx="4294967295"/>
          </p:nvPr>
        </p:nvSpPr>
        <p:spPr>
          <a:xfrm>
            <a:off x="609600" y="2177996"/>
            <a:ext cx="10972800" cy="3767185"/>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chemeClr val="dk1"/>
              </a:buClr>
              <a:buSzPts val="2400"/>
              <a:buFont typeface="Noto Sans Symbols"/>
              <a:buChar char="⮚"/>
            </a:pPr>
            <a:r>
              <a:rPr lang="fr-FR" sz="2400" dirty="0">
                <a:latin typeface="Times New Roman" panose="02020603050405020304" pitchFamily="18" charset="0"/>
                <a:cs typeface="Times New Roman" panose="02020603050405020304" pitchFamily="18" charset="0"/>
              </a:rPr>
              <a:t>Un service peut participer à des </a:t>
            </a:r>
            <a:r>
              <a:rPr lang="fr-FR" sz="2400" dirty="0">
                <a:solidFill>
                  <a:srgbClr val="C00000"/>
                </a:solidFill>
                <a:latin typeface="Times New Roman" panose="02020603050405020304" pitchFamily="18" charset="0"/>
                <a:cs typeface="Times New Roman" panose="02020603050405020304" pitchFamily="18" charset="0"/>
              </a:rPr>
              <a:t>compositions de services</a:t>
            </a:r>
            <a:endParaRPr sz="2400" dirty="0">
              <a:solidFill>
                <a:srgbClr val="CC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0" algn="just" rtl="0">
              <a:spcBef>
                <a:spcPts val="0"/>
              </a:spcBef>
              <a:spcAft>
                <a:spcPts val="0"/>
              </a:spcAft>
              <a:buNone/>
            </a:pPr>
            <a:endParaRPr sz="24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0" algn="just" rtl="0">
              <a:spcBef>
                <a:spcPts val="0"/>
              </a:spcBef>
              <a:spcAft>
                <a:spcPts val="0"/>
              </a:spcAft>
              <a:buNone/>
            </a:pPr>
            <a:endParaRPr sz="24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spcBef>
                <a:spcPts val="0"/>
              </a:spcBef>
              <a:spcAft>
                <a:spcPts val="0"/>
              </a:spcAft>
              <a:buSzPts val="2000"/>
              <a:buFont typeface="Arial" panose="020B0604020202020204"/>
              <a:buChar char="•"/>
            </a:pP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Un ensemble de services peuvent être composés à travers leur orchestration pour répondre à un besoin complexe</a:t>
            </a:r>
            <a:r>
              <a:rPr lang="fr-FR" sz="2400" b="1" dirty="0">
                <a:latin typeface="Times New Roman" panose="02020603050405020304" pitchFamily="18" charset="0"/>
                <a:ea typeface="Arial" panose="020B0604020202020204"/>
                <a:cs typeface="Times New Roman" panose="02020603050405020304" pitchFamily="18" charset="0"/>
                <a:sym typeface="Arial" panose="020B0604020202020204"/>
              </a:rPr>
              <a:t>;</a:t>
            </a:r>
            <a:endParaRPr sz="2400"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None/>
            </a:pPr>
            <a:endParaRPr sz="2400"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457200" lvl="1" indent="-127000" algn="just" rtl="0">
              <a:lnSpc>
                <a:spcPct val="150000"/>
              </a:lnSpc>
              <a:spcBef>
                <a:spcPts val="0"/>
              </a:spcBef>
              <a:spcAft>
                <a:spcPts val="0"/>
              </a:spcAft>
              <a:buSzPts val="2000"/>
              <a:buFont typeface="Arial" panose="020B0604020202020204"/>
              <a:buChar char="•"/>
            </a:pPr>
            <a:r>
              <a:rPr lang="fr-FR" sz="2400" b="1" dirty="0">
                <a:latin typeface="Times New Roman" panose="02020603050405020304" pitchFamily="18" charset="0"/>
                <a:ea typeface="Arial" panose="020B0604020202020204"/>
                <a:cs typeface="Times New Roman" panose="02020603050405020304" pitchFamily="18" charset="0"/>
                <a:sym typeface="Arial" panose="020B0604020202020204"/>
              </a:rPr>
              <a:t> Avantage:</a:t>
            </a:r>
            <a:endParaRPr sz="2400" dirty="0">
              <a:latin typeface="Times New Roman" panose="02020603050405020304" pitchFamily="18" charset="0"/>
              <a:cs typeface="Times New Roman" panose="02020603050405020304" pitchFamily="18" charset="0"/>
            </a:endParaRPr>
          </a:p>
          <a:p>
            <a:pPr marL="914400" lvl="2" indent="-127000" algn="just" rtl="0">
              <a:lnSpc>
                <a:spcPct val="150000"/>
              </a:lnSpc>
              <a:spcBef>
                <a:spcPts val="0"/>
              </a:spcBef>
              <a:spcAft>
                <a:spcPts val="0"/>
              </a:spcAft>
              <a:buSzPts val="2000"/>
              <a:buFont typeface="Arial" panose="020B0604020202020204"/>
              <a:buChar char="•"/>
            </a:pPr>
            <a:r>
              <a:rPr lang="fr-FR" sz="2400" dirty="0">
                <a:latin typeface="Times New Roman" panose="02020603050405020304" pitchFamily="18" charset="0"/>
                <a:ea typeface="Arial" panose="020B0604020202020204"/>
                <a:cs typeface="Times New Roman" panose="02020603050405020304" pitchFamily="18" charset="0"/>
                <a:sym typeface="Arial" panose="020B0604020202020204"/>
              </a:rPr>
              <a:t>Apport de valeur ajoutée (répondre à un nouveau besoin complexe) </a:t>
            </a:r>
            <a:endParaRPr sz="2400"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SzPts val="2000"/>
              <a:buFont typeface="Arial" panose="020B0604020202020204"/>
              <a:buNone/>
            </a:pPr>
            <a:endParaRPr sz="2400"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gn="l" rtl="0">
              <a:spcBef>
                <a:spcPts val="0"/>
              </a:spcBef>
              <a:spcAft>
                <a:spcPts val="0"/>
              </a:spcAft>
              <a:buClr>
                <a:schemeClr val="dk1"/>
              </a:buClr>
              <a:buSzPts val="1600"/>
              <a:buFont typeface="Arial" panose="020B0604020202020204"/>
              <a:buNone/>
            </a:pPr>
            <a:endParaRPr sz="2400" dirty="0">
              <a:solidFill>
                <a:srgbClr val="000099"/>
              </a:solidFill>
              <a:latin typeface="Times New Roman" panose="02020603050405020304" pitchFamily="18" charset="0"/>
              <a:cs typeface="Times New Roman" panose="02020603050405020304" pitchFamily="18" charset="0"/>
            </a:endParaRPr>
          </a:p>
        </p:txBody>
      </p:sp>
      <p:sp>
        <p:nvSpPr>
          <p:cNvPr id="619" name="Google Shape;619;p28"/>
          <p:cNvSpPr txBox="1">
            <a:spLocks noGrp="1"/>
          </p:cNvSpPr>
          <p:nvPr>
            <p:ph type="sldNum" idx="12"/>
          </p:nvPr>
        </p:nvSpPr>
        <p:spPr>
          <a:xfrm>
            <a:off x="11070335" y="6430643"/>
            <a:ext cx="228600" cy="188503"/>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latin typeface="Times New Roman" panose="02020603050405020304" pitchFamily="18" charset="0"/>
                <a:cs typeface="Times New Roman" panose="02020603050405020304" pitchFamily="18" charset="0"/>
              </a:rPr>
              <a:t>44</a:t>
            </a:fld>
            <a:endParaRPr lang="fr-FR">
              <a:latin typeface="Times New Roman" panose="02020603050405020304" pitchFamily="18" charset="0"/>
              <a:cs typeface="Times New Roman" panose="02020603050405020304" pitchFamily="18" charset="0"/>
            </a:endParaRPr>
          </a:p>
        </p:txBody>
      </p:sp>
      <p:sp>
        <p:nvSpPr>
          <p:cNvPr id="3" name="Google Shape;291;g25b1bb62912_0_41"/>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latin typeface="Times New Roman" panose="02020603050405020304" pitchFamily="18" charset="0"/>
                <a:cs typeface="Times New Roman" panose="02020603050405020304" pitchFamily="18" charset="0"/>
                <a:sym typeface="Times New Roman" panose="02020603050405020304"/>
              </a:rPr>
              <a:t>Principes d’un service Web</a:t>
            </a:r>
            <a:endParaRPr dirty="0">
              <a:latin typeface="Times New Roman" panose="02020603050405020304" pitchFamily="18" charset="0"/>
              <a:cs typeface="Times New Roman" panose="02020603050405020304" pitchFamily="18" charset="0"/>
              <a:sym typeface="Times New Roman" panose="02020603050405020304"/>
            </a:endParaRPr>
          </a:p>
        </p:txBody>
      </p:sp>
      <p:pic>
        <p:nvPicPr>
          <p:cNvPr id="4"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pic>
        <p:nvPicPr>
          <p:cNvPr id="5" name="Google Shape;63;p1" descr="Picture 3">
            <a:extLst>
              <a:ext uri="{FF2B5EF4-FFF2-40B4-BE49-F238E27FC236}">
                <a16:creationId xmlns:a16="http://schemas.microsoft.com/office/drawing/2014/main" id="{ED7E390D-F68F-6B96-3C88-C2B4D5B2F2F3}"/>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transition spd="med">
    <p:push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619" name="Google Shape;619;p28"/>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45</a:t>
            </a:fld>
            <a:endParaRPr lang="fr-FR"/>
          </a:p>
        </p:txBody>
      </p:sp>
      <p:sp>
        <p:nvSpPr>
          <p:cNvPr id="3" name="Google Shape;291;g25b1bb62912_0_41"/>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Principes d’un service Web</a:t>
            </a:r>
            <a:endParaRPr dirty="0">
              <a:sym typeface="Times New Roman" panose="02020603050405020304"/>
            </a:endParaRPr>
          </a:p>
        </p:txBody>
      </p:sp>
      <p:pic>
        <p:nvPicPr>
          <p:cNvPr id="4" name="Google Shape;297;g25b1bb62912_0_50" descr="Image 10"/>
          <p:cNvPicPr preferRelativeResize="0"/>
          <p:nvPr/>
        </p:nvPicPr>
        <p:blipFill rotWithShape="1">
          <a:blip r:embed="rId4"/>
          <a:srcRect/>
          <a:stretch>
            <a:fillRect/>
          </a:stretch>
        </p:blipFill>
        <p:spPr>
          <a:xfrm>
            <a:off x="672844" y="614541"/>
            <a:ext cx="585321" cy="579782"/>
          </a:xfrm>
          <a:prstGeom prst="rect">
            <a:avLst/>
          </a:prstGeom>
          <a:noFill/>
          <a:ln>
            <a:noFill/>
          </a:ln>
        </p:spPr>
      </p:pic>
      <p:sp>
        <p:nvSpPr>
          <p:cNvPr id="5" name="ZoneTexte 4"/>
          <p:cNvSpPr txBox="1"/>
          <p:nvPr/>
        </p:nvSpPr>
        <p:spPr>
          <a:xfrm>
            <a:off x="433133" y="828861"/>
            <a:ext cx="11808178" cy="5460469"/>
          </a:xfrm>
          <a:prstGeom prst="rect">
            <a:avLst/>
          </a:prstGeom>
          <a:noFill/>
        </p:spPr>
        <p:txBody>
          <a:bodyPr wrap="square" rtlCol="0">
            <a:spAutoFit/>
          </a:bodyPr>
          <a:lstStyle/>
          <a:p>
            <a:endParaRPr lang="fr-FR" sz="2000" dirty="0">
              <a:solidFill>
                <a:srgbClr val="333333"/>
              </a:solidFill>
              <a:latin typeface="Times New Roman" panose="02020603050405020304" pitchFamily="18" charset="0"/>
              <a:cs typeface="Times New Roman" panose="02020603050405020304" pitchFamily="18" charset="0"/>
            </a:endParaRPr>
          </a:p>
          <a:p>
            <a:pPr marL="571500" indent="-571500">
              <a:buClr>
                <a:srgbClr val="C00000"/>
              </a:buClr>
              <a:buSzPct val="60000"/>
              <a:buFont typeface="Wingdings" panose="05000000000000000000" pitchFamily="2" charset="2"/>
              <a:buChar char="Ø"/>
            </a:pPr>
            <a:r>
              <a:rPr lang="fr-FR" sz="4400" dirty="0">
                <a:solidFill>
                  <a:srgbClr val="C00000"/>
                </a:solidFill>
                <a:latin typeface="Times New Roman" panose="02020603050405020304" pitchFamily="18" charset="0"/>
                <a:cs typeface="Times New Roman" panose="02020603050405020304" pitchFamily="18" charset="0"/>
              </a:rPr>
              <a:t> </a:t>
            </a:r>
            <a:r>
              <a:rPr lang="fr-FR" sz="2400" dirty="0">
                <a:solidFill>
                  <a:srgbClr val="C00000"/>
                </a:solidFill>
                <a:latin typeface="Times New Roman" panose="02020603050405020304" pitchFamily="18" charset="0"/>
                <a:cs typeface="Times New Roman" panose="02020603050405020304" pitchFamily="18" charset="0"/>
              </a:rPr>
              <a:t>Modularité</a:t>
            </a:r>
          </a:p>
          <a:p>
            <a:pPr marL="571500" indent="-571500">
              <a:buClr>
                <a:srgbClr val="C00000"/>
              </a:buClr>
              <a:buSzPct val="60000"/>
              <a:buFont typeface="Wingdings" panose="05000000000000000000" pitchFamily="2" charset="2"/>
              <a:buChar char="Ø"/>
            </a:pPr>
            <a:endParaRPr lang="fr-FR" sz="2400" dirty="0">
              <a:solidFill>
                <a:srgbClr val="C00000"/>
              </a:solidFill>
              <a:latin typeface="Times New Roman" panose="02020603050405020304" pitchFamily="18" charset="0"/>
              <a:cs typeface="Times New Roman" panose="02020603050405020304" pitchFamily="18" charset="0"/>
              <a:sym typeface="Arial" panose="020B0604020202020204"/>
            </a:endParaRPr>
          </a:p>
          <a:p>
            <a:pPr>
              <a:buClr>
                <a:srgbClr val="C00000"/>
              </a:buClr>
              <a:buSzPct val="60000"/>
            </a:pPr>
            <a:r>
              <a:rPr lang="fr-FR" sz="2400" dirty="0">
                <a:solidFill>
                  <a:srgbClr val="333333"/>
                </a:solidFill>
                <a:latin typeface="Times New Roman" panose="02020603050405020304" pitchFamily="18" charset="0"/>
                <a:cs typeface="Times New Roman" panose="02020603050405020304" pitchFamily="18" charset="0"/>
              </a:rPr>
              <a:t>La modularité </a:t>
            </a:r>
            <a:r>
              <a:rPr lang="fr-FR" sz="2400" b="0" i="0" dirty="0">
                <a:solidFill>
                  <a:srgbClr val="333333"/>
                </a:solidFill>
                <a:effectLst/>
                <a:latin typeface="Times New Roman" panose="02020603050405020304" pitchFamily="18" charset="0"/>
                <a:cs typeface="Times New Roman" panose="02020603050405020304" pitchFamily="18" charset="0"/>
              </a:rPr>
              <a:t>est matérialisée par le fait que les différents services sont indépendants les uns des autres dans la plateforme de services et peuvent être accessibles par les applications distantes tournant dans des environnements hétérogènes. D’où la notion d’interopérabilité.</a:t>
            </a:r>
          </a:p>
          <a:p>
            <a:pPr marL="571500" indent="-571500">
              <a:buClr>
                <a:srgbClr val="C00000"/>
              </a:buClr>
              <a:buSzPct val="60000"/>
              <a:buFont typeface="Wingdings" panose="05000000000000000000" pitchFamily="2" charset="2"/>
              <a:buChar char="Ø"/>
            </a:pPr>
            <a:r>
              <a:rPr lang="fr-FR" sz="4400" dirty="0">
                <a:solidFill>
                  <a:srgbClr val="C00000"/>
                </a:solidFill>
                <a:latin typeface="Times New Roman" panose="02020603050405020304" pitchFamily="18" charset="0"/>
                <a:cs typeface="Times New Roman" panose="02020603050405020304" pitchFamily="18" charset="0"/>
              </a:rPr>
              <a:t> </a:t>
            </a:r>
            <a:r>
              <a:rPr lang="fr-FR" sz="2400" dirty="0">
                <a:solidFill>
                  <a:srgbClr val="C00000"/>
                </a:solidFill>
                <a:latin typeface="Times New Roman" panose="02020603050405020304" pitchFamily="18" charset="0"/>
                <a:cs typeface="Times New Roman" panose="02020603050405020304" pitchFamily="18" charset="0"/>
              </a:rPr>
              <a:t>Interopérabilité</a:t>
            </a:r>
          </a:p>
          <a:p>
            <a:pPr marL="12065" marR="5080" lvl="0" algn="just" rtl="0">
              <a:lnSpc>
                <a:spcPct val="100000"/>
              </a:lnSpc>
              <a:spcBef>
                <a:spcPts val="105"/>
              </a:spcBef>
              <a:spcAft>
                <a:spcPts val="0"/>
              </a:spcAft>
              <a:buClr>
                <a:schemeClr val="dk1"/>
              </a:buClr>
              <a:buSzPts val="2400"/>
            </a:pPr>
            <a:r>
              <a:rPr lang="fr-FR" sz="2400" dirty="0">
                <a:solidFill>
                  <a:schemeClr val="dk1"/>
                </a:solidFill>
                <a:latin typeface="Times New Roman" panose="02020603050405020304" pitchFamily="18" charset="0"/>
                <a:cs typeface="Times New Roman" panose="02020603050405020304" pitchFamily="18" charset="0"/>
                <a:sym typeface="Arial" panose="020B0604020202020204"/>
              </a:rPr>
              <a:t>Réfère à la capacité d’un système à coexister et à coopérer avec d’autres systèmes éventuellement </a:t>
            </a:r>
            <a:r>
              <a:rPr lang="fr-FR" sz="2400" b="1" dirty="0">
                <a:solidFill>
                  <a:srgbClr val="C00000"/>
                </a:solidFill>
                <a:latin typeface="Times New Roman" panose="02020603050405020304" pitchFamily="18" charset="0"/>
                <a:cs typeface="Times New Roman" panose="02020603050405020304" pitchFamily="18" charset="0"/>
                <a:sym typeface="Arial" panose="020B0604020202020204"/>
              </a:rPr>
              <a:t>hétérogènes</a:t>
            </a:r>
            <a:r>
              <a:rPr lang="fr-FR" sz="2400" dirty="0">
                <a:solidFill>
                  <a:schemeClr val="dk1"/>
                </a:solidFill>
                <a:latin typeface="Times New Roman" panose="02020603050405020304" pitchFamily="18" charset="0"/>
                <a:cs typeface="Times New Roman" panose="02020603050405020304" pitchFamily="18" charset="0"/>
                <a:sym typeface="Arial" panose="020B0604020202020204"/>
              </a:rPr>
              <a:t> selon un schéma ouvert d'interconnexion.</a:t>
            </a:r>
            <a:endParaRPr lang="fr-FR" sz="24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Langages de programmation différents,</a:t>
            </a:r>
            <a:endParaRPr lang="fr-FR" sz="24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SGBD différents,</a:t>
            </a:r>
            <a:endParaRPr lang="fr-FR" sz="24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Architectures différentes,</a:t>
            </a:r>
            <a:endParaRPr lang="fr-FR" sz="24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etc.</a:t>
            </a:r>
            <a:endParaRPr lang="fr-FR" sz="2000" dirty="0">
              <a:solidFill>
                <a:srgbClr val="C00000"/>
              </a:solidFill>
              <a:latin typeface="Times New Roman" panose="02020603050405020304" pitchFamily="18" charset="0"/>
              <a:cs typeface="Times New Roman" panose="02020603050405020304" pitchFamily="18" charset="0"/>
            </a:endParaRPr>
          </a:p>
        </p:txBody>
      </p:sp>
      <p:pic>
        <p:nvPicPr>
          <p:cNvPr id="6" name="Google Shape;63;p1" descr="Picture 3">
            <a:extLst>
              <a:ext uri="{FF2B5EF4-FFF2-40B4-BE49-F238E27FC236}">
                <a16:creationId xmlns:a16="http://schemas.microsoft.com/office/drawing/2014/main" id="{83236BC2-54A1-C81E-BB42-E28CA588EBF3}"/>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transition spd="med">
    <p:push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sp>
        <p:nvSpPr>
          <p:cNvPr id="522" name="Google Shape;522;p21"/>
          <p:cNvSpPr txBox="1"/>
          <p:nvPr/>
        </p:nvSpPr>
        <p:spPr>
          <a:xfrm>
            <a:off x="672844" y="2713711"/>
            <a:ext cx="11519156" cy="2970162"/>
          </a:xfrm>
          <a:prstGeom prst="rect">
            <a:avLst/>
          </a:prstGeom>
          <a:noFill/>
          <a:ln>
            <a:noFill/>
          </a:ln>
        </p:spPr>
        <p:txBody>
          <a:bodyPr spcFirstLastPara="1" wrap="square" lIns="0" tIns="13325" rIns="0" bIns="0" anchor="t" anchorCtr="0">
            <a:spAutoFit/>
          </a:bodyPr>
          <a:lstStyle/>
          <a:p>
            <a:pPr marL="356870" marR="850900" lvl="0" indent="-344805" algn="l" rtl="0">
              <a:lnSpc>
                <a:spcPct val="118000"/>
              </a:lnSpc>
              <a:spcBef>
                <a:spcPts val="0"/>
              </a:spcBef>
              <a:spcAft>
                <a:spcPts val="0"/>
              </a:spcAft>
              <a:buClr>
                <a:schemeClr val="dk1"/>
              </a:buClr>
              <a:buSzPts val="2800"/>
              <a:buFont typeface="Arial" panose="020B0604020202020204"/>
              <a:buChar char="•"/>
            </a:pPr>
            <a:r>
              <a:rPr lang="fr-FR" sz="2000" b="1" dirty="0" err="1">
                <a:solidFill>
                  <a:schemeClr val="dk1"/>
                </a:solidFill>
                <a:latin typeface="Times New Roman" panose="02020603050405020304" pitchFamily="18" charset="0"/>
                <a:cs typeface="Times New Roman" panose="02020603050405020304" pitchFamily="18" charset="0"/>
                <a:sym typeface="Arial" panose="020B0604020202020204"/>
              </a:rPr>
              <a:t>Integration</a:t>
            </a:r>
            <a:r>
              <a:rPr lang="fr-FR" sz="2000" b="1" dirty="0">
                <a:solidFill>
                  <a:schemeClr val="dk1"/>
                </a:solidFill>
                <a:latin typeface="Times New Roman" panose="02020603050405020304" pitchFamily="18" charset="0"/>
                <a:cs typeface="Times New Roman" panose="02020603050405020304" pitchFamily="18" charset="0"/>
                <a:sym typeface="Arial" panose="020B0604020202020204"/>
              </a:rPr>
              <a:t>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means</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that</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you've</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writtensome</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 custom code to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connect</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two</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 (or more)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systems</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 </a:t>
            </a:r>
            <a:r>
              <a:rPr lang="fr-FR" sz="2000" dirty="0" err="1">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together</a:t>
            </a:r>
            <a:r>
              <a:rPr lang="fr-F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rPr>
              <a:t>.</a:t>
            </a:r>
            <a:endParaRP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endParaRPr>
          </a:p>
          <a:p>
            <a:pPr marL="4829175" marR="0" lvl="1" indent="-229235" algn="l" rtl="0">
              <a:lnSpc>
                <a:spcPct val="100000"/>
              </a:lnSpc>
              <a:spcBef>
                <a:spcPts val="415"/>
              </a:spcBef>
              <a:spcAft>
                <a:spcPts val="0"/>
              </a:spcAft>
              <a:buClr>
                <a:schemeClr val="dk1"/>
              </a:buClr>
              <a:buSzPts val="2000"/>
              <a:buFont typeface="Arial" panose="020B0604020202020204"/>
              <a:buChar char="•"/>
            </a:pPr>
            <a:r>
              <a:rPr lang="fr-FR" sz="2000" b="0" i="1"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[Bobby Wolf – </a:t>
            </a:r>
            <a:r>
              <a:rPr lang="fr-FR" sz="2000" b="0" i="1" u="none" strike="noStrike" cap="none" dirty="0" err="1">
                <a:solidFill>
                  <a:schemeClr val="dk1"/>
                </a:solidFill>
                <a:latin typeface="Times New Roman" panose="02020603050405020304" pitchFamily="18" charset="0"/>
                <a:cs typeface="Times New Roman" panose="02020603050405020304" pitchFamily="18" charset="0"/>
                <a:sym typeface="Arial" panose="020B0604020202020204"/>
              </a:rPr>
              <a:t>IBMArchitect</a:t>
            </a:r>
            <a:r>
              <a:rPr lang="fr-FR" sz="2000" b="0" i="1"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a:t>
            </a:r>
          </a:p>
          <a:p>
            <a:pPr marL="4829175" marR="0" lvl="1" indent="-229235" algn="l" rtl="0">
              <a:lnSpc>
                <a:spcPct val="100000"/>
              </a:lnSpc>
              <a:spcBef>
                <a:spcPts val="415"/>
              </a:spcBef>
              <a:spcAft>
                <a:spcPts val="0"/>
              </a:spcAft>
              <a:buClr>
                <a:schemeClr val="dk1"/>
              </a:buClr>
              <a:buSzPts val="2000"/>
              <a:buFont typeface="Arial" panose="020B0604020202020204"/>
              <a:buChar char="•"/>
            </a:pPr>
            <a:endParaRPr lang="fr-FR" sz="2000" i="1" dirty="0">
              <a:solidFill>
                <a:schemeClr val="dk1"/>
              </a:solidFill>
              <a:latin typeface="Times New Roman" panose="02020603050405020304" pitchFamily="18" charset="0"/>
              <a:cs typeface="Times New Roman" panose="02020603050405020304" pitchFamily="18" charset="0"/>
            </a:endParaRPr>
          </a:p>
          <a:p>
            <a:pPr marL="4829175" marR="0" lvl="1" indent="-229235" algn="l" rtl="0">
              <a:lnSpc>
                <a:spcPct val="100000"/>
              </a:lnSpc>
              <a:spcBef>
                <a:spcPts val="415"/>
              </a:spcBef>
              <a:spcAft>
                <a:spcPts val="0"/>
              </a:spcAft>
              <a:buClr>
                <a:schemeClr val="dk1"/>
              </a:buClr>
              <a:buSzPts val="2000"/>
              <a:buFont typeface="Arial" panose="020B0604020202020204"/>
              <a:buChar char="•"/>
            </a:pPr>
            <a:endParaRPr lang="fr-FR" sz="2000" b="0" i="1"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4829175" marR="0" lvl="1" indent="-229235" algn="l" rtl="0">
              <a:lnSpc>
                <a:spcPct val="100000"/>
              </a:lnSpc>
              <a:spcBef>
                <a:spcPts val="415"/>
              </a:spcBef>
              <a:spcAft>
                <a:spcPts val="0"/>
              </a:spcAft>
              <a:buClr>
                <a:schemeClr val="dk1"/>
              </a:buClr>
              <a:buSzPts val="2000"/>
              <a:buFont typeface="Arial" panose="020B0604020202020204"/>
              <a:buChar char="•"/>
            </a:pPr>
            <a:endParaRPr sz="20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15"/>
              </a:spcBef>
              <a:spcAft>
                <a:spcPts val="0"/>
              </a:spcAft>
              <a:buNone/>
            </a:pPr>
            <a:endParaRPr sz="2000" dirty="0">
              <a:solidFill>
                <a:schemeClr val="dk1"/>
              </a:solidFill>
              <a:latin typeface="Times New Roman" panose="02020603050405020304" pitchFamily="18" charset="0"/>
              <a:ea typeface="Trebuchet MS" panose="020B0603020202020204"/>
              <a:cs typeface="Times New Roman" panose="02020603050405020304" pitchFamily="18" charset="0"/>
              <a:sym typeface="Trebuchet MS" panose="020B0603020202020204"/>
            </a:endParaRPr>
          </a:p>
          <a:p>
            <a:pPr marL="356870" marR="850900" lvl="0" indent="-344805" algn="l" rtl="0">
              <a:lnSpc>
                <a:spcPct val="138000"/>
              </a:lnSpc>
              <a:spcBef>
                <a:spcPts val="0"/>
              </a:spcBef>
              <a:spcAft>
                <a:spcPts val="0"/>
              </a:spcAft>
              <a:buClr>
                <a:schemeClr val="dk1"/>
              </a:buClr>
              <a:buSzPts val="2400"/>
              <a:buFont typeface="Arial" panose="020B0604020202020204"/>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Lorsqu'on parle d'intégration, nous pensons au processus qui fait que différents systèmes d'information </a:t>
            </a:r>
            <a:r>
              <a:rPr lang="fr-FR" sz="2000" b="1" dirty="0">
                <a:solidFill>
                  <a:srgbClr val="C00000"/>
                </a:solidFill>
                <a:latin typeface="Times New Roman" panose="02020603050405020304" pitchFamily="18" charset="0"/>
                <a:cs typeface="Times New Roman" panose="02020603050405020304" pitchFamily="18" charset="0"/>
                <a:sym typeface="Arial" panose="020B0604020202020204"/>
              </a:rPr>
              <a:t>apparaissent comme un seul</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a:t>
            </a:r>
            <a:endParaRPr sz="20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523" name="Google Shape;523;p21"/>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46</a:t>
            </a:fld>
            <a:endParaRPr lang="fr-FR"/>
          </a:p>
        </p:txBody>
      </p:sp>
      <p:sp>
        <p:nvSpPr>
          <p:cNvPr id="524" name="Google Shape;524;p21"/>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FF0000"/>
                </a:solidFill>
                <a:latin typeface="Trebuchet MS" panose="020B0603020202020204"/>
                <a:ea typeface="Trebuchet MS" panose="020B0603020202020204"/>
                <a:cs typeface="Trebuchet MS" panose="020B0603020202020204"/>
                <a:sym typeface="Trebuchet MS" panose="020B0603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12700" lvl="0" indent="0" algn="l" rtl="0">
              <a:lnSpc>
                <a:spcPct val="100000"/>
              </a:lnSpc>
              <a:spcBef>
                <a:spcPts val="0"/>
              </a:spcBef>
              <a:spcAft>
                <a:spcPts val="0"/>
              </a:spcAft>
              <a:buNone/>
            </a:pPr>
            <a:endParaRPr/>
          </a:p>
        </p:txBody>
      </p:sp>
      <p:sp>
        <p:nvSpPr>
          <p:cNvPr id="3" name="Google Shape;291;g25b1bb62912_0_41"/>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Principes d’un service Web</a:t>
            </a:r>
            <a:endParaRPr dirty="0">
              <a:sym typeface="Times New Roman" panose="02020603050405020304"/>
            </a:endParaRPr>
          </a:p>
        </p:txBody>
      </p:sp>
      <p:pic>
        <p:nvPicPr>
          <p:cNvPr id="4" name="Google Shape;297;g25b1bb62912_0_50" descr="Image 10"/>
          <p:cNvPicPr preferRelativeResize="0"/>
          <p:nvPr/>
        </p:nvPicPr>
        <p:blipFill rotWithShape="1">
          <a:blip r:embed="rId4"/>
          <a:srcRect/>
          <a:stretch>
            <a:fillRect/>
          </a:stretch>
        </p:blipFill>
        <p:spPr>
          <a:xfrm>
            <a:off x="783238" y="641324"/>
            <a:ext cx="585321" cy="579782"/>
          </a:xfrm>
          <a:prstGeom prst="rect">
            <a:avLst/>
          </a:prstGeom>
          <a:noFill/>
          <a:ln>
            <a:noFill/>
          </a:ln>
        </p:spPr>
      </p:pic>
      <p:sp>
        <p:nvSpPr>
          <p:cNvPr id="7" name="Google Shape;521;p21"/>
          <p:cNvSpPr txBox="1">
            <a:spLocks noGrp="1"/>
          </p:cNvSpPr>
          <p:nvPr>
            <p:ph type="title"/>
          </p:nvPr>
        </p:nvSpPr>
        <p:spPr>
          <a:xfrm>
            <a:off x="837668" y="1732490"/>
            <a:ext cx="7933200" cy="319944"/>
          </a:xfrm>
          <a:prstGeom prst="rect">
            <a:avLst/>
          </a:prstGeom>
          <a:noFill/>
          <a:ln>
            <a:noFill/>
          </a:ln>
        </p:spPr>
        <p:txBody>
          <a:bodyPr spcFirstLastPara="1" wrap="square" lIns="0" tIns="12050" rIns="0" bIns="0" anchor="t" anchorCtr="0">
            <a:spAutoFit/>
          </a:bodyPr>
          <a:lstStyle/>
          <a:p>
            <a:pPr marL="355600" lvl="0" indent="-342900" algn="l" rtl="0">
              <a:lnSpc>
                <a:spcPct val="100000"/>
              </a:lnSpc>
              <a:spcBef>
                <a:spcPts val="0"/>
              </a:spcBef>
              <a:spcAft>
                <a:spcPts val="0"/>
              </a:spcAft>
              <a:buClr>
                <a:srgbClr val="C00000"/>
              </a:buClr>
              <a:buFont typeface="Wingdings" panose="05000000000000000000" pitchFamily="2" charset="2"/>
              <a:buChar char="Ø"/>
            </a:pPr>
            <a:r>
              <a:rPr lang="fr-FR" sz="2000" dirty="0">
                <a:solidFill>
                  <a:srgbClr val="C00000"/>
                </a:solidFill>
                <a:latin typeface="Times New Roman" panose="02020603050405020304" pitchFamily="18" charset="0"/>
                <a:cs typeface="Times New Roman" panose="02020603050405020304" pitchFamily="18" charset="0"/>
                <a:sym typeface="Arial" panose="020B0604020202020204"/>
              </a:rPr>
              <a:t>Intégration vs </a:t>
            </a:r>
            <a:r>
              <a:rPr lang="fr-FR" sz="2000" dirty="0">
                <a:solidFill>
                  <a:srgbClr val="C00000"/>
                </a:solidFill>
                <a:latin typeface="Times New Roman" panose="02020603050405020304" pitchFamily="18" charset="0"/>
                <a:cs typeface="Times New Roman" panose="02020603050405020304" pitchFamily="18" charset="0"/>
              </a:rPr>
              <a:t>Interopérabilité – </a:t>
            </a:r>
            <a:endParaRPr sz="2000" dirty="0">
              <a:solidFill>
                <a:srgbClr val="C00000"/>
              </a:solidFill>
              <a:latin typeface="Times New Roman" panose="02020603050405020304" pitchFamily="18" charset="0"/>
              <a:cs typeface="Times New Roman" panose="02020603050405020304" pitchFamily="18" charset="0"/>
            </a:endParaRPr>
          </a:p>
        </p:txBody>
      </p:sp>
      <p:pic>
        <p:nvPicPr>
          <p:cNvPr id="5" name="Google Shape;63;p1" descr="Picture 3">
            <a:extLst>
              <a:ext uri="{FF2B5EF4-FFF2-40B4-BE49-F238E27FC236}">
                <a16:creationId xmlns:a16="http://schemas.microsoft.com/office/drawing/2014/main" id="{5DF7A300-586A-003B-336E-70830E4970CE}"/>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pic>
        <p:nvPicPr>
          <p:cNvPr id="2" name="Google Shape;296;g25b1bb62912_0_50" descr="Picture 2"/>
          <p:cNvPicPr preferRelativeResize="0"/>
          <p:nvPr/>
        </p:nvPicPr>
        <p:blipFill rotWithShape="1">
          <a:blip r:embed="rId3"/>
          <a:srcRect/>
          <a:stretch>
            <a:fillRect/>
          </a:stretch>
        </p:blipFill>
        <p:spPr>
          <a:xfrm>
            <a:off x="-3894" y="-28242"/>
            <a:ext cx="12652622" cy="6886241"/>
          </a:xfrm>
          <a:prstGeom prst="rect">
            <a:avLst/>
          </a:prstGeom>
          <a:noFill/>
          <a:ln>
            <a:noFill/>
          </a:ln>
        </p:spPr>
      </p:pic>
      <p:grpSp>
        <p:nvGrpSpPr>
          <p:cNvPr id="530" name="Google Shape;530;p22"/>
          <p:cNvGrpSpPr/>
          <p:nvPr/>
        </p:nvGrpSpPr>
        <p:grpSpPr>
          <a:xfrm>
            <a:off x="226417" y="1534459"/>
            <a:ext cx="12192000" cy="5287010"/>
            <a:chOff x="0" y="1143000"/>
            <a:chExt cx="12192000" cy="5287010"/>
          </a:xfrm>
        </p:grpSpPr>
        <p:sp>
          <p:nvSpPr>
            <p:cNvPr id="531" name="Google Shape;531;p22"/>
            <p:cNvSpPr/>
            <p:nvPr/>
          </p:nvSpPr>
          <p:spPr>
            <a:xfrm>
              <a:off x="0" y="1143000"/>
              <a:ext cx="12192000" cy="52870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32" name="Google Shape;532;p22"/>
            <p:cNvSpPr/>
            <p:nvPr/>
          </p:nvSpPr>
          <p:spPr>
            <a:xfrm>
              <a:off x="381000" y="1714500"/>
              <a:ext cx="8636508" cy="4120896"/>
            </a:xfrm>
            <a:prstGeom prst="rect">
              <a:avLst/>
            </a:prstGeom>
            <a:blipFill rotWithShape="1">
              <a:blip r:embed="rId4"/>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533" name="Google Shape;533;p22"/>
          <p:cNvSpPr txBox="1"/>
          <p:nvPr/>
        </p:nvSpPr>
        <p:spPr>
          <a:xfrm>
            <a:off x="520061" y="6195475"/>
            <a:ext cx="11445522"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Source: [3]</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534" name="Google Shape;534;p22"/>
          <p:cNvSpPr txBox="1"/>
          <p:nvPr/>
        </p:nvSpPr>
        <p:spPr>
          <a:xfrm>
            <a:off x="9710419" y="4265421"/>
            <a:ext cx="160210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2400" b="1">
                <a:solidFill>
                  <a:srgbClr val="FF0000"/>
                </a:solidFill>
                <a:latin typeface="Arial" panose="020B0604020202020204"/>
                <a:ea typeface="Arial" panose="020B0604020202020204"/>
                <a:cs typeface="Arial" panose="020B0604020202020204"/>
                <a:sym typeface="Arial" panose="020B0604020202020204"/>
              </a:rPr>
              <a:t>Integration</a:t>
            </a: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535" name="Google Shape;535;p22"/>
          <p:cNvSpPr txBox="1"/>
          <p:nvPr/>
        </p:nvSpPr>
        <p:spPr>
          <a:xfrm>
            <a:off x="8966961" y="2153869"/>
            <a:ext cx="2224405" cy="3917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2400" b="1">
                <a:solidFill>
                  <a:srgbClr val="FF0000"/>
                </a:solidFill>
                <a:latin typeface="Arial" panose="020B0604020202020204"/>
                <a:ea typeface="Arial" panose="020B0604020202020204"/>
                <a:cs typeface="Arial" panose="020B0604020202020204"/>
                <a:sym typeface="Arial" panose="020B0604020202020204"/>
              </a:rPr>
              <a:t>Interoperabilité</a:t>
            </a: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537" name="Google Shape;537;p22"/>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47</a:t>
            </a:fld>
            <a:endParaRPr lang="fr-FR"/>
          </a:p>
        </p:txBody>
      </p:sp>
      <p:sp>
        <p:nvSpPr>
          <p:cNvPr id="5" name="Google Shape;291;g25b1bb62912_0_41"/>
          <p:cNvSpPr txBox="1"/>
          <p:nvPr/>
        </p:nvSpPr>
        <p:spPr>
          <a:xfrm>
            <a:off x="1055166" y="297388"/>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Principes d’un service Web</a:t>
            </a:r>
            <a:endParaRPr dirty="0">
              <a:sym typeface="Times New Roman" panose="02020603050405020304"/>
            </a:endParaRPr>
          </a:p>
        </p:txBody>
      </p:sp>
      <p:pic>
        <p:nvPicPr>
          <p:cNvPr id="6" name="Google Shape;297;g25b1bb62912_0_50" descr="Image 10"/>
          <p:cNvPicPr preferRelativeResize="0"/>
          <p:nvPr/>
        </p:nvPicPr>
        <p:blipFill rotWithShape="1">
          <a:blip r:embed="rId5"/>
          <a:srcRect/>
          <a:stretch>
            <a:fillRect/>
          </a:stretch>
        </p:blipFill>
        <p:spPr>
          <a:xfrm>
            <a:off x="529742" y="297388"/>
            <a:ext cx="585321" cy="579782"/>
          </a:xfrm>
          <a:prstGeom prst="rect">
            <a:avLst/>
          </a:prstGeom>
          <a:noFill/>
          <a:ln>
            <a:noFill/>
          </a:ln>
        </p:spPr>
      </p:pic>
      <p:sp>
        <p:nvSpPr>
          <p:cNvPr id="7" name="Google Shape;521;p21"/>
          <p:cNvSpPr txBox="1">
            <a:spLocks noGrp="1"/>
          </p:cNvSpPr>
          <p:nvPr>
            <p:ph type="title"/>
          </p:nvPr>
        </p:nvSpPr>
        <p:spPr>
          <a:xfrm>
            <a:off x="694566" y="1079458"/>
            <a:ext cx="7933200" cy="319944"/>
          </a:xfrm>
          <a:prstGeom prst="rect">
            <a:avLst/>
          </a:prstGeom>
          <a:noFill/>
          <a:ln>
            <a:noFill/>
          </a:ln>
        </p:spPr>
        <p:txBody>
          <a:bodyPr spcFirstLastPara="1" wrap="square" lIns="0" tIns="12050" rIns="0" bIns="0" anchor="t" anchorCtr="0">
            <a:spAutoFit/>
          </a:bodyPr>
          <a:lstStyle/>
          <a:p>
            <a:pPr marL="355600" lvl="0" indent="-342900" algn="l" rtl="0">
              <a:lnSpc>
                <a:spcPct val="100000"/>
              </a:lnSpc>
              <a:spcBef>
                <a:spcPts val="0"/>
              </a:spcBef>
              <a:spcAft>
                <a:spcPts val="0"/>
              </a:spcAft>
              <a:buClr>
                <a:srgbClr val="C00000"/>
              </a:buClr>
              <a:buFont typeface="Wingdings" panose="05000000000000000000" pitchFamily="2" charset="2"/>
              <a:buChar char="Ø"/>
            </a:pPr>
            <a:r>
              <a:rPr lang="fr-FR" sz="2000" dirty="0">
                <a:solidFill>
                  <a:srgbClr val="C00000"/>
                </a:solidFill>
                <a:latin typeface="Times New Roman" panose="02020603050405020304" pitchFamily="18" charset="0"/>
                <a:cs typeface="Times New Roman" panose="02020603050405020304" pitchFamily="18" charset="0"/>
                <a:sym typeface="Arial" panose="020B0604020202020204"/>
              </a:rPr>
              <a:t>Intégration vs </a:t>
            </a:r>
            <a:r>
              <a:rPr lang="fr-FR" sz="2000" dirty="0">
                <a:solidFill>
                  <a:srgbClr val="C00000"/>
                </a:solidFill>
                <a:latin typeface="Times New Roman" panose="02020603050405020304" pitchFamily="18" charset="0"/>
                <a:cs typeface="Times New Roman" panose="02020603050405020304" pitchFamily="18" charset="0"/>
              </a:rPr>
              <a:t>Interopérabilité – </a:t>
            </a:r>
            <a:endParaRPr sz="2000" dirty="0">
              <a:solidFill>
                <a:srgbClr val="C00000"/>
              </a:solidFill>
              <a:latin typeface="Times New Roman" panose="02020603050405020304" pitchFamily="18" charset="0"/>
              <a:cs typeface="Times New Roman" panose="02020603050405020304" pitchFamily="18" charset="0"/>
            </a:endParaRPr>
          </a:p>
        </p:txBody>
      </p:sp>
      <p:pic>
        <p:nvPicPr>
          <p:cNvPr id="3" name="Google Shape;63;p1" descr="Picture 3">
            <a:extLst>
              <a:ext uri="{FF2B5EF4-FFF2-40B4-BE49-F238E27FC236}">
                <a16:creationId xmlns:a16="http://schemas.microsoft.com/office/drawing/2014/main" id="{88878455-6F7B-CB2E-0794-41F4DEF2CCC4}"/>
              </a:ext>
            </a:extLst>
          </p:cNvPr>
          <p:cNvPicPr preferRelativeResize="0"/>
          <p:nvPr/>
        </p:nvPicPr>
        <p:blipFill rotWithShape="1">
          <a:blip r:embed="rId6"/>
          <a:srcRect/>
          <a:stretch>
            <a:fillRect/>
          </a:stretch>
        </p:blipFill>
        <p:spPr>
          <a:xfrm flipH="1">
            <a:off x="9686826" y="-9616"/>
            <a:ext cx="2846625" cy="152544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g25b1bb62912_0_68"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pic>
        <p:nvPicPr>
          <p:cNvPr id="320" name="Google Shape;320;g25b1bb62912_0_68" descr="Image 10"/>
          <p:cNvPicPr preferRelativeResize="0"/>
          <p:nvPr/>
        </p:nvPicPr>
        <p:blipFill rotWithShape="1">
          <a:blip r:embed="rId4"/>
          <a:srcRect/>
          <a:stretch>
            <a:fillRect/>
          </a:stretch>
        </p:blipFill>
        <p:spPr>
          <a:xfrm>
            <a:off x="831813" y="590085"/>
            <a:ext cx="585321" cy="579782"/>
          </a:xfrm>
          <a:prstGeom prst="rect">
            <a:avLst/>
          </a:prstGeom>
          <a:noFill/>
          <a:ln>
            <a:noFill/>
          </a:ln>
        </p:spPr>
      </p:pic>
      <p:sp>
        <p:nvSpPr>
          <p:cNvPr id="321" name="Google Shape;321;g25b1bb62912_0_68"/>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48</a:t>
            </a:fld>
            <a:endParaRPr lang="fr-FR"/>
          </a:p>
        </p:txBody>
      </p:sp>
      <p:sp>
        <p:nvSpPr>
          <p:cNvPr id="324" name="Google Shape;324;g25b1bb62912_0_68"/>
          <p:cNvSpPr txBox="1"/>
          <p:nvPr/>
        </p:nvSpPr>
        <p:spPr>
          <a:xfrm>
            <a:off x="1503500" y="508100"/>
            <a:ext cx="7212000" cy="10820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Avantages des services web</a:t>
            </a:r>
            <a:endParaRPr dirty="0">
              <a:sym typeface="Times New Roman" panose="02020603050405020304"/>
            </a:endParaRPr>
          </a:p>
          <a:p>
            <a:endParaRPr dirty="0">
              <a:sym typeface="Times New Roman" panose="02020603050405020304"/>
            </a:endParaRPr>
          </a:p>
        </p:txBody>
      </p:sp>
      <p:sp>
        <p:nvSpPr>
          <p:cNvPr id="2" name="Google Shape;506;p19"/>
          <p:cNvSpPr txBox="1"/>
          <p:nvPr/>
        </p:nvSpPr>
        <p:spPr>
          <a:xfrm>
            <a:off x="561924" y="1630945"/>
            <a:ext cx="10744200" cy="4424248"/>
          </a:xfrm>
          <a:prstGeom prst="rect">
            <a:avLst/>
          </a:prstGeom>
          <a:noFill/>
          <a:ln>
            <a:noFill/>
          </a:ln>
        </p:spPr>
        <p:txBody>
          <a:bodyPr spcFirstLastPara="1" wrap="square" lIns="91425" tIns="45700" rIns="91425" bIns="45700" anchor="t" anchorCtr="0">
            <a:spAutoFit/>
          </a:bodyPr>
          <a:lstStyle/>
          <a:p>
            <a:pPr marL="482600" marR="0" lvl="0" indent="-457200" algn="l" rtl="0">
              <a:lnSpc>
                <a:spcPct val="100000"/>
              </a:lnSpc>
              <a:spcBef>
                <a:spcPts val="0"/>
              </a:spcBef>
              <a:spcAft>
                <a:spcPts val="0"/>
              </a:spcAft>
              <a:buClr>
                <a:schemeClr val="dk1"/>
              </a:buClr>
              <a:buSzPts val="28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Offrir une technologie adaptée aux applications B2B;</a:t>
            </a:r>
            <a:endParaRPr sz="2000" dirty="0">
              <a:latin typeface="Times New Roman" panose="02020603050405020304" pitchFamily="18" charset="0"/>
              <a:cs typeface="Times New Roman" panose="02020603050405020304" pitchFamily="18" charset="0"/>
            </a:endParaRPr>
          </a:p>
          <a:p>
            <a:pPr marL="482600" marR="0" lvl="0" indent="-457200" algn="l" rtl="0">
              <a:lnSpc>
                <a:spcPct val="100000"/>
              </a:lnSpc>
              <a:spcBef>
                <a:spcPts val="485"/>
              </a:spcBef>
              <a:spcAft>
                <a:spcPts val="0"/>
              </a:spcAft>
              <a:buNone/>
            </a:pPr>
            <a:endParaRP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482600" marR="0" lvl="0" indent="-457200" algn="l" rtl="0">
              <a:lnSpc>
                <a:spcPct val="100000"/>
              </a:lnSpc>
              <a:spcBef>
                <a:spcPts val="485"/>
              </a:spcBef>
              <a:spcAft>
                <a:spcPts val="0"/>
              </a:spcAft>
              <a:buClr>
                <a:schemeClr val="dk1"/>
              </a:buClr>
              <a:buSzPts val="24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Rendre possible et plus facile l’interconnexion et l’interaction des systèmes et composants </a:t>
            </a:r>
            <a:r>
              <a:rPr lang="fr-FR" sz="2000" dirty="0">
                <a:solidFill>
                  <a:srgbClr val="CC0000"/>
                </a:solidFill>
                <a:latin typeface="Times New Roman" panose="02020603050405020304" pitchFamily="18" charset="0"/>
                <a:cs typeface="Times New Roman" panose="02020603050405020304" pitchFamily="18" charset="0"/>
                <a:sym typeface="Arial" panose="020B0604020202020204"/>
              </a:rPr>
              <a:t>hétérogènes</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a:t>
            </a:r>
            <a:endParaRPr sz="2000" dirty="0">
              <a:latin typeface="Times New Roman" panose="02020603050405020304" pitchFamily="18" charset="0"/>
              <a:cs typeface="Times New Roman" panose="02020603050405020304" pitchFamily="18" charset="0"/>
            </a:endParaRPr>
          </a:p>
          <a:p>
            <a:pPr marL="482600" marR="0" lvl="0" indent="-457200" algn="l" rtl="0">
              <a:lnSpc>
                <a:spcPct val="100000"/>
              </a:lnSpc>
              <a:spcBef>
                <a:spcPts val="485"/>
              </a:spcBef>
              <a:spcAft>
                <a:spcPts val="0"/>
              </a:spcAft>
              <a:buClr>
                <a:schemeClr val="dk1"/>
              </a:buClr>
              <a:buSzPts val="24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Utilisés par le Web Sémantique pas seulement le web interactif</a:t>
            </a:r>
            <a:endParaRPr sz="2000" dirty="0">
              <a:latin typeface="Times New Roman" panose="02020603050405020304" pitchFamily="18" charset="0"/>
              <a:cs typeface="Times New Roman" panose="02020603050405020304" pitchFamily="18" charset="0"/>
            </a:endParaRPr>
          </a:p>
          <a:p>
            <a:pPr marL="482600" marR="0" lvl="0" indent="-457200" algn="l" rtl="0">
              <a:lnSpc>
                <a:spcPct val="100000"/>
              </a:lnSpc>
              <a:spcBef>
                <a:spcPts val="485"/>
              </a:spcBef>
              <a:spcAft>
                <a:spcPts val="0"/>
              </a:spcAft>
              <a:buNone/>
            </a:pPr>
            <a:endParaRPr sz="2000" dirty="0">
              <a:solidFill>
                <a:srgbClr val="CC0000"/>
              </a:solidFill>
              <a:latin typeface="Times New Roman" panose="02020603050405020304" pitchFamily="18" charset="0"/>
              <a:cs typeface="Times New Roman" panose="02020603050405020304" pitchFamily="18" charset="0"/>
              <a:sym typeface="Arial" panose="020B0604020202020204"/>
            </a:endParaRPr>
          </a:p>
          <a:p>
            <a:pPr marL="482600" marR="0" lvl="0" indent="-457200" algn="l" rtl="0">
              <a:spcBef>
                <a:spcPts val="485"/>
              </a:spcBef>
              <a:spcAft>
                <a:spcPts val="0"/>
              </a:spcAft>
              <a:buClr>
                <a:schemeClr val="dk1"/>
              </a:buClr>
              <a:buSzPts val="24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Garantir </a:t>
            </a:r>
            <a:r>
              <a:rPr lang="fr-FR" sz="2000" dirty="0">
                <a:solidFill>
                  <a:srgbClr val="CC0000"/>
                </a:solidFill>
                <a:latin typeface="Times New Roman" panose="02020603050405020304" pitchFamily="18" charset="0"/>
                <a:cs typeface="Times New Roman" panose="02020603050405020304" pitchFamily="18" charset="0"/>
                <a:sym typeface="Arial" panose="020B0604020202020204"/>
              </a:rPr>
              <a:t>l’interopérabilité</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 et donner lieu à des systèmes plus ouverts que ceux utilisant des protocoles tels que RPC, DCOM, RMI… ;</a:t>
            </a:r>
            <a:endParaRPr sz="2000" dirty="0">
              <a:latin typeface="Times New Roman" panose="02020603050405020304" pitchFamily="18" charset="0"/>
              <a:cs typeface="Times New Roman" panose="02020603050405020304" pitchFamily="18" charset="0"/>
            </a:endParaRPr>
          </a:p>
          <a:p>
            <a:pPr marL="482600" marR="0" lvl="0" indent="-457200" algn="l" rtl="0">
              <a:spcBef>
                <a:spcPts val="485"/>
              </a:spcBef>
              <a:spcAft>
                <a:spcPts val="0"/>
              </a:spcAft>
              <a:buClr>
                <a:schemeClr val="dk1"/>
              </a:buClr>
              <a:buSzPts val="24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Réutilisables dans un environnement ouvert;</a:t>
            </a:r>
            <a:endParaRPr sz="2000" dirty="0">
              <a:latin typeface="Times New Roman" panose="02020603050405020304" pitchFamily="18" charset="0"/>
              <a:cs typeface="Times New Roman" panose="02020603050405020304" pitchFamily="18" charset="0"/>
            </a:endParaRPr>
          </a:p>
          <a:p>
            <a:pPr marL="482600" marR="0" lvl="0" indent="-457200" algn="l" rtl="0">
              <a:spcBef>
                <a:spcPts val="485"/>
              </a:spcBef>
              <a:spcAft>
                <a:spcPts val="0"/>
              </a:spcAft>
              <a:buNone/>
            </a:pPr>
            <a:endParaRPr sz="2000"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482600" marR="0" lvl="0" indent="-457200" algn="l" rtl="0">
              <a:spcBef>
                <a:spcPts val="485"/>
              </a:spcBef>
              <a:spcAft>
                <a:spcPts val="0"/>
              </a:spcAft>
              <a:buClr>
                <a:schemeClr val="dk1"/>
              </a:buClr>
              <a:buSzPts val="24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Garantir un </a:t>
            </a:r>
            <a:r>
              <a:rPr lang="fr-FR" sz="2000" dirty="0">
                <a:solidFill>
                  <a:srgbClr val="CC0000"/>
                </a:solidFill>
                <a:latin typeface="Times New Roman" panose="02020603050405020304" pitchFamily="18" charset="0"/>
                <a:cs typeface="Times New Roman" panose="02020603050405020304" pitchFamily="18" charset="0"/>
                <a:sym typeface="Arial" panose="020B0604020202020204"/>
              </a:rPr>
              <a:t>couplage lâche</a:t>
            </a:r>
            <a:r>
              <a:rPr lang="fr-FR" sz="2000" dirty="0">
                <a:solidFill>
                  <a:schemeClr val="dk1"/>
                </a:solidFill>
                <a:latin typeface="Times New Roman" panose="02020603050405020304" pitchFamily="18" charset="0"/>
                <a:cs typeface="Times New Roman" panose="02020603050405020304" pitchFamily="18" charset="0"/>
                <a:sym typeface="Arial" panose="020B0604020202020204"/>
              </a:rPr>
              <a:t>.</a:t>
            </a:r>
            <a:endParaRPr sz="2000" dirty="0">
              <a:latin typeface="Times New Roman" panose="02020603050405020304" pitchFamily="18" charset="0"/>
              <a:cs typeface="Times New Roman" panose="02020603050405020304" pitchFamily="18" charset="0"/>
            </a:endParaRPr>
          </a:p>
          <a:p>
            <a:pPr marL="482600" marR="0" lvl="0" indent="-457200" algn="l" rtl="0">
              <a:lnSpc>
                <a:spcPct val="100000"/>
              </a:lnSpc>
              <a:spcBef>
                <a:spcPts val="485"/>
              </a:spcBef>
              <a:spcAft>
                <a:spcPts val="0"/>
              </a:spcAft>
              <a:buNone/>
            </a:pPr>
            <a:endParaRPr sz="2400"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pic>
        <p:nvPicPr>
          <p:cNvPr id="3" name="Google Shape;63;p1" descr="Picture 3">
            <a:extLst>
              <a:ext uri="{FF2B5EF4-FFF2-40B4-BE49-F238E27FC236}">
                <a16:creationId xmlns:a16="http://schemas.microsoft.com/office/drawing/2014/main" id="{6B919256-56F9-E57E-1EC2-1876C2049069}"/>
              </a:ext>
            </a:extLst>
          </p:cNvPr>
          <p:cNvPicPr preferRelativeResize="0"/>
          <p:nvPr/>
        </p:nvPicPr>
        <p:blipFill rotWithShape="1">
          <a:blip r:embed="rId5"/>
          <a:srcRect/>
          <a:stretch>
            <a:fillRect/>
          </a:stretch>
        </p:blipFill>
        <p:spPr>
          <a:xfrm flipH="1">
            <a:off x="9682238" y="71322"/>
            <a:ext cx="2846625" cy="152544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2" name="Google Shape;59;p1"/>
          <p:cNvGrpSpPr/>
          <p:nvPr/>
        </p:nvGrpSpPr>
        <p:grpSpPr>
          <a:xfrm>
            <a:off x="0" y="0"/>
            <a:ext cx="12504712" cy="8829600"/>
            <a:chOff x="0" y="0"/>
            <a:chExt cx="12192000" cy="6858000"/>
          </a:xfrm>
        </p:grpSpPr>
        <p:sp>
          <p:nvSpPr>
            <p:cNvPr id="60" name="Google Shape;60;p1"/>
            <p:cNvSpPr/>
            <p:nvPr/>
          </p:nvSpPr>
          <p:spPr>
            <a:xfrm>
              <a:off x="0" y="0"/>
              <a:ext cx="12192000" cy="6858000"/>
            </a:xfrm>
            <a:prstGeom prst="rect">
              <a:avLst/>
            </a:prstGeom>
            <a:blipFill rotWithShape="1">
              <a:blip r:embed="rId3" cstate="print"/>
              <a:tile tx="0" ty="0" sx="100000" sy="100000" flip="none" algn="tl"/>
            </a:blip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61" name="Google Shape;61;p1" descr="image2.png"/>
            <p:cNvPicPr preferRelativeResize="0"/>
            <p:nvPr/>
          </p:nvPicPr>
          <p:blipFill rotWithShape="1">
            <a:blip r:embed="rId4" cstate="print"/>
            <a:srcRect/>
            <a:stretch>
              <a:fillRect/>
            </a:stretch>
          </p:blipFill>
          <p:spPr>
            <a:xfrm>
              <a:off x="0" y="0"/>
              <a:ext cx="12192000" cy="6858000"/>
            </a:xfrm>
            <a:prstGeom prst="rect">
              <a:avLst/>
            </a:prstGeom>
            <a:noFill/>
            <a:ln>
              <a:noFill/>
            </a:ln>
          </p:spPr>
        </p:pic>
      </p:grpSp>
      <p:pic>
        <p:nvPicPr>
          <p:cNvPr id="63" name="Google Shape;63;p1" descr="Picture 3"/>
          <p:cNvPicPr preferRelativeResize="0"/>
          <p:nvPr/>
        </p:nvPicPr>
        <p:blipFill rotWithShape="1">
          <a:blip r:embed="rId5" cstate="print"/>
          <a:srcRect/>
          <a:stretch>
            <a:fillRect/>
          </a:stretch>
        </p:blipFill>
        <p:spPr>
          <a:xfrm flipH="1">
            <a:off x="9264351" y="-41780"/>
            <a:ext cx="3273468" cy="1794380"/>
          </a:xfrm>
          <a:prstGeom prst="rect">
            <a:avLst/>
          </a:prstGeom>
          <a:noFill/>
          <a:ln>
            <a:noFill/>
          </a:ln>
        </p:spPr>
      </p:pic>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panose="020F0502020204030204"/>
              <a:buNone/>
            </a:pPr>
            <a:fld id="{00000000-1234-1234-1234-123412341234}" type="slidenum">
              <a:rPr lang="fr-FR"/>
              <a:t>49</a:t>
            </a:fld>
            <a:endParaRPr lang="fr-FR"/>
          </a:p>
        </p:txBody>
      </p:sp>
      <p:sp>
        <p:nvSpPr>
          <p:cNvPr id="5" name="Espace réservé du texte 2"/>
          <p:cNvSpPr>
            <a:spLocks noGrp="1"/>
          </p:cNvSpPr>
          <p:nvPr>
            <p:ph type="body" idx="1"/>
          </p:nvPr>
        </p:nvSpPr>
        <p:spPr>
          <a:xfrm>
            <a:off x="1814721" y="2513008"/>
            <a:ext cx="8202636" cy="2422825"/>
          </a:xfrm>
        </p:spPr>
        <p:txBody>
          <a:bodyPr>
            <a:normAutofit/>
          </a:bodyPr>
          <a:lstStyle/>
          <a:p>
            <a:pPr marL="114300" indent="0">
              <a:buNone/>
            </a:pPr>
            <a:r>
              <a:rPr lang="fr-FR" sz="6000" b="1" kern="1200" spc="100" dirty="0">
                <a:solidFill>
                  <a:srgbClr val="C00000"/>
                </a:solidFill>
                <a:latin typeface="Times New Roman" panose="02020603050405020304" pitchFamily="18" charset="0"/>
                <a:ea typeface="+mj-ea"/>
                <a:cs typeface="Times New Roman" panose="02020603050405020304" pitchFamily="18" charset="0"/>
                <a:sym typeface="Times New Roman" panose="02020603050405020304"/>
              </a:rPr>
              <a:t>L’architecture SOA</a:t>
            </a:r>
            <a:endParaRPr lang="fr-FR" sz="28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oogle Shape;319;g25b1bb62912_0_68" descr="Picture 2"/>
          <p:cNvPicPr preferRelativeResize="0"/>
          <p:nvPr/>
        </p:nvPicPr>
        <p:blipFill rotWithShape="1">
          <a:blip r:embed="rId2"/>
          <a:srcRect/>
          <a:stretch>
            <a:fillRect/>
          </a:stretch>
        </p:blipFill>
        <p:spPr>
          <a:xfrm>
            <a:off x="-791737" y="-50971"/>
            <a:ext cx="13070823" cy="6886241"/>
          </a:xfrm>
          <a:prstGeom prst="rect">
            <a:avLst/>
          </a:prstGeom>
          <a:noFill/>
          <a:ln>
            <a:noFill/>
          </a:ln>
        </p:spPr>
      </p:pic>
      <p:sp>
        <p:nvSpPr>
          <p:cNvPr id="2" name="object 2"/>
          <p:cNvSpPr txBox="1"/>
          <p:nvPr/>
        </p:nvSpPr>
        <p:spPr>
          <a:xfrm>
            <a:off x="1567998" y="2609496"/>
            <a:ext cx="3818004" cy="1381313"/>
          </a:xfrm>
          <a:prstGeom prst="rect">
            <a:avLst/>
          </a:prstGeom>
        </p:spPr>
        <p:txBody>
          <a:bodyPr vert="horz" wrap="square" lIns="0" tIns="12102" rIns="0" bIns="0" rtlCol="0">
            <a:spAutoFit/>
          </a:bodyPr>
          <a:lstStyle/>
          <a:p>
            <a:pPr marL="285115" marR="4445" indent="-274320">
              <a:lnSpc>
                <a:spcPct val="100000"/>
              </a:lnSpc>
              <a:spcBef>
                <a:spcPts val="95"/>
              </a:spcBef>
              <a:buChar char="•"/>
              <a:tabLst>
                <a:tab pos="285115" algn="l"/>
              </a:tabLst>
            </a:pPr>
            <a:r>
              <a:rPr sz="2225" dirty="0">
                <a:latin typeface="Times New Roman" panose="02020603050405020304"/>
                <a:cs typeface="Times New Roman" panose="02020603050405020304"/>
              </a:rPr>
              <a:t>L'architecture</a:t>
            </a:r>
            <a:r>
              <a:rPr sz="2225" spc="-50" dirty="0">
                <a:latin typeface="Times New Roman" panose="02020603050405020304"/>
                <a:cs typeface="Times New Roman" panose="02020603050405020304"/>
              </a:rPr>
              <a:t> </a:t>
            </a:r>
            <a:r>
              <a:rPr sz="2225" dirty="0">
                <a:latin typeface="Times New Roman" panose="02020603050405020304"/>
                <a:cs typeface="Times New Roman" panose="02020603050405020304"/>
              </a:rPr>
              <a:t>orientée</a:t>
            </a:r>
            <a:r>
              <a:rPr sz="2225" spc="-45" dirty="0">
                <a:latin typeface="Times New Roman" panose="02020603050405020304"/>
                <a:cs typeface="Times New Roman" panose="02020603050405020304"/>
              </a:rPr>
              <a:t> </a:t>
            </a:r>
            <a:r>
              <a:rPr sz="2225" spc="-9" dirty="0">
                <a:latin typeface="Times New Roman" panose="02020603050405020304"/>
                <a:cs typeface="Times New Roman" panose="02020603050405020304"/>
              </a:rPr>
              <a:t>services </a:t>
            </a:r>
            <a:r>
              <a:rPr sz="2225" dirty="0">
                <a:latin typeface="Times New Roman" panose="02020603050405020304"/>
                <a:cs typeface="Times New Roman" panose="02020603050405020304"/>
              </a:rPr>
              <a:t>concerne</a:t>
            </a:r>
            <a:r>
              <a:rPr sz="2225" spc="-45" dirty="0">
                <a:latin typeface="Times New Roman" panose="02020603050405020304"/>
                <a:cs typeface="Times New Roman" panose="02020603050405020304"/>
              </a:rPr>
              <a:t> </a:t>
            </a:r>
            <a:r>
              <a:rPr sz="2225" dirty="0">
                <a:latin typeface="Times New Roman" panose="02020603050405020304"/>
                <a:cs typeface="Times New Roman" panose="02020603050405020304"/>
              </a:rPr>
              <a:t>la</a:t>
            </a:r>
            <a:r>
              <a:rPr sz="2225" spc="-14" dirty="0">
                <a:latin typeface="Times New Roman" panose="02020603050405020304"/>
                <a:cs typeface="Times New Roman" panose="02020603050405020304"/>
              </a:rPr>
              <a:t> </a:t>
            </a:r>
            <a:r>
              <a:rPr sz="2225" dirty="0">
                <a:latin typeface="Times New Roman" panose="02020603050405020304"/>
                <a:cs typeface="Times New Roman" panose="02020603050405020304"/>
              </a:rPr>
              <a:t>manière</a:t>
            </a:r>
            <a:r>
              <a:rPr sz="2225" spc="-32" dirty="0">
                <a:latin typeface="Times New Roman" panose="02020603050405020304"/>
                <a:cs typeface="Times New Roman" panose="02020603050405020304"/>
              </a:rPr>
              <a:t> </a:t>
            </a:r>
            <a:r>
              <a:rPr sz="2225" dirty="0">
                <a:latin typeface="Times New Roman" panose="02020603050405020304"/>
                <a:cs typeface="Times New Roman" panose="02020603050405020304"/>
              </a:rPr>
              <a:t>de</a:t>
            </a:r>
            <a:r>
              <a:rPr sz="2225" spc="-14" dirty="0">
                <a:latin typeface="Times New Roman" panose="02020603050405020304"/>
                <a:cs typeface="Times New Roman" panose="02020603050405020304"/>
              </a:rPr>
              <a:t> </a:t>
            </a:r>
            <a:r>
              <a:rPr sz="2225" spc="-9" dirty="0">
                <a:latin typeface="Times New Roman" panose="02020603050405020304"/>
                <a:cs typeface="Times New Roman" panose="02020603050405020304"/>
              </a:rPr>
              <a:t>créer, </a:t>
            </a:r>
            <a:r>
              <a:rPr sz="2225" dirty="0">
                <a:solidFill>
                  <a:srgbClr val="C04F4D"/>
                </a:solidFill>
                <a:latin typeface="Times New Roman" panose="02020603050405020304"/>
                <a:cs typeface="Times New Roman" panose="02020603050405020304"/>
              </a:rPr>
              <a:t>d'utiliser</a:t>
            </a:r>
            <a:r>
              <a:rPr sz="2225" spc="-27" dirty="0">
                <a:solidFill>
                  <a:srgbClr val="C04F4D"/>
                </a:solidFill>
                <a:latin typeface="Times New Roman" panose="02020603050405020304"/>
                <a:cs typeface="Times New Roman" panose="02020603050405020304"/>
              </a:rPr>
              <a:t> </a:t>
            </a:r>
            <a:r>
              <a:rPr sz="2225" dirty="0">
                <a:solidFill>
                  <a:srgbClr val="C04F4D"/>
                </a:solidFill>
                <a:latin typeface="Times New Roman" panose="02020603050405020304"/>
                <a:cs typeface="Times New Roman" panose="02020603050405020304"/>
              </a:rPr>
              <a:t>et</a:t>
            </a:r>
            <a:r>
              <a:rPr sz="2225" spc="-14" dirty="0">
                <a:solidFill>
                  <a:srgbClr val="C04F4D"/>
                </a:solidFill>
                <a:latin typeface="Times New Roman" panose="02020603050405020304"/>
                <a:cs typeface="Times New Roman" panose="02020603050405020304"/>
              </a:rPr>
              <a:t> </a:t>
            </a:r>
            <a:r>
              <a:rPr sz="2225" dirty="0">
                <a:solidFill>
                  <a:srgbClr val="C04F4D"/>
                </a:solidFill>
                <a:latin typeface="Times New Roman" panose="02020603050405020304"/>
                <a:cs typeface="Times New Roman" panose="02020603050405020304"/>
              </a:rPr>
              <a:t>de</a:t>
            </a:r>
            <a:r>
              <a:rPr sz="2225" spc="-9" dirty="0">
                <a:solidFill>
                  <a:srgbClr val="C04F4D"/>
                </a:solidFill>
                <a:latin typeface="Times New Roman" panose="02020603050405020304"/>
                <a:cs typeface="Times New Roman" panose="02020603050405020304"/>
              </a:rPr>
              <a:t> </a:t>
            </a:r>
            <a:r>
              <a:rPr sz="2225" dirty="0">
                <a:solidFill>
                  <a:srgbClr val="C04F4D"/>
                </a:solidFill>
                <a:latin typeface="Times New Roman" panose="02020603050405020304"/>
                <a:cs typeface="Times New Roman" panose="02020603050405020304"/>
              </a:rPr>
              <a:t>combiner</a:t>
            </a:r>
            <a:r>
              <a:rPr sz="2225" spc="-27" dirty="0">
                <a:solidFill>
                  <a:srgbClr val="C04F4D"/>
                </a:solidFill>
                <a:latin typeface="Times New Roman" panose="02020603050405020304"/>
                <a:cs typeface="Times New Roman" panose="02020603050405020304"/>
              </a:rPr>
              <a:t> </a:t>
            </a:r>
            <a:r>
              <a:rPr sz="2225" spc="-23" dirty="0">
                <a:solidFill>
                  <a:srgbClr val="C04F4D"/>
                </a:solidFill>
                <a:latin typeface="Times New Roman" panose="02020603050405020304"/>
                <a:cs typeface="Times New Roman" panose="02020603050405020304"/>
              </a:rPr>
              <a:t>des </a:t>
            </a:r>
            <a:r>
              <a:rPr sz="2225" b="1" spc="-9" dirty="0">
                <a:solidFill>
                  <a:srgbClr val="C04F4D"/>
                </a:solidFill>
                <a:latin typeface="Times New Roman" panose="02020603050405020304"/>
                <a:cs typeface="Times New Roman" panose="02020603050405020304"/>
              </a:rPr>
              <a:t>services</a:t>
            </a:r>
            <a:r>
              <a:rPr sz="2225" spc="-9" dirty="0">
                <a:latin typeface="Times New Roman" panose="02020603050405020304"/>
                <a:cs typeface="Times New Roman" panose="02020603050405020304"/>
              </a:rPr>
              <a:t>.</a:t>
            </a:r>
            <a:endParaRPr sz="2225">
              <a:latin typeface="Times New Roman" panose="02020603050405020304"/>
              <a:cs typeface="Times New Roman" panose="02020603050405020304"/>
            </a:endParaRPr>
          </a:p>
        </p:txBody>
      </p:sp>
      <p:pic>
        <p:nvPicPr>
          <p:cNvPr id="4" name="object 4"/>
          <p:cNvPicPr/>
          <p:nvPr/>
        </p:nvPicPr>
        <p:blipFill>
          <a:blip r:embed="rId3" cstate="print"/>
          <a:stretch>
            <a:fillRect/>
          </a:stretch>
        </p:blipFill>
        <p:spPr>
          <a:xfrm>
            <a:off x="6035954" y="3080221"/>
            <a:ext cx="803596" cy="1388659"/>
          </a:xfrm>
          <a:prstGeom prst="rect">
            <a:avLst/>
          </a:prstGeom>
        </p:spPr>
      </p:pic>
      <p:grpSp>
        <p:nvGrpSpPr>
          <p:cNvPr id="5" name="object 5"/>
          <p:cNvGrpSpPr/>
          <p:nvPr/>
        </p:nvGrpSpPr>
        <p:grpSpPr>
          <a:xfrm>
            <a:off x="6899025" y="2228217"/>
            <a:ext cx="3845090" cy="3082065"/>
            <a:chOff x="6231514" y="2455164"/>
            <a:chExt cx="4236720" cy="3395979"/>
          </a:xfrm>
        </p:grpSpPr>
        <p:pic>
          <p:nvPicPr>
            <p:cNvPr id="6" name="object 6"/>
            <p:cNvPicPr/>
            <p:nvPr/>
          </p:nvPicPr>
          <p:blipFill>
            <a:blip r:embed="rId4" cstate="print"/>
            <a:stretch>
              <a:fillRect/>
            </a:stretch>
          </p:blipFill>
          <p:spPr>
            <a:xfrm>
              <a:off x="6984369" y="2455164"/>
              <a:ext cx="3483864" cy="3395471"/>
            </a:xfrm>
            <a:prstGeom prst="rect">
              <a:avLst/>
            </a:prstGeom>
          </p:spPr>
        </p:pic>
        <p:sp>
          <p:nvSpPr>
            <p:cNvPr id="7" name="object 7"/>
            <p:cNvSpPr/>
            <p:nvPr/>
          </p:nvSpPr>
          <p:spPr>
            <a:xfrm>
              <a:off x="6231514" y="4108704"/>
              <a:ext cx="759460" cy="85725"/>
            </a:xfrm>
            <a:custGeom>
              <a:avLst/>
              <a:gdLst/>
              <a:ahLst/>
              <a:cxnLst/>
              <a:rect l="l" t="t" r="r" b="b"/>
              <a:pathLst>
                <a:path w="759459" h="85725">
                  <a:moveTo>
                    <a:pt x="741709" y="41984"/>
                  </a:moveTo>
                  <a:lnTo>
                    <a:pt x="735135" y="38249"/>
                  </a:lnTo>
                  <a:lnTo>
                    <a:pt x="0" y="45720"/>
                  </a:lnTo>
                  <a:lnTo>
                    <a:pt x="0" y="53340"/>
                  </a:lnTo>
                  <a:lnTo>
                    <a:pt x="732572" y="47384"/>
                  </a:lnTo>
                  <a:lnTo>
                    <a:pt x="741709" y="41984"/>
                  </a:lnTo>
                  <a:close/>
                </a:path>
                <a:path w="759459" h="85725">
                  <a:moveTo>
                    <a:pt x="758952" y="42672"/>
                  </a:moveTo>
                  <a:lnTo>
                    <a:pt x="684276" y="0"/>
                  </a:lnTo>
                  <a:lnTo>
                    <a:pt x="681228" y="0"/>
                  </a:lnTo>
                  <a:lnTo>
                    <a:pt x="679704" y="1524"/>
                  </a:lnTo>
                  <a:lnTo>
                    <a:pt x="678180" y="4572"/>
                  </a:lnTo>
                  <a:lnTo>
                    <a:pt x="681228" y="7620"/>
                  </a:lnTo>
                  <a:lnTo>
                    <a:pt x="735135" y="38249"/>
                  </a:lnTo>
                  <a:lnTo>
                    <a:pt x="741709" y="38182"/>
                  </a:lnTo>
                  <a:lnTo>
                    <a:pt x="749808" y="38100"/>
                  </a:lnTo>
                  <a:lnTo>
                    <a:pt x="749808" y="48006"/>
                  </a:lnTo>
                  <a:lnTo>
                    <a:pt x="758952" y="42672"/>
                  </a:lnTo>
                  <a:close/>
                </a:path>
                <a:path w="759459" h="85725">
                  <a:moveTo>
                    <a:pt x="749808" y="48006"/>
                  </a:moveTo>
                  <a:lnTo>
                    <a:pt x="749808" y="47244"/>
                  </a:lnTo>
                  <a:lnTo>
                    <a:pt x="741709" y="47309"/>
                  </a:lnTo>
                  <a:lnTo>
                    <a:pt x="732572" y="47384"/>
                  </a:lnTo>
                  <a:lnTo>
                    <a:pt x="681228" y="77724"/>
                  </a:lnTo>
                  <a:lnTo>
                    <a:pt x="679704" y="80772"/>
                  </a:lnTo>
                  <a:lnTo>
                    <a:pt x="679704" y="83820"/>
                  </a:lnTo>
                  <a:lnTo>
                    <a:pt x="682752" y="85344"/>
                  </a:lnTo>
                  <a:lnTo>
                    <a:pt x="685800" y="85344"/>
                  </a:lnTo>
                  <a:lnTo>
                    <a:pt x="749808" y="48006"/>
                  </a:lnTo>
                  <a:close/>
                </a:path>
                <a:path w="759459" h="85725">
                  <a:moveTo>
                    <a:pt x="748257" y="47256"/>
                  </a:moveTo>
                  <a:lnTo>
                    <a:pt x="748257" y="45704"/>
                  </a:lnTo>
                  <a:lnTo>
                    <a:pt x="741709" y="41984"/>
                  </a:lnTo>
                  <a:lnTo>
                    <a:pt x="732572" y="47384"/>
                  </a:lnTo>
                  <a:lnTo>
                    <a:pt x="741709" y="47309"/>
                  </a:lnTo>
                  <a:lnTo>
                    <a:pt x="748257" y="47256"/>
                  </a:lnTo>
                  <a:close/>
                </a:path>
                <a:path w="759459" h="85725">
                  <a:moveTo>
                    <a:pt x="748257" y="38115"/>
                  </a:moveTo>
                  <a:lnTo>
                    <a:pt x="741709" y="38182"/>
                  </a:lnTo>
                  <a:lnTo>
                    <a:pt x="735135" y="38249"/>
                  </a:lnTo>
                  <a:lnTo>
                    <a:pt x="741709" y="41984"/>
                  </a:lnTo>
                  <a:lnTo>
                    <a:pt x="748257" y="38115"/>
                  </a:lnTo>
                  <a:close/>
                </a:path>
                <a:path w="759459" h="85725">
                  <a:moveTo>
                    <a:pt x="749808" y="47244"/>
                  </a:moveTo>
                  <a:lnTo>
                    <a:pt x="749808" y="38100"/>
                  </a:lnTo>
                  <a:lnTo>
                    <a:pt x="748257" y="38115"/>
                  </a:lnTo>
                  <a:lnTo>
                    <a:pt x="741709" y="41984"/>
                  </a:lnTo>
                  <a:lnTo>
                    <a:pt x="748257" y="45704"/>
                  </a:lnTo>
                  <a:lnTo>
                    <a:pt x="748257" y="47256"/>
                  </a:lnTo>
                  <a:lnTo>
                    <a:pt x="749808" y="47244"/>
                  </a:lnTo>
                  <a:close/>
                </a:path>
              </a:pathLst>
            </a:custGeom>
            <a:solidFill>
              <a:srgbClr val="4A7EBA"/>
            </a:solidFill>
          </p:spPr>
          <p:txBody>
            <a:bodyPr wrap="square" lIns="0" tIns="0" rIns="0" bIns="0" rtlCol="0"/>
            <a:lstStyle/>
            <a:p>
              <a:endParaRPr sz="1270"/>
            </a:p>
          </p:txBody>
        </p:sp>
      </p:grpSp>
      <p:sp>
        <p:nvSpPr>
          <p:cNvPr id="9" name="object 9"/>
          <p:cNvSpPr txBox="1"/>
          <p:nvPr/>
        </p:nvSpPr>
        <p:spPr>
          <a:xfrm>
            <a:off x="10052555" y="5814712"/>
            <a:ext cx="206893" cy="151298"/>
          </a:xfrm>
          <a:prstGeom prst="rect">
            <a:avLst/>
          </a:prstGeom>
        </p:spPr>
        <p:txBody>
          <a:bodyPr vert="horz" wrap="square" lIns="0" tIns="4610" rIns="0" bIns="0" rtlCol="0">
            <a:spAutoFit/>
          </a:bodyPr>
          <a:lstStyle/>
          <a:p>
            <a:pPr marL="34290">
              <a:spcBef>
                <a:spcPts val="35"/>
              </a:spcBef>
            </a:pPr>
            <a:fld id="{81D60167-4931-47E6-BA6A-407CBD079E47}" type="slidenum">
              <a:rPr sz="955" spc="-23" dirty="0">
                <a:solidFill>
                  <a:srgbClr val="878787"/>
                </a:solidFill>
                <a:latin typeface="Trebuchet MS" panose="020B0603020202020204"/>
                <a:cs typeface="Trebuchet MS" panose="020B0603020202020204"/>
              </a:rPr>
              <a:t>50</a:t>
            </a:fld>
            <a:endParaRPr sz="955">
              <a:latin typeface="Trebuchet MS" panose="020B0603020202020204"/>
              <a:cs typeface="Trebuchet MS" panose="020B0603020202020204"/>
            </a:endParaRPr>
          </a:p>
        </p:txBody>
      </p:sp>
      <p:pic>
        <p:nvPicPr>
          <p:cNvPr id="19" name="Google Shape;320;g25b1bb62912_0_68" descr="Image 10">
            <a:extLst>
              <a:ext uri="{FF2B5EF4-FFF2-40B4-BE49-F238E27FC236}">
                <a16:creationId xmlns:a16="http://schemas.microsoft.com/office/drawing/2014/main" id="{AE7180FA-6069-5EFF-D15D-FAAAE19A1D95}"/>
              </a:ext>
            </a:extLst>
          </p:cNvPr>
          <p:cNvPicPr preferRelativeResize="0"/>
          <p:nvPr/>
        </p:nvPicPr>
        <p:blipFill rotWithShape="1">
          <a:blip r:embed="rId5"/>
          <a:srcRect/>
          <a:stretch>
            <a:fillRect/>
          </a:stretch>
        </p:blipFill>
        <p:spPr>
          <a:xfrm>
            <a:off x="831813" y="590085"/>
            <a:ext cx="585321" cy="579782"/>
          </a:xfrm>
          <a:prstGeom prst="rect">
            <a:avLst/>
          </a:prstGeom>
          <a:noFill/>
          <a:ln>
            <a:noFill/>
          </a:ln>
        </p:spPr>
      </p:pic>
      <p:sp>
        <p:nvSpPr>
          <p:cNvPr id="20" name="Google Shape;324;g25b1bb62912_0_68">
            <a:extLst>
              <a:ext uri="{FF2B5EF4-FFF2-40B4-BE49-F238E27FC236}">
                <a16:creationId xmlns:a16="http://schemas.microsoft.com/office/drawing/2014/main" id="{6C907EDD-30BD-45A8-2184-0F0738EFFE2E}"/>
              </a:ext>
            </a:extLst>
          </p:cNvPr>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Présentation SOA</a:t>
            </a:r>
          </a:p>
        </p:txBody>
      </p:sp>
      <p:pic>
        <p:nvPicPr>
          <p:cNvPr id="21" name="Google Shape;63;p1" descr="Picture 3">
            <a:extLst>
              <a:ext uri="{FF2B5EF4-FFF2-40B4-BE49-F238E27FC236}">
                <a16:creationId xmlns:a16="http://schemas.microsoft.com/office/drawing/2014/main" id="{31798348-06FC-7B9B-C15D-7CD0DCA5FE42}"/>
              </a:ext>
            </a:extLst>
          </p:cNvPr>
          <p:cNvPicPr preferRelativeResize="0"/>
          <p:nvPr/>
        </p:nvPicPr>
        <p:blipFill rotWithShape="1">
          <a:blip r:embed="rId6"/>
          <a:srcRect/>
          <a:stretch>
            <a:fillRect/>
          </a:stretch>
        </p:blipFill>
        <p:spPr>
          <a:xfrm flipH="1">
            <a:off x="9320801" y="22730"/>
            <a:ext cx="2846625" cy="15254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oogle Shape;319;g25b1bb62912_0_68" descr="Picture 2"/>
          <p:cNvPicPr preferRelativeResize="0"/>
          <p:nvPr/>
        </p:nvPicPr>
        <p:blipFill rotWithShape="1">
          <a:blip r:embed="rId2"/>
          <a:srcRect/>
          <a:stretch>
            <a:fillRect/>
          </a:stretch>
        </p:blipFill>
        <p:spPr>
          <a:xfrm>
            <a:off x="0" y="-28241"/>
            <a:ext cx="12652622" cy="6886241"/>
          </a:xfrm>
          <a:prstGeom prst="rect">
            <a:avLst/>
          </a:prstGeom>
          <a:noFill/>
          <a:ln>
            <a:noFill/>
          </a:ln>
        </p:spPr>
      </p:pic>
      <p:sp>
        <p:nvSpPr>
          <p:cNvPr id="2" name="object 2"/>
          <p:cNvSpPr txBox="1"/>
          <p:nvPr/>
        </p:nvSpPr>
        <p:spPr>
          <a:xfrm>
            <a:off x="1989850" y="2241586"/>
            <a:ext cx="9280653" cy="2183515"/>
          </a:xfrm>
          <a:prstGeom prst="rect">
            <a:avLst/>
          </a:prstGeom>
        </p:spPr>
        <p:txBody>
          <a:bodyPr vert="horz" wrap="square" lIns="0" tIns="11526" rIns="0" bIns="0" rtlCol="0">
            <a:spAutoFit/>
          </a:bodyPr>
          <a:lstStyle/>
          <a:p>
            <a:pPr marL="285115" marR="20955" indent="-274320">
              <a:spcBef>
                <a:spcPts val="90"/>
              </a:spcBef>
              <a:buChar char="•"/>
              <a:tabLst>
                <a:tab pos="285115" algn="l"/>
                <a:tab pos="3788410" algn="l"/>
                <a:tab pos="5756910" algn="l"/>
              </a:tabLst>
            </a:pPr>
            <a:r>
              <a:rPr sz="1905" dirty="0">
                <a:latin typeface="Times New Roman" panose="02020603050405020304" pitchFamily="18" charset="0"/>
                <a:cs typeface="Times New Roman" panose="02020603050405020304" pitchFamily="18" charset="0"/>
              </a:rPr>
              <a:t>“</a:t>
            </a:r>
            <a:r>
              <a:rPr sz="1905" spc="-27" dirty="0">
                <a:latin typeface="Times New Roman" panose="02020603050405020304" pitchFamily="18" charset="0"/>
                <a:cs typeface="Times New Roman" panose="02020603050405020304" pitchFamily="18" charset="0"/>
              </a:rPr>
              <a:t> </a:t>
            </a:r>
            <a:r>
              <a:rPr sz="1905" spc="-18" dirty="0">
                <a:latin typeface="Times New Roman" panose="02020603050405020304" pitchFamily="18" charset="0"/>
                <a:cs typeface="Times New Roman" panose="02020603050405020304" pitchFamily="18" charset="0"/>
              </a:rPr>
              <a:t>L’architecture</a:t>
            </a:r>
            <a:r>
              <a:rPr sz="1905" spc="-2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orientée</a:t>
            </a:r>
            <a:r>
              <a:rPr sz="1905" spc="-2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a:t>
            </a:r>
            <a:r>
              <a:rPr sz="1905" spc="-1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constitue</a:t>
            </a:r>
            <a:r>
              <a:rPr sz="1905" spc="-91"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un</a:t>
            </a:r>
            <a:r>
              <a:rPr sz="1905" spc="-23" dirty="0">
                <a:latin typeface="Times New Roman" panose="02020603050405020304" pitchFamily="18" charset="0"/>
                <a:cs typeface="Times New Roman" panose="02020603050405020304" pitchFamily="18" charset="0"/>
              </a:rPr>
              <a:t> </a:t>
            </a:r>
            <a:r>
              <a:rPr sz="1905" b="1" spc="-9" dirty="0">
                <a:solidFill>
                  <a:srgbClr val="C00000"/>
                </a:solidFill>
                <a:latin typeface="Times New Roman" panose="02020603050405020304" pitchFamily="18" charset="0"/>
                <a:cs typeface="Times New Roman" panose="02020603050405020304" pitchFamily="18" charset="0"/>
              </a:rPr>
              <a:t>style</a:t>
            </a:r>
            <a:r>
              <a:rPr lang="fr-FR" sz="1905" b="1" spc="-9" dirty="0">
                <a:solidFill>
                  <a:srgbClr val="C00000"/>
                </a:solidFill>
                <a:latin typeface="Times New Roman" panose="02020603050405020304" pitchFamily="18" charset="0"/>
                <a:cs typeface="Times New Roman" panose="02020603050405020304" pitchFamily="18" charset="0"/>
              </a:rPr>
              <a:t> </a:t>
            </a:r>
            <a:r>
              <a:rPr sz="1905" b="1" dirty="0" err="1">
                <a:solidFill>
                  <a:srgbClr val="C00000"/>
                </a:solidFill>
                <a:latin typeface="Times New Roman" panose="02020603050405020304" pitchFamily="18" charset="0"/>
                <a:cs typeface="Times New Roman" panose="02020603050405020304" pitchFamily="18" charset="0"/>
              </a:rPr>
              <a:t>d’architecture</a:t>
            </a:r>
            <a:r>
              <a:rPr sz="1905" b="1" spc="-118" dirty="0">
                <a:solidFill>
                  <a:srgbClr val="C00000"/>
                </a:solidFill>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basée </a:t>
            </a:r>
            <a:r>
              <a:rPr sz="1905" dirty="0">
                <a:latin typeface="Times New Roman" panose="02020603050405020304" pitchFamily="18" charset="0"/>
                <a:cs typeface="Times New Roman" panose="02020603050405020304" pitchFamily="18" charset="0"/>
              </a:rPr>
              <a:t>sur</a:t>
            </a:r>
            <a:r>
              <a:rPr sz="1905" spc="-1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a:t>
            </a:r>
            <a:r>
              <a:rPr sz="1905" spc="-1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principe</a:t>
            </a:r>
            <a:r>
              <a:rPr sz="1905" spc="-2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a:t>
            </a:r>
            <a:r>
              <a:rPr sz="1905" spc="-45" dirty="0">
                <a:latin typeface="Times New Roman" panose="02020603050405020304" pitchFamily="18" charset="0"/>
                <a:cs typeface="Times New Roman" panose="02020603050405020304" pitchFamily="18" charset="0"/>
              </a:rPr>
              <a:t> </a:t>
            </a:r>
            <a:r>
              <a:rPr sz="1905" dirty="0" err="1">
                <a:latin typeface="Times New Roman" panose="02020603050405020304" pitchFamily="18" charset="0"/>
                <a:cs typeface="Times New Roman" panose="02020603050405020304" pitchFamily="18" charset="0"/>
              </a:rPr>
              <a:t>séparation</a:t>
            </a:r>
            <a:r>
              <a:rPr sz="1905" spc="-14" dirty="0">
                <a:latin typeface="Times New Roman" panose="02020603050405020304" pitchFamily="18" charset="0"/>
                <a:cs typeface="Times New Roman" panose="02020603050405020304" pitchFamily="18" charset="0"/>
              </a:rPr>
              <a:t> </a:t>
            </a:r>
            <a:r>
              <a:rPr sz="1905" spc="-23" dirty="0">
                <a:latin typeface="Times New Roman" panose="02020603050405020304" pitchFamily="18" charset="0"/>
                <a:cs typeface="Times New Roman" panose="02020603050405020304" pitchFamily="18" charset="0"/>
              </a:rPr>
              <a:t>de</a:t>
            </a:r>
            <a:r>
              <a:rPr lang="fr-FR" sz="1905" spc="-23" dirty="0">
                <a:latin typeface="Times New Roman" panose="02020603050405020304" pitchFamily="18" charset="0"/>
                <a:cs typeface="Times New Roman" panose="02020603050405020304" pitchFamily="18" charset="0"/>
              </a:rPr>
              <a:t> </a:t>
            </a:r>
            <a:r>
              <a:rPr sz="1905" dirty="0" err="1">
                <a:latin typeface="Times New Roman" panose="02020603050405020304" pitchFamily="18" charset="0"/>
                <a:cs typeface="Times New Roman" panose="02020603050405020304" pitchFamily="18" charset="0"/>
              </a:rPr>
              <a:t>l’activité</a:t>
            </a:r>
            <a:r>
              <a:rPr sz="1905" spc="-50"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métier</a:t>
            </a:r>
            <a:r>
              <a:rPr sz="1905" spc="-36"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en</a:t>
            </a:r>
            <a:r>
              <a:rPr sz="1905" spc="-1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une</a:t>
            </a:r>
            <a:r>
              <a:rPr sz="1905" spc="-1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série</a:t>
            </a:r>
            <a:r>
              <a:rPr sz="1905" spc="-5" dirty="0">
                <a:latin typeface="Times New Roman" panose="02020603050405020304" pitchFamily="18" charset="0"/>
                <a:cs typeface="Times New Roman" panose="02020603050405020304" pitchFamily="18" charset="0"/>
              </a:rPr>
              <a:t> </a:t>
            </a:r>
            <a:r>
              <a:rPr sz="1905" spc="-23" dirty="0">
                <a:solidFill>
                  <a:srgbClr val="C00000"/>
                </a:solidFill>
                <a:latin typeface="Times New Roman" panose="02020603050405020304" pitchFamily="18" charset="0"/>
                <a:cs typeface="Times New Roman" panose="02020603050405020304" pitchFamily="18" charset="0"/>
              </a:rPr>
              <a:t>de </a:t>
            </a:r>
            <a:r>
              <a:rPr sz="1905" b="1" spc="-9" dirty="0">
                <a:solidFill>
                  <a:srgbClr val="C00000"/>
                </a:solidFill>
                <a:latin typeface="Times New Roman" panose="02020603050405020304" pitchFamily="18" charset="0"/>
                <a:cs typeface="Times New Roman" panose="02020603050405020304" pitchFamily="18" charset="0"/>
              </a:rPr>
              <a:t>service</a:t>
            </a:r>
            <a:r>
              <a:rPr sz="1905" spc="-9" dirty="0">
                <a:solidFill>
                  <a:srgbClr val="C00000"/>
                </a:solidFill>
                <a:latin typeface="Times New Roman" panose="02020603050405020304" pitchFamily="18" charset="0"/>
                <a:cs typeface="Times New Roman" panose="02020603050405020304" pitchFamily="18" charset="0"/>
              </a:rPr>
              <a:t>s</a:t>
            </a:r>
            <a:r>
              <a:rPr sz="1905" spc="-9" dirty="0">
                <a:latin typeface="Times New Roman" panose="02020603050405020304" pitchFamily="18" charset="0"/>
                <a:cs typeface="Times New Roman" panose="02020603050405020304" pitchFamily="18" charset="0"/>
              </a:rPr>
              <a:t>”.</a:t>
            </a:r>
            <a:endParaRPr sz="1905" dirty="0">
              <a:latin typeface="Times New Roman" panose="02020603050405020304" pitchFamily="18" charset="0"/>
              <a:cs typeface="Times New Roman" panose="02020603050405020304" pitchFamily="18" charset="0"/>
            </a:endParaRPr>
          </a:p>
          <a:p>
            <a:pPr marL="11430">
              <a:spcBef>
                <a:spcPts val="235"/>
              </a:spcBef>
            </a:pPr>
            <a:r>
              <a:rPr sz="1905" dirty="0">
                <a:latin typeface="Times New Roman" panose="02020603050405020304" pitchFamily="18" charset="0"/>
                <a:cs typeface="Times New Roman" panose="02020603050405020304" pitchFamily="18" charset="0"/>
              </a:rPr>
              <a:t>“</a:t>
            </a:r>
            <a:r>
              <a:rPr sz="1905" spc="-1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Ces</a:t>
            </a:r>
            <a:r>
              <a:rPr sz="1905" spc="-2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services</a:t>
            </a:r>
            <a:r>
              <a:rPr sz="1905" spc="-32"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peuvent</a:t>
            </a:r>
            <a:r>
              <a:rPr sz="1905" spc="-14" dirty="0">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être</a:t>
            </a:r>
            <a:r>
              <a:rPr sz="1905" spc="-32"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assemblés</a:t>
            </a:r>
            <a:r>
              <a:rPr sz="1905" spc="-32"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et</a:t>
            </a:r>
            <a:r>
              <a:rPr sz="1905" spc="-23"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liés </a:t>
            </a:r>
            <a:r>
              <a:rPr sz="1905" dirty="0">
                <a:latin typeface="Times New Roman" panose="02020603050405020304" pitchFamily="18" charset="0"/>
                <a:cs typeface="Times New Roman" panose="02020603050405020304" pitchFamily="18" charset="0"/>
              </a:rPr>
              <a:t>entre</a:t>
            </a:r>
            <a:r>
              <a:rPr sz="1905" spc="-36" dirty="0">
                <a:latin typeface="Times New Roman" panose="02020603050405020304" pitchFamily="18" charset="0"/>
                <a:cs typeface="Times New Roman" panose="02020603050405020304" pitchFamily="18" charset="0"/>
              </a:rPr>
              <a:t> </a:t>
            </a:r>
            <a:r>
              <a:rPr sz="1905" spc="-23" dirty="0" err="1">
                <a:latin typeface="Times New Roman" panose="02020603050405020304" pitchFamily="18" charset="0"/>
                <a:cs typeface="Times New Roman" panose="02020603050405020304" pitchFamily="18" charset="0"/>
              </a:rPr>
              <a:t>eux</a:t>
            </a:r>
            <a:r>
              <a:rPr lang="fr-FR" sz="1905" spc="-23" dirty="0">
                <a:latin typeface="Times New Roman" panose="02020603050405020304" pitchFamily="18" charset="0"/>
                <a:cs typeface="Times New Roman" panose="02020603050405020304" pitchFamily="18" charset="0"/>
              </a:rPr>
              <a:t> </a:t>
            </a:r>
            <a:r>
              <a:rPr sz="1905" dirty="0" err="1">
                <a:latin typeface="Times New Roman" panose="02020603050405020304" pitchFamily="18" charset="0"/>
                <a:cs typeface="Times New Roman" panose="02020603050405020304" pitchFamily="18" charset="0"/>
              </a:rPr>
              <a:t>selon</a:t>
            </a:r>
            <a:r>
              <a:rPr sz="1905" spc="-2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a:t>
            </a:r>
            <a:r>
              <a:rPr sz="1905" spc="-77" dirty="0">
                <a:latin typeface="Times New Roman" panose="02020603050405020304" pitchFamily="18" charset="0"/>
                <a:cs typeface="Times New Roman" panose="02020603050405020304" pitchFamily="18" charset="0"/>
              </a:rPr>
              <a:t> </a:t>
            </a:r>
            <a:r>
              <a:rPr sz="1905" spc="-9" dirty="0" err="1">
                <a:latin typeface="Times New Roman" panose="02020603050405020304" pitchFamily="18" charset="0"/>
                <a:cs typeface="Times New Roman" panose="02020603050405020304" pitchFamily="18" charset="0"/>
              </a:rPr>
              <a:t>principe</a:t>
            </a:r>
            <a:r>
              <a:rPr lang="fr-FR" sz="1905" spc="-9" dirty="0">
                <a:latin typeface="Times New Roman" panose="02020603050405020304" pitchFamily="18" charset="0"/>
                <a:cs typeface="Times New Roman" panose="02020603050405020304" pitchFamily="18" charset="0"/>
              </a:rPr>
              <a:t> </a:t>
            </a:r>
            <a:r>
              <a:rPr lang="fr-FR" sz="1905" dirty="0">
                <a:latin typeface="Times New Roman" panose="02020603050405020304" pitchFamily="18" charset="0"/>
                <a:cs typeface="Times New Roman" panose="02020603050405020304" pitchFamily="18" charset="0"/>
              </a:rPr>
              <a:t>de</a:t>
            </a:r>
            <a:r>
              <a:rPr lang="fr-FR" sz="1905" spc="-27" dirty="0">
                <a:latin typeface="Times New Roman" panose="02020603050405020304" pitchFamily="18" charset="0"/>
                <a:cs typeface="Times New Roman" panose="02020603050405020304" pitchFamily="18" charset="0"/>
              </a:rPr>
              <a:t> </a:t>
            </a:r>
            <a:r>
              <a:rPr lang="fr-FR" sz="1905" dirty="0">
                <a:latin typeface="Times New Roman" panose="02020603050405020304" pitchFamily="18" charset="0"/>
                <a:cs typeface="Times New Roman" panose="02020603050405020304" pitchFamily="18" charset="0"/>
              </a:rPr>
              <a:t>couplage</a:t>
            </a:r>
            <a:r>
              <a:rPr lang="fr-FR" sz="1905" spc="-27" dirty="0">
                <a:latin typeface="Times New Roman" panose="02020603050405020304" pitchFamily="18" charset="0"/>
                <a:cs typeface="Times New Roman" panose="02020603050405020304" pitchFamily="18" charset="0"/>
              </a:rPr>
              <a:t> </a:t>
            </a:r>
            <a:r>
              <a:rPr lang="fr-FR" sz="1905" dirty="0">
                <a:latin typeface="Times New Roman" panose="02020603050405020304" pitchFamily="18" charset="0"/>
                <a:cs typeface="Times New Roman" panose="02020603050405020304" pitchFamily="18" charset="0"/>
              </a:rPr>
              <a:t>lâche pour</a:t>
            </a:r>
            <a:r>
              <a:rPr lang="fr-FR" sz="1905" spc="-27" dirty="0">
                <a:latin typeface="Times New Roman" panose="02020603050405020304" pitchFamily="18" charset="0"/>
                <a:cs typeface="Times New Roman" panose="02020603050405020304" pitchFamily="18" charset="0"/>
              </a:rPr>
              <a:t> </a:t>
            </a:r>
            <a:r>
              <a:rPr lang="fr-FR" sz="1905" spc="-9" dirty="0">
                <a:latin typeface="Times New Roman" panose="02020603050405020304" pitchFamily="18" charset="0"/>
                <a:cs typeface="Times New Roman" panose="02020603050405020304" pitchFamily="18" charset="0"/>
              </a:rPr>
              <a:t>exécuter </a:t>
            </a:r>
            <a:r>
              <a:rPr lang="fr-FR" sz="1905" dirty="0">
                <a:latin typeface="Times New Roman" panose="02020603050405020304" pitchFamily="18" charset="0"/>
                <a:cs typeface="Times New Roman" panose="02020603050405020304" pitchFamily="18" charset="0"/>
              </a:rPr>
              <a:t>l’application</a:t>
            </a:r>
            <a:r>
              <a:rPr lang="fr-FR" sz="1905" spc="-41" dirty="0">
                <a:latin typeface="Times New Roman" panose="02020603050405020304" pitchFamily="18" charset="0"/>
                <a:cs typeface="Times New Roman" panose="02020603050405020304" pitchFamily="18" charset="0"/>
              </a:rPr>
              <a:t> </a:t>
            </a:r>
            <a:r>
              <a:rPr lang="fr-FR" sz="1905" dirty="0">
                <a:latin typeface="Times New Roman" panose="02020603050405020304" pitchFamily="18" charset="0"/>
                <a:cs typeface="Times New Roman" panose="02020603050405020304" pitchFamily="18" charset="0"/>
              </a:rPr>
              <a:t>désirée.</a:t>
            </a:r>
            <a:r>
              <a:rPr lang="fr-FR" sz="1905" spc="-45" dirty="0">
                <a:latin typeface="Times New Roman" panose="02020603050405020304" pitchFamily="18" charset="0"/>
                <a:cs typeface="Times New Roman" panose="02020603050405020304" pitchFamily="18" charset="0"/>
              </a:rPr>
              <a:t> ”</a:t>
            </a:r>
            <a:endParaRPr lang="fr-FR" sz="1905" dirty="0">
              <a:latin typeface="Times New Roman" panose="02020603050405020304" pitchFamily="18" charset="0"/>
              <a:cs typeface="Times New Roman" panose="02020603050405020304" pitchFamily="18" charset="0"/>
            </a:endParaRPr>
          </a:p>
          <a:p>
            <a:pPr marL="2268220">
              <a:spcBef>
                <a:spcPts val="100"/>
              </a:spcBef>
            </a:pPr>
            <a:r>
              <a:rPr lang="fr-FR" sz="1270" i="1" dirty="0">
                <a:latin typeface="Times New Roman" panose="02020603050405020304" pitchFamily="18" charset="0"/>
                <a:cs typeface="Times New Roman" panose="02020603050405020304" pitchFamily="18" charset="0"/>
              </a:rPr>
              <a:t>					</a:t>
            </a:r>
            <a:r>
              <a:rPr lang="fr-FR" sz="1600" b="1" i="1" dirty="0">
                <a:latin typeface="Times New Roman" panose="02020603050405020304" pitchFamily="18" charset="0"/>
                <a:cs typeface="Times New Roman" panose="02020603050405020304" pitchFamily="18" charset="0"/>
              </a:rPr>
              <a:t>Gartner</a:t>
            </a:r>
            <a:r>
              <a:rPr lang="fr-FR" sz="1600" b="1" i="1" spc="-14" dirty="0">
                <a:latin typeface="Times New Roman" panose="02020603050405020304" pitchFamily="18" charset="0"/>
                <a:cs typeface="Times New Roman" panose="02020603050405020304" pitchFamily="18" charset="0"/>
              </a:rPr>
              <a:t> </a:t>
            </a:r>
            <a:r>
              <a:rPr lang="fr-FR" sz="1600" b="1" i="1" dirty="0">
                <a:latin typeface="Times New Roman" panose="02020603050405020304" pitchFamily="18" charset="0"/>
                <a:cs typeface="Times New Roman" panose="02020603050405020304" pitchFamily="18" charset="0"/>
              </a:rPr>
              <a:t>-</a:t>
            </a:r>
            <a:r>
              <a:rPr lang="fr-FR" sz="1600" b="1" i="1" spc="23" dirty="0">
                <a:latin typeface="Times New Roman" panose="02020603050405020304" pitchFamily="18" charset="0"/>
                <a:cs typeface="Times New Roman" panose="02020603050405020304" pitchFamily="18" charset="0"/>
              </a:rPr>
              <a:t> </a:t>
            </a:r>
            <a:r>
              <a:rPr lang="fr-FR" sz="1600" b="1" i="1" spc="-9" dirty="0">
                <a:latin typeface="Times New Roman" panose="02020603050405020304" pitchFamily="18" charset="0"/>
                <a:cs typeface="Times New Roman" panose="02020603050405020304" pitchFamily="18" charset="0"/>
              </a:rPr>
              <a:t>Septembre</a:t>
            </a:r>
            <a:r>
              <a:rPr lang="fr-FR" sz="1600" b="1" i="1" spc="-59" dirty="0">
                <a:latin typeface="Times New Roman" panose="02020603050405020304" pitchFamily="18" charset="0"/>
                <a:cs typeface="Times New Roman" panose="02020603050405020304" pitchFamily="18" charset="0"/>
              </a:rPr>
              <a:t> </a:t>
            </a:r>
            <a:r>
              <a:rPr lang="fr-FR" sz="1600" b="1" i="1" spc="-18" dirty="0">
                <a:latin typeface="Times New Roman" panose="02020603050405020304" pitchFamily="18" charset="0"/>
                <a:cs typeface="Times New Roman" panose="02020603050405020304" pitchFamily="18" charset="0"/>
              </a:rPr>
              <a:t>2005</a:t>
            </a:r>
            <a:endParaRPr lang="fr-FR" sz="1270" b="1" dirty="0">
              <a:latin typeface="Times New Roman" panose="02020603050405020304" pitchFamily="18" charset="0"/>
              <a:cs typeface="Times New Roman" panose="02020603050405020304" pitchFamily="18" charset="0"/>
            </a:endParaRPr>
          </a:p>
          <a:p>
            <a:pPr marL="285115" indent="-273685">
              <a:spcBef>
                <a:spcPts val="490"/>
              </a:spcBef>
              <a:buFont typeface="Arial" panose="020B0604020202020204"/>
              <a:buChar char="•"/>
              <a:tabLst>
                <a:tab pos="285115" algn="l"/>
                <a:tab pos="6358255" algn="l"/>
              </a:tabLst>
            </a:pPr>
            <a:endParaRPr lang="fr-FR" sz="1905" dirty="0">
              <a:latin typeface="Times New Roman" panose="02020603050405020304" pitchFamily="18" charset="0"/>
              <a:cs typeface="Times New Roman" panose="02020603050405020304" pitchFamily="18" charset="0"/>
            </a:endParaRPr>
          </a:p>
          <a:p>
            <a:pPr marL="285115" indent="-273685">
              <a:spcBef>
                <a:spcPts val="490"/>
              </a:spcBef>
              <a:buChar char="•"/>
              <a:tabLst>
                <a:tab pos="285115" algn="l"/>
                <a:tab pos="6358255" algn="l"/>
              </a:tabLst>
            </a:pPr>
            <a:endParaRPr sz="1905" dirty="0">
              <a:latin typeface="Times New Roman" panose="02020603050405020304" pitchFamily="18" charset="0"/>
              <a:cs typeface="Times New Roman" panose="02020603050405020304" pitchFamily="18" charset="0"/>
            </a:endParaRPr>
          </a:p>
        </p:txBody>
      </p:sp>
      <p:sp>
        <p:nvSpPr>
          <p:cNvPr id="4" name="object 4"/>
          <p:cNvSpPr txBox="1"/>
          <p:nvPr/>
        </p:nvSpPr>
        <p:spPr>
          <a:xfrm>
            <a:off x="1989851" y="4159980"/>
            <a:ext cx="7290802" cy="955615"/>
          </a:xfrm>
          <a:prstGeom prst="rect">
            <a:avLst/>
          </a:prstGeom>
        </p:spPr>
        <p:txBody>
          <a:bodyPr vert="horz" wrap="square" lIns="0" tIns="11526" rIns="0" bIns="0" rtlCol="0">
            <a:spAutoFit/>
          </a:bodyPr>
          <a:lstStyle/>
          <a:p>
            <a:pPr marL="285115" marR="4445" indent="-274320">
              <a:spcBef>
                <a:spcPts val="90"/>
              </a:spcBef>
              <a:buChar char="•"/>
              <a:tabLst>
                <a:tab pos="285115" algn="l"/>
              </a:tabLst>
            </a:pPr>
            <a:r>
              <a:rPr sz="1905" u="heavy" spc="-9" dirty="0">
                <a:uFill>
                  <a:solidFill>
                    <a:srgbClr val="000000"/>
                  </a:solidFill>
                </a:uFill>
                <a:latin typeface="Times New Roman" panose="02020603050405020304" pitchFamily="18" charset="0"/>
                <a:cs typeface="Times New Roman" panose="02020603050405020304" pitchFamily="18" charset="0"/>
              </a:rPr>
              <a:t>Objectifs</a:t>
            </a:r>
            <a:r>
              <a:rPr sz="1905" spc="-9" dirty="0">
                <a:latin typeface="Times New Roman" panose="02020603050405020304" pitchFamily="18" charset="0"/>
                <a:cs typeface="Times New Roman" panose="02020603050405020304" pitchFamily="18" charset="0"/>
              </a:rPr>
              <a:t>:</a:t>
            </a:r>
            <a:r>
              <a:rPr sz="1905" spc="-59"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Décomposer</a:t>
            </a:r>
            <a:r>
              <a:rPr sz="1905" spc="-45"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une</a:t>
            </a:r>
            <a:r>
              <a:rPr sz="1905" spc="-45"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fonctionnalité</a:t>
            </a:r>
            <a:r>
              <a:rPr sz="1905" spc="-36"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en</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un</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ensemble</a:t>
            </a:r>
            <a:r>
              <a:rPr sz="1905" spc="-2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a:t>
            </a:r>
            <a:r>
              <a:rPr sz="1905" spc="-59"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fonctions basiques(services)</a:t>
            </a:r>
            <a:r>
              <a:rPr sz="1905" spc="-18"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fournies</a:t>
            </a:r>
            <a:r>
              <a:rPr sz="1905" spc="-2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par</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des</a:t>
            </a:r>
            <a:r>
              <a:rPr sz="1905" spc="-50"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composants.</a:t>
            </a:r>
            <a:endParaRPr sz="1905" dirty="0">
              <a:latin typeface="Times New Roman" panose="02020603050405020304" pitchFamily="18" charset="0"/>
              <a:cs typeface="Times New Roman" panose="02020603050405020304" pitchFamily="18" charset="0"/>
            </a:endParaRPr>
          </a:p>
          <a:p>
            <a:pPr marL="339090" indent="-327660">
              <a:spcBef>
                <a:spcPts val="500"/>
              </a:spcBef>
              <a:buChar char="•"/>
              <a:tabLst>
                <a:tab pos="338455" algn="l"/>
              </a:tabLst>
            </a:pPr>
            <a:r>
              <a:rPr sz="1905" dirty="0">
                <a:latin typeface="Times New Roman" panose="02020603050405020304" pitchFamily="18" charset="0"/>
                <a:cs typeface="Times New Roman" panose="02020603050405020304" pitchFamily="18" charset="0"/>
              </a:rPr>
              <a:t>Décrire</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finement</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schéma</a:t>
            </a:r>
            <a:r>
              <a:rPr sz="1905" spc="-82"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d’interaction</a:t>
            </a:r>
            <a:r>
              <a:rPr sz="1905" spc="-68"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entre</a:t>
            </a:r>
            <a:r>
              <a:rPr sz="1905" spc="-86"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ces</a:t>
            </a:r>
            <a:r>
              <a:rPr sz="1905" spc="-77"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services.</a:t>
            </a:r>
            <a:endParaRPr sz="1905" dirty="0">
              <a:latin typeface="Times New Roman" panose="02020603050405020304" pitchFamily="18" charset="0"/>
              <a:cs typeface="Times New Roman" panose="02020603050405020304" pitchFamily="18" charset="0"/>
            </a:endParaRPr>
          </a:p>
        </p:txBody>
      </p:sp>
      <p:sp>
        <p:nvSpPr>
          <p:cNvPr id="8" name="object 8"/>
          <p:cNvSpPr txBox="1"/>
          <p:nvPr/>
        </p:nvSpPr>
        <p:spPr>
          <a:xfrm>
            <a:off x="10052555" y="5814712"/>
            <a:ext cx="206893" cy="151298"/>
          </a:xfrm>
          <a:prstGeom prst="rect">
            <a:avLst/>
          </a:prstGeom>
        </p:spPr>
        <p:txBody>
          <a:bodyPr vert="horz" wrap="square" lIns="0" tIns="4610" rIns="0" bIns="0" rtlCol="0">
            <a:spAutoFit/>
          </a:bodyPr>
          <a:lstStyle/>
          <a:p>
            <a:pPr marL="34290">
              <a:spcBef>
                <a:spcPts val="35"/>
              </a:spcBef>
            </a:pPr>
            <a:fld id="{81D60167-4931-47E6-BA6A-407CBD079E47}" type="slidenum">
              <a:rPr sz="955" spc="-23" dirty="0">
                <a:solidFill>
                  <a:srgbClr val="878787"/>
                </a:solidFill>
                <a:latin typeface="Times New Roman" panose="02020603050405020304" pitchFamily="18" charset="0"/>
                <a:cs typeface="Times New Roman" panose="02020603050405020304" pitchFamily="18" charset="0"/>
              </a:rPr>
              <a:t>51</a:t>
            </a:fld>
            <a:endParaRPr sz="955">
              <a:latin typeface="Times New Roman" panose="02020603050405020304" pitchFamily="18" charset="0"/>
              <a:cs typeface="Times New Roman" panose="02020603050405020304" pitchFamily="18" charset="0"/>
            </a:endParaRPr>
          </a:p>
        </p:txBody>
      </p:sp>
      <p:pic>
        <p:nvPicPr>
          <p:cNvPr id="13" name="Google Shape;320;g25b1bb62912_0_68" descr="Image 10">
            <a:extLst>
              <a:ext uri="{FF2B5EF4-FFF2-40B4-BE49-F238E27FC236}">
                <a16:creationId xmlns:a16="http://schemas.microsoft.com/office/drawing/2014/main" id="{BD0F3D6C-FD0F-DE93-0D11-62D644CAC29C}"/>
              </a:ext>
            </a:extLst>
          </p:cNvPr>
          <p:cNvPicPr preferRelativeResize="0"/>
          <p:nvPr/>
        </p:nvPicPr>
        <p:blipFill rotWithShape="1">
          <a:blip r:embed="rId3"/>
          <a:srcRect/>
          <a:stretch>
            <a:fillRect/>
          </a:stretch>
        </p:blipFill>
        <p:spPr>
          <a:xfrm>
            <a:off x="831813" y="590085"/>
            <a:ext cx="585321" cy="579782"/>
          </a:xfrm>
          <a:prstGeom prst="rect">
            <a:avLst/>
          </a:prstGeom>
          <a:noFill/>
          <a:ln>
            <a:noFill/>
          </a:ln>
        </p:spPr>
      </p:pic>
      <p:sp>
        <p:nvSpPr>
          <p:cNvPr id="14" name="Google Shape;324;g25b1bb62912_0_68">
            <a:extLst>
              <a:ext uri="{FF2B5EF4-FFF2-40B4-BE49-F238E27FC236}">
                <a16:creationId xmlns:a16="http://schemas.microsoft.com/office/drawing/2014/main" id="{F21EC504-674A-553F-0056-F6EFE20F98DE}"/>
              </a:ext>
            </a:extLst>
          </p:cNvPr>
          <p:cNvSpPr txBox="1"/>
          <p:nvPr/>
        </p:nvSpPr>
        <p:spPr>
          <a:xfrm>
            <a:off x="1503500" y="508100"/>
            <a:ext cx="7212000" cy="65001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sz="2800" dirty="0">
                <a:latin typeface="Times New Roman" panose="02020603050405020304" pitchFamily="18" charset="0"/>
                <a:cs typeface="Times New Roman" panose="02020603050405020304" pitchFamily="18" charset="0"/>
                <a:sym typeface="Times New Roman" panose="02020603050405020304"/>
              </a:rPr>
              <a:t>Présentation SOA</a:t>
            </a:r>
          </a:p>
        </p:txBody>
      </p:sp>
      <p:pic>
        <p:nvPicPr>
          <p:cNvPr id="15" name="Google Shape;63;p1" descr="Picture 3">
            <a:extLst>
              <a:ext uri="{FF2B5EF4-FFF2-40B4-BE49-F238E27FC236}">
                <a16:creationId xmlns:a16="http://schemas.microsoft.com/office/drawing/2014/main" id="{8A3C0D18-E2C4-3D2E-4DAF-BAFE8B60A4FE}"/>
              </a:ext>
            </a:extLst>
          </p:cNvPr>
          <p:cNvPicPr preferRelativeResize="0"/>
          <p:nvPr/>
        </p:nvPicPr>
        <p:blipFill rotWithShape="1">
          <a:blip r:embed="rId4"/>
          <a:srcRect/>
          <a:stretch>
            <a:fillRect/>
          </a:stretch>
        </p:blipFill>
        <p:spPr>
          <a:xfrm flipH="1">
            <a:off x="9680030" y="62049"/>
            <a:ext cx="2846625" cy="152544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19;g25b1bb62912_0_68" descr="Picture 2">
            <a:extLst>
              <a:ext uri="{FF2B5EF4-FFF2-40B4-BE49-F238E27FC236}">
                <a16:creationId xmlns:a16="http://schemas.microsoft.com/office/drawing/2014/main" id="{867FBF2D-971D-D6C3-D28B-DA9A4C2BFA56}"/>
              </a:ext>
            </a:extLst>
          </p:cNvPr>
          <p:cNvPicPr preferRelativeResize="0"/>
          <p:nvPr/>
        </p:nvPicPr>
        <p:blipFill rotWithShape="1">
          <a:blip r:embed="rId3"/>
          <a:srcRect/>
          <a:stretch>
            <a:fillRect/>
          </a:stretch>
        </p:blipFill>
        <p:spPr>
          <a:xfrm>
            <a:off x="0" y="-28241"/>
            <a:ext cx="12652622" cy="6886241"/>
          </a:xfrm>
          <a:prstGeom prst="rect">
            <a:avLst/>
          </a:prstGeom>
          <a:noFill/>
          <a:ln>
            <a:noFill/>
          </a:ln>
        </p:spPr>
      </p:pic>
      <p:sp>
        <p:nvSpPr>
          <p:cNvPr id="2" name="Titre 1"/>
          <p:cNvSpPr>
            <a:spLocks noGrp="1"/>
          </p:cNvSpPr>
          <p:nvPr>
            <p:ph type="title"/>
          </p:nvPr>
        </p:nvSpPr>
        <p:spPr>
          <a:xfrm>
            <a:off x="1417134" y="590085"/>
            <a:ext cx="8712968" cy="430887"/>
          </a:xfrm>
        </p:spPr>
        <p:txBody>
          <a:bodyPr/>
          <a:lstStyle/>
          <a:p>
            <a:r>
              <a:rPr lang="fr-FR" sz="2800" b="1" dirty="0">
                <a:latin typeface="Times New Roman" panose="02020603050405020304" pitchFamily="18" charset="0"/>
                <a:cs typeface="Times New Roman" panose="02020603050405020304" pitchFamily="18" charset="0"/>
              </a:rPr>
              <a:t>Couches de vue de Services</a:t>
            </a:r>
          </a:p>
        </p:txBody>
      </p:sp>
      <p:pic>
        <p:nvPicPr>
          <p:cNvPr id="28674" name="Picture 2"/>
          <p:cNvPicPr>
            <a:picLocks noChangeAspect="1" noChangeArrowheads="1"/>
          </p:cNvPicPr>
          <p:nvPr/>
        </p:nvPicPr>
        <p:blipFill>
          <a:blip r:embed="rId4" cstate="print"/>
          <a:srcRect/>
          <a:stretch>
            <a:fillRect/>
          </a:stretch>
        </p:blipFill>
        <p:spPr bwMode="auto">
          <a:xfrm>
            <a:off x="1847528" y="3497352"/>
            <a:ext cx="668699" cy="651727"/>
          </a:xfrm>
          <a:prstGeom prst="rect">
            <a:avLst/>
          </a:prstGeom>
          <a:noFill/>
          <a:ln w="9525">
            <a:noFill/>
            <a:miter lim="800000"/>
            <a:headEnd/>
            <a:tailEnd/>
          </a:ln>
          <a:effectLst/>
        </p:spPr>
      </p:pic>
      <p:pic>
        <p:nvPicPr>
          <p:cNvPr id="28675" name="Picture 3"/>
          <p:cNvPicPr>
            <a:picLocks noChangeAspect="1" noChangeArrowheads="1"/>
          </p:cNvPicPr>
          <p:nvPr/>
        </p:nvPicPr>
        <p:blipFill>
          <a:blip r:embed="rId5" cstate="print"/>
          <a:srcRect/>
          <a:stretch>
            <a:fillRect/>
          </a:stretch>
        </p:blipFill>
        <p:spPr bwMode="auto">
          <a:xfrm>
            <a:off x="1847528" y="3068960"/>
            <a:ext cx="716409" cy="267001"/>
          </a:xfrm>
          <a:prstGeom prst="rect">
            <a:avLst/>
          </a:prstGeom>
          <a:noFill/>
          <a:ln w="9525">
            <a:noFill/>
            <a:miter lim="800000"/>
            <a:headEnd/>
            <a:tailEnd/>
          </a:ln>
          <a:effectLst/>
        </p:spPr>
      </p:pic>
      <p:pic>
        <p:nvPicPr>
          <p:cNvPr id="28676" name="Picture 4"/>
          <p:cNvPicPr>
            <a:picLocks noChangeAspect="1" noChangeArrowheads="1"/>
          </p:cNvPicPr>
          <p:nvPr/>
        </p:nvPicPr>
        <p:blipFill>
          <a:blip r:embed="rId6" cstate="print"/>
          <a:srcRect/>
          <a:stretch>
            <a:fillRect/>
          </a:stretch>
        </p:blipFill>
        <p:spPr bwMode="auto">
          <a:xfrm>
            <a:off x="3863752" y="2852936"/>
            <a:ext cx="1048388" cy="1416524"/>
          </a:xfrm>
          <a:prstGeom prst="rect">
            <a:avLst/>
          </a:prstGeom>
          <a:noFill/>
          <a:ln w="9525">
            <a:noFill/>
            <a:miter lim="800000"/>
            <a:headEnd/>
            <a:tailEnd/>
          </a:ln>
        </p:spPr>
      </p:pic>
      <p:cxnSp>
        <p:nvCxnSpPr>
          <p:cNvPr id="11" name="Connecteur droit 10"/>
          <p:cNvCxnSpPr/>
          <p:nvPr/>
        </p:nvCxnSpPr>
        <p:spPr>
          <a:xfrm>
            <a:off x="2711624" y="3717032"/>
            <a:ext cx="12241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a:off x="7608168" y="3717032"/>
            <a:ext cx="1224136" cy="0"/>
          </a:xfrm>
          <a:prstGeom prst="line">
            <a:avLst/>
          </a:prstGeom>
        </p:spPr>
        <p:style>
          <a:lnRef idx="1">
            <a:schemeClr val="accent1"/>
          </a:lnRef>
          <a:fillRef idx="0">
            <a:schemeClr val="accent1"/>
          </a:fillRef>
          <a:effectRef idx="0">
            <a:schemeClr val="accent1"/>
          </a:effectRef>
          <a:fontRef idx="minor">
            <a:schemeClr val="tx1"/>
          </a:fontRef>
        </p:style>
      </p:cxnSp>
      <p:pic>
        <p:nvPicPr>
          <p:cNvPr id="29698" name="Picture 2"/>
          <p:cNvPicPr>
            <a:picLocks noChangeAspect="1" noChangeArrowheads="1"/>
          </p:cNvPicPr>
          <p:nvPr/>
        </p:nvPicPr>
        <p:blipFill>
          <a:blip r:embed="rId7" cstate="print"/>
          <a:srcRect/>
          <a:stretch>
            <a:fillRect/>
          </a:stretch>
        </p:blipFill>
        <p:spPr bwMode="auto">
          <a:xfrm>
            <a:off x="6384032" y="2858475"/>
            <a:ext cx="1224136" cy="1290605"/>
          </a:xfrm>
          <a:prstGeom prst="rect">
            <a:avLst/>
          </a:prstGeom>
          <a:noFill/>
          <a:ln w="9525">
            <a:noFill/>
            <a:miter lim="800000"/>
            <a:headEnd/>
            <a:tailEnd/>
          </a:ln>
        </p:spPr>
      </p:pic>
      <p:cxnSp>
        <p:nvCxnSpPr>
          <p:cNvPr id="20" name="Connecteur droit 19"/>
          <p:cNvCxnSpPr/>
          <p:nvPr/>
        </p:nvCxnSpPr>
        <p:spPr>
          <a:xfrm>
            <a:off x="5015880" y="3717032"/>
            <a:ext cx="1224136" cy="0"/>
          </a:xfrm>
          <a:prstGeom prst="line">
            <a:avLst/>
          </a:prstGeom>
        </p:spPr>
        <p:style>
          <a:lnRef idx="1">
            <a:schemeClr val="accent1"/>
          </a:lnRef>
          <a:fillRef idx="0">
            <a:schemeClr val="accent1"/>
          </a:fillRef>
          <a:effectRef idx="0">
            <a:schemeClr val="accent1"/>
          </a:effectRef>
          <a:fontRef idx="minor">
            <a:schemeClr val="tx1"/>
          </a:fontRef>
        </p:style>
      </p:cxnSp>
      <p:pic>
        <p:nvPicPr>
          <p:cNvPr id="29699" name="Picture 3"/>
          <p:cNvPicPr>
            <a:picLocks noChangeAspect="1" noChangeArrowheads="1"/>
          </p:cNvPicPr>
          <p:nvPr/>
        </p:nvPicPr>
        <p:blipFill>
          <a:blip r:embed="rId8" cstate="print"/>
          <a:srcRect/>
          <a:stretch>
            <a:fillRect/>
          </a:stretch>
        </p:blipFill>
        <p:spPr bwMode="auto">
          <a:xfrm>
            <a:off x="9048328" y="2996952"/>
            <a:ext cx="1022702" cy="1282569"/>
          </a:xfrm>
          <a:prstGeom prst="rect">
            <a:avLst/>
          </a:prstGeom>
          <a:noFill/>
          <a:ln w="9525">
            <a:noFill/>
            <a:miter lim="800000"/>
            <a:headEnd/>
            <a:tailEnd/>
          </a:ln>
        </p:spPr>
      </p:pic>
      <p:cxnSp>
        <p:nvCxnSpPr>
          <p:cNvPr id="26" name="Connecteur droit 25"/>
          <p:cNvCxnSpPr/>
          <p:nvPr/>
        </p:nvCxnSpPr>
        <p:spPr>
          <a:xfrm>
            <a:off x="6960096" y="2495831"/>
            <a:ext cx="0" cy="429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a:xfrm>
            <a:off x="6960096" y="4221088"/>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a:xfrm>
            <a:off x="6960096" y="5445224"/>
            <a:ext cx="0" cy="288032"/>
          </a:xfrm>
          <a:prstGeom prst="line">
            <a:avLst/>
          </a:prstGeom>
        </p:spPr>
        <p:style>
          <a:lnRef idx="1">
            <a:schemeClr val="accent1"/>
          </a:lnRef>
          <a:fillRef idx="0">
            <a:schemeClr val="accent1"/>
          </a:fillRef>
          <a:effectRef idx="0">
            <a:schemeClr val="accent1"/>
          </a:effectRef>
          <a:fontRef idx="minor">
            <a:schemeClr val="tx1"/>
          </a:fontRef>
        </p:style>
      </p:cxnSp>
      <p:pic>
        <p:nvPicPr>
          <p:cNvPr id="1031" name="Picture 7"/>
          <p:cNvPicPr>
            <a:picLocks noChangeAspect="1" noChangeArrowheads="1"/>
          </p:cNvPicPr>
          <p:nvPr/>
        </p:nvPicPr>
        <p:blipFill>
          <a:blip r:embed="rId9" cstate="print"/>
          <a:srcRect/>
          <a:stretch>
            <a:fillRect/>
          </a:stretch>
        </p:blipFill>
        <p:spPr bwMode="auto">
          <a:xfrm>
            <a:off x="6384032" y="1412776"/>
            <a:ext cx="1080120" cy="1018650"/>
          </a:xfrm>
          <a:prstGeom prst="rect">
            <a:avLst/>
          </a:prstGeom>
          <a:noFill/>
          <a:ln w="9525">
            <a:noFill/>
            <a:miter lim="800000"/>
            <a:headEnd/>
            <a:tailEnd/>
          </a:ln>
        </p:spPr>
      </p:pic>
      <p:pic>
        <p:nvPicPr>
          <p:cNvPr id="25" name="Picture 7"/>
          <p:cNvPicPr>
            <a:picLocks noChangeAspect="1" noChangeArrowheads="1"/>
          </p:cNvPicPr>
          <p:nvPr/>
        </p:nvPicPr>
        <p:blipFill>
          <a:blip r:embed="rId9" cstate="print"/>
          <a:srcRect/>
          <a:stretch>
            <a:fillRect/>
          </a:stretch>
        </p:blipFill>
        <p:spPr bwMode="auto">
          <a:xfrm>
            <a:off x="6384032" y="4426574"/>
            <a:ext cx="1080120" cy="1018650"/>
          </a:xfrm>
          <a:prstGeom prst="rect">
            <a:avLst/>
          </a:prstGeom>
          <a:noFill/>
          <a:ln w="9525">
            <a:noFill/>
            <a:miter lim="800000"/>
            <a:headEnd/>
            <a:tailEnd/>
          </a:ln>
        </p:spPr>
      </p:pic>
      <p:pic>
        <p:nvPicPr>
          <p:cNvPr id="33" name="Picture 7"/>
          <p:cNvPicPr>
            <a:picLocks noChangeAspect="1" noChangeArrowheads="1"/>
          </p:cNvPicPr>
          <p:nvPr/>
        </p:nvPicPr>
        <p:blipFill>
          <a:blip r:embed="rId9" cstate="print"/>
          <a:srcRect/>
          <a:stretch>
            <a:fillRect/>
          </a:stretch>
        </p:blipFill>
        <p:spPr bwMode="auto">
          <a:xfrm>
            <a:off x="6384032" y="5733256"/>
            <a:ext cx="1080120" cy="1018650"/>
          </a:xfrm>
          <a:prstGeom prst="rect">
            <a:avLst/>
          </a:prstGeom>
          <a:noFill/>
          <a:ln w="9525">
            <a:noFill/>
            <a:miter lim="800000"/>
            <a:headEnd/>
            <a:tailEnd/>
          </a:ln>
        </p:spPr>
      </p:pic>
      <p:sp>
        <p:nvSpPr>
          <p:cNvPr id="18" name="object 6"/>
          <p:cNvSpPr txBox="1">
            <a:spLocks noGrp="1"/>
          </p:cNvSpPr>
          <p:nvPr>
            <p:ph type="ftr" sz="quarter" idx="5"/>
          </p:nvPr>
        </p:nvSpPr>
        <p:spPr>
          <a:xfrm>
            <a:off x="5231904" y="6506362"/>
            <a:ext cx="1068070" cy="177800"/>
          </a:xfrm>
          <a:prstGeom prst="rect">
            <a:avLst/>
          </a:prstGeom>
        </p:spPr>
        <p:txBody>
          <a:bodyPr vert="horz" wrap="square" lIns="0" tIns="0" rIns="0" bIns="0" rtlCol="0">
            <a:spAutoFit/>
          </a:bodyPr>
          <a:lstStyle/>
          <a:p>
            <a:pPr marL="12700">
              <a:lnSpc>
                <a:spcPts val="1240"/>
              </a:lnSpc>
            </a:pPr>
            <a:r>
              <a:rPr spc="-55" dirty="0"/>
              <a:t>Introduction</a:t>
            </a:r>
            <a:r>
              <a:rPr spc="-240" dirty="0"/>
              <a:t> </a:t>
            </a:r>
            <a:r>
              <a:rPr spc="-25" dirty="0"/>
              <a:t>SOA</a:t>
            </a:r>
          </a:p>
        </p:txBody>
      </p:sp>
      <p:pic>
        <p:nvPicPr>
          <p:cNvPr id="4" name="Google Shape;63;p1" descr="Picture 3">
            <a:extLst>
              <a:ext uri="{FF2B5EF4-FFF2-40B4-BE49-F238E27FC236}">
                <a16:creationId xmlns:a16="http://schemas.microsoft.com/office/drawing/2014/main" id="{103AE8A2-4A5D-BEE7-0066-EF944637E39D}"/>
              </a:ext>
            </a:extLst>
          </p:cNvPr>
          <p:cNvPicPr preferRelativeResize="0"/>
          <p:nvPr/>
        </p:nvPicPr>
        <p:blipFill rotWithShape="1">
          <a:blip r:embed="rId10"/>
          <a:srcRect/>
          <a:stretch>
            <a:fillRect/>
          </a:stretch>
        </p:blipFill>
        <p:spPr>
          <a:xfrm flipH="1">
            <a:off x="9643945" y="0"/>
            <a:ext cx="2846625" cy="1525449"/>
          </a:xfrm>
          <a:prstGeom prst="rect">
            <a:avLst/>
          </a:prstGeom>
          <a:noFill/>
          <a:ln>
            <a:noFill/>
          </a:ln>
        </p:spPr>
      </p:pic>
      <p:pic>
        <p:nvPicPr>
          <p:cNvPr id="5" name="Google Shape;320;g25b1bb62912_0_68" descr="Image 10">
            <a:extLst>
              <a:ext uri="{FF2B5EF4-FFF2-40B4-BE49-F238E27FC236}">
                <a16:creationId xmlns:a16="http://schemas.microsoft.com/office/drawing/2014/main" id="{611CC0E3-B2BF-A3C0-C58A-4059EF020890}"/>
              </a:ext>
            </a:extLst>
          </p:cNvPr>
          <p:cNvPicPr preferRelativeResize="0"/>
          <p:nvPr/>
        </p:nvPicPr>
        <p:blipFill rotWithShape="1">
          <a:blip r:embed="rId11"/>
          <a:srcRect/>
          <a:stretch>
            <a:fillRect/>
          </a:stretch>
        </p:blipFill>
        <p:spPr>
          <a:xfrm>
            <a:off x="831813" y="590085"/>
            <a:ext cx="585321" cy="57978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319;g25b1bb62912_0_68" descr="Picture 2"/>
          <p:cNvPicPr preferRelativeResize="0"/>
          <p:nvPr/>
        </p:nvPicPr>
        <p:blipFill rotWithShape="1">
          <a:blip r:embed="rId2"/>
          <a:srcRect/>
          <a:stretch>
            <a:fillRect/>
          </a:stretch>
        </p:blipFill>
        <p:spPr>
          <a:xfrm>
            <a:off x="0" y="0"/>
            <a:ext cx="12192000" cy="6886241"/>
          </a:xfrm>
          <a:prstGeom prst="rect">
            <a:avLst/>
          </a:prstGeom>
          <a:noFill/>
          <a:ln>
            <a:noFill/>
          </a:ln>
        </p:spPr>
      </p:pic>
      <p:sp>
        <p:nvSpPr>
          <p:cNvPr id="2" name="object 2"/>
          <p:cNvSpPr txBox="1">
            <a:spLocks noGrp="1"/>
          </p:cNvSpPr>
          <p:nvPr>
            <p:ph type="title"/>
          </p:nvPr>
        </p:nvSpPr>
        <p:spPr>
          <a:xfrm>
            <a:off x="1849647" y="641246"/>
            <a:ext cx="2478101" cy="456514"/>
          </a:xfrm>
          <a:prstGeom prst="rect">
            <a:avLst/>
          </a:prstGeom>
        </p:spPr>
        <p:txBody>
          <a:bodyPr spcFirstLastPara="1" vert="horz" wrap="square" lIns="0" tIns="12679" rIns="0" bIns="0" rtlCol="0" anchor="t" anchorCtr="0">
            <a:spAutoFit/>
          </a:bodyPr>
          <a:lstStyle/>
          <a:p>
            <a:pPr marL="11430">
              <a:spcBef>
                <a:spcPts val="100"/>
              </a:spcBef>
            </a:pPr>
            <a:r>
              <a:rPr lang="fr-FR" sz="2800" b="1" spc="-182" dirty="0" err="1">
                <a:latin typeface="Times New Roman" panose="02020603050405020304" pitchFamily="18" charset="0"/>
                <a:cs typeface="Times New Roman" panose="02020603050405020304" pitchFamily="18" charset="0"/>
              </a:rPr>
              <a:t>Elèments</a:t>
            </a:r>
            <a:r>
              <a:rPr sz="2800" b="1" spc="-377" dirty="0">
                <a:latin typeface="Times New Roman" panose="02020603050405020304" pitchFamily="18" charset="0"/>
                <a:cs typeface="Times New Roman" panose="02020603050405020304" pitchFamily="18" charset="0"/>
              </a:rPr>
              <a:t> </a:t>
            </a:r>
            <a:r>
              <a:rPr lang="fr-FR" sz="2800" b="1" spc="-377" dirty="0">
                <a:latin typeface="Times New Roman" panose="02020603050405020304" pitchFamily="18" charset="0"/>
                <a:cs typeface="Times New Roman" panose="02020603050405020304" pitchFamily="18" charset="0"/>
              </a:rPr>
              <a:t> </a:t>
            </a:r>
            <a:r>
              <a:rPr sz="2800" b="1" spc="-36" dirty="0">
                <a:latin typeface="Times New Roman" panose="02020603050405020304" pitchFamily="18" charset="0"/>
                <a:cs typeface="Times New Roman" panose="02020603050405020304" pitchFamily="18" charset="0"/>
              </a:rPr>
              <a:t>SOA</a:t>
            </a:r>
            <a:endParaRPr sz="2800" b="1"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28578" y="2121254"/>
            <a:ext cx="8016368" cy="2946081"/>
          </a:xfrm>
          <a:prstGeom prst="rect">
            <a:avLst/>
          </a:prstGeom>
        </p:spPr>
        <p:txBody>
          <a:bodyPr vert="horz" wrap="square" lIns="0" tIns="9797" rIns="0" bIns="0" rtlCol="0">
            <a:spAutoFit/>
          </a:bodyPr>
          <a:lstStyle/>
          <a:p>
            <a:pPr marL="283845" marR="289560" indent="-272415">
              <a:lnSpc>
                <a:spcPct val="100000"/>
              </a:lnSpc>
              <a:spcBef>
                <a:spcPts val="75"/>
              </a:spcBef>
              <a:buFont typeface="Arial MT"/>
              <a:buChar char="•"/>
              <a:tabLst>
                <a:tab pos="283210" algn="l"/>
              </a:tabLst>
            </a:pPr>
            <a:r>
              <a:rPr sz="1905" dirty="0">
                <a:solidFill>
                  <a:srgbClr val="C00000"/>
                </a:solidFill>
                <a:latin typeface="Times New Roman" panose="02020603050405020304" pitchFamily="18" charset="0"/>
                <a:cs typeface="Times New Roman" panose="02020603050405020304" pitchFamily="18" charset="0"/>
              </a:rPr>
              <a:t>Le</a:t>
            </a:r>
            <a:r>
              <a:rPr sz="1905" spc="-82" dirty="0">
                <a:solidFill>
                  <a:srgbClr val="C00000"/>
                </a:solidFill>
                <a:latin typeface="Times New Roman" panose="02020603050405020304" pitchFamily="18" charset="0"/>
                <a:cs typeface="Times New Roman" panose="02020603050405020304" pitchFamily="18" charset="0"/>
              </a:rPr>
              <a:t> </a:t>
            </a:r>
            <a:r>
              <a:rPr sz="1905" spc="-9" dirty="0">
                <a:solidFill>
                  <a:srgbClr val="C00000"/>
                </a:solidFill>
                <a:latin typeface="Times New Roman" panose="02020603050405020304" pitchFamily="18" charset="0"/>
                <a:cs typeface="Times New Roman" panose="02020603050405020304" pitchFamily="18" charset="0"/>
              </a:rPr>
              <a:t>fournisseur</a:t>
            </a:r>
            <a:r>
              <a:rPr sz="1905" spc="-50"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de</a:t>
            </a:r>
            <a:r>
              <a:rPr sz="1905" spc="-68"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service</a:t>
            </a:r>
            <a:r>
              <a:rPr sz="1905" spc="-68" dirty="0">
                <a:solidFill>
                  <a:srgbClr val="C00000"/>
                </a:solidFill>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créé</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a:t>
            </a:r>
            <a:r>
              <a:rPr sz="1905" spc="-82"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a:t>
            </a:r>
            <a:r>
              <a:rPr sz="1905" spc="-68"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Web,</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puis</a:t>
            </a:r>
            <a:r>
              <a:rPr sz="1905" spc="-82"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publie</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son</a:t>
            </a:r>
            <a:r>
              <a:rPr sz="1905" spc="-68"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interface</a:t>
            </a:r>
            <a:r>
              <a:rPr sz="1905" spc="-68"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ainsi </a:t>
            </a:r>
            <a:r>
              <a:rPr sz="1905" dirty="0">
                <a:latin typeface="Times New Roman" panose="02020603050405020304" pitchFamily="18" charset="0"/>
                <a:cs typeface="Times New Roman" panose="02020603050405020304" pitchFamily="18" charset="0"/>
              </a:rPr>
              <a:t>que</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les</a:t>
            </a:r>
            <a:r>
              <a:rPr sz="1905" spc="-64"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informations</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d'accès</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au</a:t>
            </a:r>
            <a:r>
              <a:rPr sz="1905" spc="-82"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a:t>
            </a:r>
            <a:r>
              <a:rPr sz="1905" spc="-50"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dans</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un</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annuaire</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services</a:t>
            </a:r>
            <a:r>
              <a:rPr sz="1905" spc="-59" dirty="0">
                <a:latin typeface="Times New Roman" panose="02020603050405020304" pitchFamily="18" charset="0"/>
                <a:cs typeface="Times New Roman" panose="02020603050405020304" pitchFamily="18" charset="0"/>
              </a:rPr>
              <a:t> </a:t>
            </a:r>
            <a:r>
              <a:rPr sz="1905" spc="-18" dirty="0">
                <a:latin typeface="Times New Roman" panose="02020603050405020304" pitchFamily="18" charset="0"/>
                <a:cs typeface="Times New Roman" panose="02020603050405020304" pitchFamily="18" charset="0"/>
              </a:rPr>
              <a:t>Web.</a:t>
            </a:r>
            <a:endParaRPr sz="1905" dirty="0">
              <a:latin typeface="Times New Roman" panose="02020603050405020304" pitchFamily="18" charset="0"/>
              <a:cs typeface="Times New Roman" panose="02020603050405020304" pitchFamily="18" charset="0"/>
            </a:endParaRPr>
          </a:p>
          <a:p>
            <a:pPr marL="283845" marR="614680" indent="-272415">
              <a:lnSpc>
                <a:spcPct val="100000"/>
              </a:lnSpc>
              <a:spcBef>
                <a:spcPts val="2285"/>
              </a:spcBef>
              <a:buFont typeface="Arial MT"/>
              <a:buChar char="•"/>
              <a:tabLst>
                <a:tab pos="283210" algn="l"/>
              </a:tabLst>
            </a:pPr>
            <a:r>
              <a:rPr sz="1905" dirty="0">
                <a:solidFill>
                  <a:srgbClr val="C00000"/>
                </a:solidFill>
                <a:latin typeface="Times New Roman" panose="02020603050405020304" pitchFamily="18" charset="0"/>
                <a:cs typeface="Times New Roman" panose="02020603050405020304" pitchFamily="18" charset="0"/>
              </a:rPr>
              <a:t>L'</a:t>
            </a:r>
            <a:r>
              <a:rPr sz="1905" spc="-86"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annuaire</a:t>
            </a:r>
            <a:r>
              <a:rPr sz="1905" spc="-82"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de</a:t>
            </a:r>
            <a:r>
              <a:rPr sz="1905" spc="-82"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service</a:t>
            </a:r>
            <a:r>
              <a:rPr sz="1905" spc="-59" dirty="0">
                <a:solidFill>
                  <a:srgbClr val="C00000"/>
                </a:solidFill>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rend</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disponible</a:t>
            </a:r>
            <a:r>
              <a:rPr sz="1905" spc="-64"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l'interface</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du</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ainsi</a:t>
            </a:r>
            <a:r>
              <a:rPr sz="1905" spc="-82"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que</a:t>
            </a:r>
            <a:r>
              <a:rPr sz="1905" spc="-82" dirty="0">
                <a:latin typeface="Times New Roman" panose="02020603050405020304" pitchFamily="18" charset="0"/>
                <a:cs typeface="Times New Roman" panose="02020603050405020304" pitchFamily="18" charset="0"/>
              </a:rPr>
              <a:t> </a:t>
            </a:r>
            <a:r>
              <a:rPr sz="1905" spc="-23" dirty="0">
                <a:latin typeface="Times New Roman" panose="02020603050405020304" pitchFamily="18" charset="0"/>
                <a:cs typeface="Times New Roman" panose="02020603050405020304" pitchFamily="18" charset="0"/>
              </a:rPr>
              <a:t>ses </a:t>
            </a:r>
            <a:r>
              <a:rPr sz="1905" spc="-9" dirty="0">
                <a:latin typeface="Times New Roman" panose="02020603050405020304" pitchFamily="18" charset="0"/>
                <a:cs typeface="Times New Roman" panose="02020603050405020304" pitchFamily="18" charset="0"/>
              </a:rPr>
              <a:t>informations</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d'accès,</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pour</a:t>
            </a:r>
            <a:r>
              <a:rPr sz="1905" spc="-68"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n'importe</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quel</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demandeur</a:t>
            </a:r>
            <a:r>
              <a:rPr sz="1905" spc="-50"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potentiel</a:t>
            </a:r>
            <a:r>
              <a:rPr sz="1905" spc="-54" dirty="0">
                <a:latin typeface="Times New Roman" panose="02020603050405020304" pitchFamily="18" charset="0"/>
                <a:cs typeface="Times New Roman" panose="02020603050405020304" pitchFamily="18" charset="0"/>
              </a:rPr>
              <a:t> </a:t>
            </a:r>
            <a:r>
              <a:rPr sz="1905" spc="-23" dirty="0">
                <a:latin typeface="Times New Roman" panose="02020603050405020304" pitchFamily="18" charset="0"/>
                <a:cs typeface="Times New Roman" panose="02020603050405020304" pitchFamily="18" charset="0"/>
              </a:rPr>
              <a:t>de </a:t>
            </a:r>
            <a:r>
              <a:rPr sz="1905" dirty="0">
                <a:latin typeface="Times New Roman" panose="02020603050405020304" pitchFamily="18" charset="0"/>
                <a:cs typeface="Times New Roman" panose="02020603050405020304" pitchFamily="18" charset="0"/>
              </a:rPr>
              <a:t>service(peut</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être</a:t>
            </a:r>
            <a:r>
              <a:rPr sz="1905" spc="-91"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public</a:t>
            </a:r>
            <a:r>
              <a:rPr sz="1905" spc="-91"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ou</a:t>
            </a:r>
            <a:r>
              <a:rPr sz="1905" spc="-86"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privé).</a:t>
            </a:r>
            <a:endParaRPr sz="1905" dirty="0">
              <a:latin typeface="Times New Roman" panose="02020603050405020304" pitchFamily="18" charset="0"/>
              <a:cs typeface="Times New Roman" panose="02020603050405020304" pitchFamily="18" charset="0"/>
            </a:endParaRPr>
          </a:p>
          <a:p>
            <a:pPr marL="283845" marR="4445" indent="-272415">
              <a:lnSpc>
                <a:spcPct val="100000"/>
              </a:lnSpc>
              <a:spcBef>
                <a:spcPts val="2295"/>
              </a:spcBef>
              <a:buFont typeface="Arial MT"/>
              <a:buChar char="•"/>
              <a:tabLst>
                <a:tab pos="283210" algn="l"/>
              </a:tabLst>
            </a:pPr>
            <a:r>
              <a:rPr sz="1905" dirty="0">
                <a:solidFill>
                  <a:srgbClr val="C00000"/>
                </a:solidFill>
                <a:latin typeface="Times New Roman" panose="02020603050405020304" pitchFamily="18" charset="0"/>
                <a:cs typeface="Times New Roman" panose="02020603050405020304" pitchFamily="18" charset="0"/>
              </a:rPr>
              <a:t>Le</a:t>
            </a:r>
            <a:r>
              <a:rPr sz="1905" spc="-77" dirty="0">
                <a:solidFill>
                  <a:srgbClr val="C00000"/>
                </a:solidFill>
                <a:latin typeface="Times New Roman" panose="02020603050405020304" pitchFamily="18" charset="0"/>
                <a:cs typeface="Times New Roman" panose="02020603050405020304" pitchFamily="18" charset="0"/>
              </a:rPr>
              <a:t> </a:t>
            </a:r>
            <a:r>
              <a:rPr sz="1905" spc="-9" dirty="0">
                <a:solidFill>
                  <a:srgbClr val="C00000"/>
                </a:solidFill>
                <a:latin typeface="Times New Roman" panose="02020603050405020304" pitchFamily="18" charset="0"/>
                <a:cs typeface="Times New Roman" panose="02020603050405020304" pitchFamily="18" charset="0"/>
              </a:rPr>
              <a:t>consommateur</a:t>
            </a:r>
            <a:r>
              <a:rPr sz="1905" spc="-73"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de</a:t>
            </a:r>
            <a:r>
              <a:rPr sz="1905" spc="-77" dirty="0">
                <a:solidFill>
                  <a:srgbClr val="C00000"/>
                </a:solidFill>
                <a:latin typeface="Times New Roman" panose="02020603050405020304" pitchFamily="18" charset="0"/>
                <a:cs typeface="Times New Roman" panose="02020603050405020304" pitchFamily="18" charset="0"/>
              </a:rPr>
              <a:t> </a:t>
            </a:r>
            <a:r>
              <a:rPr sz="1905" dirty="0">
                <a:solidFill>
                  <a:srgbClr val="C00000"/>
                </a:solidFill>
                <a:latin typeface="Times New Roman" panose="02020603050405020304" pitchFamily="18" charset="0"/>
                <a:cs typeface="Times New Roman" panose="02020603050405020304" pitchFamily="18" charset="0"/>
              </a:rPr>
              <a:t>service</a:t>
            </a:r>
            <a:r>
              <a:rPr sz="1905" spc="-54" dirty="0">
                <a:solidFill>
                  <a:srgbClr val="C00000"/>
                </a:solidFill>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accède</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à</a:t>
            </a:r>
            <a:r>
              <a:rPr sz="1905" spc="-82"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l'annuaire</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a:t>
            </a:r>
            <a:r>
              <a:rPr sz="1905" spc="-50"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pour</a:t>
            </a:r>
            <a:r>
              <a:rPr sz="1905" spc="-77"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effectuer</a:t>
            </a:r>
            <a:r>
              <a:rPr sz="1905" spc="-41" dirty="0">
                <a:latin typeface="Times New Roman" panose="02020603050405020304" pitchFamily="18" charset="0"/>
                <a:cs typeface="Times New Roman" panose="02020603050405020304" pitchFamily="18" charset="0"/>
              </a:rPr>
              <a:t> </a:t>
            </a:r>
            <a:r>
              <a:rPr sz="1905" spc="-23" dirty="0">
                <a:latin typeface="Times New Roman" panose="02020603050405020304" pitchFamily="18" charset="0"/>
                <a:cs typeface="Times New Roman" panose="02020603050405020304" pitchFamily="18" charset="0"/>
              </a:rPr>
              <a:t>une </a:t>
            </a:r>
            <a:r>
              <a:rPr sz="1905" spc="-9" dirty="0">
                <a:latin typeface="Times New Roman" panose="02020603050405020304" pitchFamily="18" charset="0"/>
                <a:cs typeface="Times New Roman" panose="02020603050405020304" pitchFamily="18" charset="0"/>
              </a:rPr>
              <a:t>recherche</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afin</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a:t>
            </a:r>
            <a:r>
              <a:rPr sz="1905" spc="-77"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trouver</a:t>
            </a:r>
            <a:r>
              <a:rPr sz="1905" spc="-6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les</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services</a:t>
            </a:r>
            <a:r>
              <a:rPr sz="1905" spc="-64"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désirés.</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Ensuite,</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il</a:t>
            </a:r>
            <a:r>
              <a:rPr sz="1905" spc="-86"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a:t>
            </a:r>
            <a:r>
              <a:rPr sz="1905" spc="-6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lie</a:t>
            </a:r>
            <a:r>
              <a:rPr sz="1905" spc="-82"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au</a:t>
            </a:r>
            <a:r>
              <a:rPr sz="1905" spc="-86"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fournisseur </a:t>
            </a:r>
            <a:r>
              <a:rPr sz="1905" dirty="0">
                <a:latin typeface="Times New Roman" panose="02020603050405020304" pitchFamily="18" charset="0"/>
                <a:cs typeface="Times New Roman" panose="02020603050405020304" pitchFamily="18" charset="0"/>
              </a:rPr>
              <a:t>pour</a:t>
            </a:r>
            <a:r>
              <a:rPr sz="1905" spc="-77"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invoquer</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a:t>
            </a:r>
            <a:r>
              <a:rPr sz="1905" spc="-73"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service.</a:t>
            </a:r>
            <a:endParaRPr sz="1905" dirty="0">
              <a:latin typeface="Times New Roman" panose="02020603050405020304" pitchFamily="18" charset="0"/>
              <a:cs typeface="Times New Roman" panose="02020603050405020304" pitchFamily="18" charset="0"/>
            </a:endParaRPr>
          </a:p>
        </p:txBody>
      </p:sp>
      <p:sp>
        <p:nvSpPr>
          <p:cNvPr id="5" name="object 5"/>
          <p:cNvSpPr txBox="1"/>
          <p:nvPr/>
        </p:nvSpPr>
        <p:spPr>
          <a:xfrm>
            <a:off x="10052555" y="5814712"/>
            <a:ext cx="206893" cy="151298"/>
          </a:xfrm>
          <a:prstGeom prst="rect">
            <a:avLst/>
          </a:prstGeom>
        </p:spPr>
        <p:txBody>
          <a:bodyPr vert="horz" wrap="square" lIns="0" tIns="4610" rIns="0" bIns="0" rtlCol="0">
            <a:spAutoFit/>
          </a:bodyPr>
          <a:lstStyle/>
          <a:p>
            <a:pPr marL="34290">
              <a:spcBef>
                <a:spcPts val="35"/>
              </a:spcBef>
            </a:pPr>
            <a:fld id="{81D60167-4931-47E6-BA6A-407CBD079E47}" type="slidenum">
              <a:rPr sz="955" spc="-23" dirty="0">
                <a:solidFill>
                  <a:srgbClr val="878787"/>
                </a:solidFill>
                <a:latin typeface="Trebuchet MS" panose="020B0603020202020204"/>
                <a:cs typeface="Trebuchet MS" panose="020B0603020202020204"/>
              </a:rPr>
              <a:t>53</a:t>
            </a:fld>
            <a:endParaRPr sz="955">
              <a:latin typeface="Trebuchet MS" panose="020B0603020202020204"/>
              <a:cs typeface="Trebuchet MS" panose="020B0603020202020204"/>
            </a:endParaRPr>
          </a:p>
        </p:txBody>
      </p:sp>
      <p:pic>
        <p:nvPicPr>
          <p:cNvPr id="8" name="Google Shape;320;g25b1bb62912_0_68" descr="Image 10">
            <a:extLst>
              <a:ext uri="{FF2B5EF4-FFF2-40B4-BE49-F238E27FC236}">
                <a16:creationId xmlns:a16="http://schemas.microsoft.com/office/drawing/2014/main" id="{FBC83E36-7154-9B27-3F85-2B135658BD6E}"/>
              </a:ext>
            </a:extLst>
          </p:cNvPr>
          <p:cNvPicPr preferRelativeResize="0"/>
          <p:nvPr/>
        </p:nvPicPr>
        <p:blipFill rotWithShape="1">
          <a:blip r:embed="rId3"/>
          <a:srcRect/>
          <a:stretch>
            <a:fillRect/>
          </a:stretch>
        </p:blipFill>
        <p:spPr>
          <a:xfrm>
            <a:off x="831813" y="590085"/>
            <a:ext cx="585321" cy="579782"/>
          </a:xfrm>
          <a:prstGeom prst="rect">
            <a:avLst/>
          </a:prstGeom>
          <a:noFill/>
          <a:ln>
            <a:noFill/>
          </a:ln>
        </p:spPr>
      </p:pic>
      <p:pic>
        <p:nvPicPr>
          <p:cNvPr id="9" name="Google Shape;63;p1" descr="Picture 3">
            <a:extLst>
              <a:ext uri="{FF2B5EF4-FFF2-40B4-BE49-F238E27FC236}">
                <a16:creationId xmlns:a16="http://schemas.microsoft.com/office/drawing/2014/main" id="{F713C7E8-301B-2A26-F02F-DDBDA4B03DDB}"/>
              </a:ext>
            </a:extLst>
          </p:cNvPr>
          <p:cNvPicPr preferRelativeResize="0"/>
          <p:nvPr/>
        </p:nvPicPr>
        <p:blipFill rotWithShape="1">
          <a:blip r:embed="rId4"/>
          <a:srcRect/>
          <a:stretch>
            <a:fillRect/>
          </a:stretch>
        </p:blipFill>
        <p:spPr>
          <a:xfrm flipH="1">
            <a:off x="9345375" y="0"/>
            <a:ext cx="2846625" cy="152544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319;g25b1bb62912_0_68" descr="Picture 2"/>
          <p:cNvPicPr preferRelativeResize="0"/>
          <p:nvPr/>
        </p:nvPicPr>
        <p:blipFill rotWithShape="1">
          <a:blip r:embed="rId2"/>
          <a:srcRect/>
          <a:stretch>
            <a:fillRect/>
          </a:stretch>
        </p:blipFill>
        <p:spPr>
          <a:xfrm>
            <a:off x="-69318" y="0"/>
            <a:ext cx="12261318" cy="6886241"/>
          </a:xfrm>
          <a:prstGeom prst="rect">
            <a:avLst/>
          </a:prstGeom>
          <a:noFill/>
          <a:ln>
            <a:noFill/>
          </a:ln>
        </p:spPr>
      </p:pic>
      <p:pic>
        <p:nvPicPr>
          <p:cNvPr id="2" name="object 2"/>
          <p:cNvPicPr/>
          <p:nvPr/>
        </p:nvPicPr>
        <p:blipFill>
          <a:blip r:embed="rId3" cstate="print"/>
          <a:stretch>
            <a:fillRect/>
          </a:stretch>
        </p:blipFill>
        <p:spPr>
          <a:xfrm>
            <a:off x="1851998" y="1724757"/>
            <a:ext cx="8567083" cy="4094053"/>
          </a:xfrm>
          <a:prstGeom prst="rect">
            <a:avLst/>
          </a:prstGeom>
        </p:spPr>
      </p:pic>
      <p:sp>
        <p:nvSpPr>
          <p:cNvPr id="3" name="object 3"/>
          <p:cNvSpPr txBox="1"/>
          <p:nvPr/>
        </p:nvSpPr>
        <p:spPr>
          <a:xfrm>
            <a:off x="4581833" y="5523742"/>
            <a:ext cx="5130821" cy="231664"/>
          </a:xfrm>
          <a:prstGeom prst="rect">
            <a:avLst/>
          </a:prstGeom>
        </p:spPr>
        <p:txBody>
          <a:bodyPr vert="horz" wrap="square" lIns="0" tIns="14984" rIns="0" bIns="0" rtlCol="0">
            <a:spAutoFit/>
          </a:bodyPr>
          <a:lstStyle/>
          <a:p>
            <a:pPr marL="11430">
              <a:spcBef>
                <a:spcPts val="120"/>
              </a:spcBef>
            </a:pPr>
            <a:r>
              <a:rPr sz="1405" dirty="0">
                <a:latin typeface="Arial MT"/>
                <a:cs typeface="Arial MT"/>
              </a:rPr>
              <a:t>Source:</a:t>
            </a:r>
            <a:r>
              <a:rPr sz="1405" spc="172" dirty="0">
                <a:latin typeface="Arial MT"/>
                <a:cs typeface="Arial MT"/>
              </a:rPr>
              <a:t> </a:t>
            </a:r>
            <a:r>
              <a:rPr sz="1405" u="heavy" dirty="0">
                <a:solidFill>
                  <a:srgbClr val="0361C1"/>
                </a:solidFill>
                <a:uFill>
                  <a:solidFill>
                    <a:srgbClr val="0361C1"/>
                  </a:solidFill>
                </a:uFill>
                <a:latin typeface="Arial MT"/>
                <a:cs typeface="Arial MT"/>
                <a:hlinkClick r:id="rId4"/>
              </a:rPr>
              <a:t>http://e-</a:t>
            </a:r>
            <a:r>
              <a:rPr sz="1405" u="heavy" spc="-9" dirty="0">
                <a:solidFill>
                  <a:srgbClr val="0361C1"/>
                </a:solidFill>
                <a:uFill>
                  <a:solidFill>
                    <a:srgbClr val="0361C1"/>
                  </a:solidFill>
                </a:uFill>
                <a:latin typeface="Arial MT"/>
                <a:cs typeface="Arial MT"/>
                <a:hlinkClick r:id="rId4"/>
              </a:rPr>
              <a:t>technologymanagement.com/tm/articles/soa.pdf</a:t>
            </a:r>
            <a:endParaRPr sz="1405">
              <a:latin typeface="Arial MT"/>
              <a:cs typeface="Arial MT"/>
            </a:endParaRPr>
          </a:p>
        </p:txBody>
      </p:sp>
      <p:sp>
        <p:nvSpPr>
          <p:cNvPr id="5" name="object 5"/>
          <p:cNvSpPr txBox="1">
            <a:spLocks noGrp="1"/>
          </p:cNvSpPr>
          <p:nvPr>
            <p:ph type="title"/>
          </p:nvPr>
        </p:nvSpPr>
        <p:spPr>
          <a:xfrm>
            <a:off x="3631625" y="1122637"/>
            <a:ext cx="3054980" cy="563338"/>
          </a:xfrm>
          <a:prstGeom prst="rect">
            <a:avLst/>
          </a:prstGeom>
        </p:spPr>
        <p:txBody>
          <a:bodyPr spcFirstLastPara="1" vert="horz" wrap="square" lIns="0" tIns="12679" rIns="0" bIns="0" rtlCol="0" anchor="t" anchorCtr="0">
            <a:spAutoFit/>
          </a:bodyPr>
          <a:lstStyle/>
          <a:p>
            <a:pPr marL="11430">
              <a:spcBef>
                <a:spcPts val="100"/>
              </a:spcBef>
            </a:pPr>
            <a:r>
              <a:rPr sz="3495" spc="-191" dirty="0"/>
              <a:t>Architecture</a:t>
            </a:r>
            <a:r>
              <a:rPr sz="3495" spc="-345" dirty="0">
                <a:latin typeface="Times New Roman" panose="02020603050405020304"/>
                <a:cs typeface="Times New Roman" panose="02020603050405020304"/>
              </a:rPr>
              <a:t> </a:t>
            </a:r>
            <a:r>
              <a:rPr sz="3495" spc="-27" dirty="0"/>
              <a:t>SOA</a:t>
            </a:r>
            <a:endParaRPr sz="3495"/>
          </a:p>
        </p:txBody>
      </p:sp>
      <p:sp>
        <p:nvSpPr>
          <p:cNvPr id="6" name="object 6"/>
          <p:cNvSpPr txBox="1"/>
          <p:nvPr/>
        </p:nvSpPr>
        <p:spPr>
          <a:xfrm>
            <a:off x="10052555" y="5814712"/>
            <a:ext cx="206893" cy="151298"/>
          </a:xfrm>
          <a:prstGeom prst="rect">
            <a:avLst/>
          </a:prstGeom>
        </p:spPr>
        <p:txBody>
          <a:bodyPr vert="horz" wrap="square" lIns="0" tIns="4610" rIns="0" bIns="0" rtlCol="0">
            <a:spAutoFit/>
          </a:bodyPr>
          <a:lstStyle/>
          <a:p>
            <a:pPr marL="34290">
              <a:spcBef>
                <a:spcPts val="35"/>
              </a:spcBef>
            </a:pPr>
            <a:fld id="{81D60167-4931-47E6-BA6A-407CBD079E47}" type="slidenum">
              <a:rPr sz="955" spc="-23" dirty="0">
                <a:solidFill>
                  <a:srgbClr val="878787"/>
                </a:solidFill>
                <a:latin typeface="Trebuchet MS" panose="020B0603020202020204"/>
                <a:cs typeface="Trebuchet MS" panose="020B0603020202020204"/>
              </a:rPr>
              <a:t>54</a:t>
            </a:fld>
            <a:endParaRPr sz="955">
              <a:latin typeface="Trebuchet MS" panose="020B0603020202020204"/>
              <a:cs typeface="Trebuchet MS" panose="020B0603020202020204"/>
            </a:endParaRPr>
          </a:p>
        </p:txBody>
      </p:sp>
      <p:pic>
        <p:nvPicPr>
          <p:cNvPr id="9" name="Google Shape;63;p1" descr="Picture 3">
            <a:extLst>
              <a:ext uri="{FF2B5EF4-FFF2-40B4-BE49-F238E27FC236}">
                <a16:creationId xmlns:a16="http://schemas.microsoft.com/office/drawing/2014/main" id="{4E0F3D88-CD13-6CBA-9144-386E0CBD55FB}"/>
              </a:ext>
            </a:extLst>
          </p:cNvPr>
          <p:cNvPicPr preferRelativeResize="0"/>
          <p:nvPr/>
        </p:nvPicPr>
        <p:blipFill rotWithShape="1">
          <a:blip r:embed="rId5"/>
          <a:srcRect/>
          <a:stretch>
            <a:fillRect/>
          </a:stretch>
        </p:blipFill>
        <p:spPr>
          <a:xfrm flipH="1">
            <a:off x="9345375" y="0"/>
            <a:ext cx="2846625" cy="152544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319;g25b1bb62912_0_68" descr="Picture 2"/>
          <p:cNvPicPr preferRelativeResize="0"/>
          <p:nvPr/>
        </p:nvPicPr>
        <p:blipFill rotWithShape="1">
          <a:blip r:embed="rId2"/>
          <a:srcRect/>
          <a:stretch>
            <a:fillRect/>
          </a:stretch>
        </p:blipFill>
        <p:spPr>
          <a:xfrm>
            <a:off x="0" y="-28241"/>
            <a:ext cx="12192000" cy="6886241"/>
          </a:xfrm>
          <a:prstGeom prst="rect">
            <a:avLst/>
          </a:prstGeom>
          <a:noFill/>
          <a:ln>
            <a:noFill/>
          </a:ln>
        </p:spPr>
      </p:pic>
      <p:sp>
        <p:nvSpPr>
          <p:cNvPr id="2" name="object 2"/>
          <p:cNvSpPr txBox="1">
            <a:spLocks noGrp="1"/>
          </p:cNvSpPr>
          <p:nvPr>
            <p:ph type="title"/>
          </p:nvPr>
        </p:nvSpPr>
        <p:spPr>
          <a:xfrm>
            <a:off x="3746425" y="940064"/>
            <a:ext cx="2781236" cy="563338"/>
          </a:xfrm>
          <a:prstGeom prst="rect">
            <a:avLst/>
          </a:prstGeom>
        </p:spPr>
        <p:txBody>
          <a:bodyPr spcFirstLastPara="1" vert="horz" wrap="square" lIns="0" tIns="12679" rIns="0" bIns="0" rtlCol="0" anchor="t" anchorCtr="0">
            <a:spAutoFit/>
          </a:bodyPr>
          <a:lstStyle/>
          <a:p>
            <a:pPr marL="11430">
              <a:spcBef>
                <a:spcPts val="100"/>
              </a:spcBef>
            </a:pPr>
            <a:r>
              <a:rPr sz="3495" spc="-177" dirty="0">
                <a:latin typeface="Times New Roman" panose="02020603050405020304" pitchFamily="18" charset="0"/>
                <a:cs typeface="Times New Roman" panose="02020603050405020304" pitchFamily="18" charset="0"/>
              </a:rPr>
              <a:t>Apports</a:t>
            </a:r>
            <a:r>
              <a:rPr sz="3495" spc="-195" dirty="0">
                <a:latin typeface="Times New Roman" panose="02020603050405020304" pitchFamily="18" charset="0"/>
                <a:cs typeface="Times New Roman" panose="02020603050405020304" pitchFamily="18" charset="0"/>
              </a:rPr>
              <a:t> </a:t>
            </a:r>
            <a:r>
              <a:rPr sz="3495" spc="-109" dirty="0">
                <a:latin typeface="Times New Roman" panose="02020603050405020304" pitchFamily="18" charset="0"/>
                <a:cs typeface="Times New Roman" panose="02020603050405020304" pitchFamily="18" charset="0"/>
              </a:rPr>
              <a:t>de</a:t>
            </a:r>
            <a:r>
              <a:rPr sz="3495" spc="-191" dirty="0">
                <a:latin typeface="Times New Roman" panose="02020603050405020304" pitchFamily="18" charset="0"/>
                <a:cs typeface="Times New Roman" panose="02020603050405020304" pitchFamily="18" charset="0"/>
              </a:rPr>
              <a:t> </a:t>
            </a:r>
            <a:r>
              <a:rPr sz="3495" spc="-45" dirty="0">
                <a:latin typeface="Times New Roman" panose="02020603050405020304" pitchFamily="18" charset="0"/>
                <a:cs typeface="Times New Roman" panose="02020603050405020304" pitchFamily="18" charset="0"/>
              </a:rPr>
              <a:t>SOA</a:t>
            </a:r>
            <a:endParaRPr sz="3495" dirty="0">
              <a:latin typeface="Times New Roman" panose="02020603050405020304" pitchFamily="18" charset="0"/>
              <a:cs typeface="Times New Roman" panose="02020603050405020304" pitchFamily="18" charset="0"/>
            </a:endParaRPr>
          </a:p>
        </p:txBody>
      </p:sp>
      <p:sp>
        <p:nvSpPr>
          <p:cNvPr id="4" name="object 4"/>
          <p:cNvSpPr txBox="1"/>
          <p:nvPr/>
        </p:nvSpPr>
        <p:spPr>
          <a:xfrm>
            <a:off x="2514061" y="1971876"/>
            <a:ext cx="7867106" cy="3543314"/>
          </a:xfrm>
          <a:prstGeom prst="rect">
            <a:avLst/>
          </a:prstGeom>
        </p:spPr>
        <p:txBody>
          <a:bodyPr vert="horz" wrap="square" lIns="0" tIns="156754" rIns="0" bIns="0" rtlCol="0">
            <a:spAutoFit/>
          </a:bodyPr>
          <a:lstStyle/>
          <a:p>
            <a:pPr marL="283845" indent="-271780">
              <a:spcBef>
                <a:spcPts val="1235"/>
              </a:spcBef>
              <a:buFont typeface="Arial MT"/>
              <a:buChar char="•"/>
              <a:tabLst>
                <a:tab pos="283210" algn="l"/>
              </a:tabLst>
            </a:pPr>
            <a:r>
              <a:rPr sz="1905" spc="-9" dirty="0">
                <a:latin typeface="Times New Roman" panose="02020603050405020304" pitchFamily="18" charset="0"/>
                <a:cs typeface="Times New Roman" panose="02020603050405020304" pitchFamily="18" charset="0"/>
              </a:rPr>
              <a:t>Améliorer</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la</a:t>
            </a:r>
            <a:r>
              <a:rPr sz="1905" spc="-64"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rapidité</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ainsi</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que</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la</a:t>
            </a:r>
            <a:r>
              <a:rPr sz="1905" spc="-59"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productivité</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des</a:t>
            </a:r>
            <a:r>
              <a:rPr sz="1905" spc="-59"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développements.</a:t>
            </a:r>
            <a:endParaRPr sz="1905">
              <a:latin typeface="Times New Roman" panose="02020603050405020304" pitchFamily="18" charset="0"/>
              <a:cs typeface="Times New Roman" panose="02020603050405020304" pitchFamily="18" charset="0"/>
            </a:endParaRPr>
          </a:p>
          <a:p>
            <a:pPr marL="283845" indent="-271780">
              <a:spcBef>
                <a:spcPts val="1145"/>
              </a:spcBef>
              <a:buFont typeface="Arial MT"/>
              <a:buChar char="•"/>
              <a:tabLst>
                <a:tab pos="283210" algn="l"/>
              </a:tabLst>
            </a:pPr>
            <a:r>
              <a:rPr sz="1905" dirty="0">
                <a:latin typeface="Times New Roman" panose="02020603050405020304" pitchFamily="18" charset="0"/>
                <a:cs typeface="Times New Roman" panose="02020603050405020304" pitchFamily="18" charset="0"/>
              </a:rPr>
              <a:t>Une</a:t>
            </a:r>
            <a:r>
              <a:rPr sz="1905" spc="-86"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réutilisabilité</a:t>
            </a:r>
            <a:r>
              <a:rPr sz="1905" spc="-6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possible</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des</a:t>
            </a:r>
            <a:r>
              <a:rPr sz="1905" spc="-77"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services.</a:t>
            </a:r>
            <a:endParaRPr sz="1905" dirty="0">
              <a:latin typeface="Times New Roman" panose="02020603050405020304" pitchFamily="18" charset="0"/>
              <a:cs typeface="Times New Roman" panose="02020603050405020304" pitchFamily="18" charset="0"/>
            </a:endParaRPr>
          </a:p>
          <a:p>
            <a:pPr marL="283845" indent="-271780">
              <a:spcBef>
                <a:spcPts val="1155"/>
              </a:spcBef>
              <a:buFont typeface="Arial MT"/>
              <a:buChar char="•"/>
              <a:tabLst>
                <a:tab pos="283210" algn="l"/>
              </a:tabLst>
            </a:pPr>
            <a:r>
              <a:rPr sz="1905" dirty="0">
                <a:latin typeface="Times New Roman" panose="02020603050405020304" pitchFamily="18" charset="0"/>
                <a:cs typeface="Times New Roman" panose="02020603050405020304" pitchFamily="18" charset="0"/>
              </a:rPr>
              <a:t>De</a:t>
            </a:r>
            <a:r>
              <a:rPr sz="1905" spc="-68"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meilleures</a:t>
            </a:r>
            <a:r>
              <a:rPr sz="1905" spc="-54"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possibilités</a:t>
            </a:r>
            <a:r>
              <a:rPr sz="1905" spc="-50"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d'évolution.</a:t>
            </a:r>
            <a:endParaRPr sz="1905" dirty="0">
              <a:latin typeface="Times New Roman" panose="02020603050405020304" pitchFamily="18" charset="0"/>
              <a:cs typeface="Times New Roman" panose="02020603050405020304" pitchFamily="18" charset="0"/>
            </a:endParaRPr>
          </a:p>
          <a:p>
            <a:pPr marL="337820" indent="-326390">
              <a:spcBef>
                <a:spcPts val="1155"/>
              </a:spcBef>
              <a:buFont typeface="Arial MT"/>
              <a:buChar char="•"/>
              <a:tabLst>
                <a:tab pos="337185" algn="l"/>
              </a:tabLst>
            </a:pPr>
            <a:r>
              <a:rPr sz="1905" dirty="0">
                <a:latin typeface="Times New Roman" panose="02020603050405020304" pitchFamily="18" charset="0"/>
                <a:cs typeface="Times New Roman" panose="02020603050405020304" pitchFamily="18" charset="0"/>
              </a:rPr>
              <a:t>Une</a:t>
            </a:r>
            <a:r>
              <a:rPr sz="1905" spc="-86"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maintenance</a:t>
            </a:r>
            <a:r>
              <a:rPr sz="1905" spc="-82"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facilitée.</a:t>
            </a:r>
            <a:endParaRPr sz="1905" dirty="0">
              <a:latin typeface="Times New Roman" panose="02020603050405020304" pitchFamily="18" charset="0"/>
              <a:cs typeface="Times New Roman" panose="02020603050405020304" pitchFamily="18" charset="0"/>
            </a:endParaRPr>
          </a:p>
          <a:p>
            <a:pPr marL="337820" indent="-326390">
              <a:spcBef>
                <a:spcPts val="1145"/>
              </a:spcBef>
              <a:buFont typeface="Arial MT"/>
              <a:buChar char="•"/>
              <a:tabLst>
                <a:tab pos="337185" algn="l"/>
              </a:tabLst>
            </a:pPr>
            <a:r>
              <a:rPr sz="1905" dirty="0">
                <a:latin typeface="Times New Roman" panose="02020603050405020304" pitchFamily="18" charset="0"/>
                <a:cs typeface="Times New Roman" panose="02020603050405020304" pitchFamily="18" charset="0"/>
              </a:rPr>
              <a:t>Couplage</a:t>
            </a:r>
            <a:r>
              <a:rPr sz="1905" spc="-86"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faible</a:t>
            </a:r>
            <a:r>
              <a:rPr sz="1905" spc="-86"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entre</a:t>
            </a:r>
            <a:r>
              <a:rPr sz="1905" spc="-100"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les</a:t>
            </a:r>
            <a:r>
              <a:rPr sz="1905" spc="-86"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services.</a:t>
            </a:r>
            <a:endParaRPr sz="1905" dirty="0">
              <a:latin typeface="Times New Roman" panose="02020603050405020304" pitchFamily="18" charset="0"/>
              <a:cs typeface="Times New Roman" panose="02020603050405020304" pitchFamily="18" charset="0"/>
            </a:endParaRPr>
          </a:p>
          <a:p>
            <a:pPr marL="283845" indent="-271780">
              <a:spcBef>
                <a:spcPts val="1155"/>
              </a:spcBef>
              <a:buFont typeface="Arial MT"/>
              <a:buChar char="•"/>
              <a:tabLst>
                <a:tab pos="283210" algn="l"/>
              </a:tabLst>
            </a:pPr>
            <a:r>
              <a:rPr sz="1905" spc="-9" dirty="0">
                <a:latin typeface="Times New Roman" panose="02020603050405020304" pitchFamily="18" charset="0"/>
                <a:cs typeface="Times New Roman" panose="02020603050405020304" pitchFamily="18" charset="0"/>
              </a:rPr>
              <a:t>Architecture</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basée</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sur</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des</a:t>
            </a:r>
            <a:r>
              <a:rPr sz="1905" spc="-73"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standards</a:t>
            </a:r>
            <a:r>
              <a:rPr sz="1905" spc="-73"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ouverts.</a:t>
            </a:r>
            <a:endParaRPr sz="1905" dirty="0">
              <a:latin typeface="Times New Roman" panose="02020603050405020304" pitchFamily="18" charset="0"/>
              <a:cs typeface="Times New Roman" panose="02020603050405020304" pitchFamily="18" charset="0"/>
            </a:endParaRPr>
          </a:p>
          <a:p>
            <a:pPr marL="283845" indent="-271780">
              <a:spcBef>
                <a:spcPts val="1145"/>
              </a:spcBef>
              <a:buFont typeface="Arial MT"/>
              <a:buChar char="•"/>
              <a:tabLst>
                <a:tab pos="283210" algn="l"/>
              </a:tabLst>
            </a:pPr>
            <a:r>
              <a:rPr sz="1905" spc="-9" dirty="0">
                <a:latin typeface="Times New Roman" panose="02020603050405020304" pitchFamily="18" charset="0"/>
                <a:cs typeface="Times New Roman" panose="02020603050405020304" pitchFamily="18" charset="0"/>
              </a:rPr>
              <a:t>L’indépendance</a:t>
            </a:r>
            <a:r>
              <a:rPr sz="1905" spc="-5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par</a:t>
            </a:r>
            <a:r>
              <a:rPr sz="1905" spc="-91"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rapport</a:t>
            </a:r>
            <a:r>
              <a:rPr sz="1905" spc="-68"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aux</a:t>
            </a:r>
            <a:r>
              <a:rPr sz="1905" spc="-86"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aspects</a:t>
            </a:r>
            <a:r>
              <a:rPr sz="1905" spc="-73"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technologiques.</a:t>
            </a:r>
            <a:endParaRPr sz="1905" dirty="0">
              <a:latin typeface="Times New Roman" panose="02020603050405020304" pitchFamily="18" charset="0"/>
              <a:cs typeface="Times New Roman" panose="02020603050405020304" pitchFamily="18" charset="0"/>
            </a:endParaRPr>
          </a:p>
          <a:p>
            <a:pPr marL="283845" indent="-271780">
              <a:spcBef>
                <a:spcPts val="1155"/>
              </a:spcBef>
              <a:buFont typeface="Arial MT"/>
              <a:buChar char="•"/>
              <a:tabLst>
                <a:tab pos="283210" algn="l"/>
              </a:tabLst>
            </a:pPr>
            <a:r>
              <a:rPr sz="1905" dirty="0">
                <a:latin typeface="Times New Roman" panose="02020603050405020304" pitchFamily="18" charset="0"/>
                <a:cs typeface="Times New Roman" panose="02020603050405020304" pitchFamily="18" charset="0"/>
              </a:rPr>
              <a:t>Une</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modularité</a:t>
            </a:r>
            <a:r>
              <a:rPr sz="1905" spc="-64"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permettant</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de</a:t>
            </a:r>
            <a:r>
              <a:rPr sz="1905" spc="-77"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remplacer</a:t>
            </a:r>
            <a:r>
              <a:rPr sz="1905" spc="-59"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facilement</a:t>
            </a:r>
            <a:r>
              <a:rPr sz="1905" spc="-59"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un</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service</a:t>
            </a:r>
            <a:r>
              <a:rPr sz="1905" spc="-64"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par</a:t>
            </a:r>
            <a:r>
              <a:rPr sz="1905" spc="-73" dirty="0">
                <a:latin typeface="Times New Roman" panose="02020603050405020304" pitchFamily="18" charset="0"/>
                <a:cs typeface="Times New Roman" panose="02020603050405020304" pitchFamily="18" charset="0"/>
              </a:rPr>
              <a:t> </a:t>
            </a:r>
            <a:r>
              <a:rPr sz="1905" dirty="0">
                <a:latin typeface="Times New Roman" panose="02020603050405020304" pitchFamily="18" charset="0"/>
                <a:cs typeface="Times New Roman" panose="02020603050405020304" pitchFamily="18" charset="0"/>
              </a:rPr>
              <a:t>un</a:t>
            </a:r>
            <a:r>
              <a:rPr sz="1905" spc="-73" dirty="0">
                <a:latin typeface="Times New Roman" panose="02020603050405020304" pitchFamily="18" charset="0"/>
                <a:cs typeface="Times New Roman" panose="02020603050405020304" pitchFamily="18" charset="0"/>
              </a:rPr>
              <a:t> </a:t>
            </a:r>
            <a:r>
              <a:rPr sz="1905" spc="-9" dirty="0">
                <a:latin typeface="Times New Roman" panose="02020603050405020304" pitchFamily="18" charset="0"/>
                <a:cs typeface="Times New Roman" panose="02020603050405020304" pitchFamily="18" charset="0"/>
              </a:rPr>
              <a:t>autre.</a:t>
            </a:r>
            <a:endParaRPr sz="1905" dirty="0">
              <a:latin typeface="Times New Roman" panose="02020603050405020304" pitchFamily="18" charset="0"/>
              <a:cs typeface="Times New Roman" panose="02020603050405020304" pitchFamily="18" charset="0"/>
            </a:endParaRPr>
          </a:p>
        </p:txBody>
      </p:sp>
      <p:sp>
        <p:nvSpPr>
          <p:cNvPr id="5" name="object 5"/>
          <p:cNvSpPr txBox="1"/>
          <p:nvPr/>
        </p:nvSpPr>
        <p:spPr>
          <a:xfrm>
            <a:off x="10052555" y="5814712"/>
            <a:ext cx="206893" cy="151298"/>
          </a:xfrm>
          <a:prstGeom prst="rect">
            <a:avLst/>
          </a:prstGeom>
        </p:spPr>
        <p:txBody>
          <a:bodyPr vert="horz" wrap="square" lIns="0" tIns="4610" rIns="0" bIns="0" rtlCol="0">
            <a:spAutoFit/>
          </a:bodyPr>
          <a:lstStyle/>
          <a:p>
            <a:pPr marL="34290">
              <a:spcBef>
                <a:spcPts val="35"/>
              </a:spcBef>
            </a:pPr>
            <a:fld id="{81D60167-4931-47E6-BA6A-407CBD079E47}" type="slidenum">
              <a:rPr sz="955" spc="-23" dirty="0">
                <a:solidFill>
                  <a:srgbClr val="878787"/>
                </a:solidFill>
                <a:latin typeface="Times New Roman" panose="02020603050405020304" pitchFamily="18" charset="0"/>
                <a:cs typeface="Times New Roman" panose="02020603050405020304" pitchFamily="18" charset="0"/>
              </a:rPr>
              <a:t>55</a:t>
            </a:fld>
            <a:endParaRPr sz="955">
              <a:latin typeface="Times New Roman" panose="02020603050405020304" pitchFamily="18" charset="0"/>
              <a:cs typeface="Times New Roman" panose="02020603050405020304" pitchFamily="18" charset="0"/>
            </a:endParaRPr>
          </a:p>
        </p:txBody>
      </p:sp>
      <p:pic>
        <p:nvPicPr>
          <p:cNvPr id="6" name="Google Shape;63;p1" descr="Picture 3">
            <a:extLst>
              <a:ext uri="{FF2B5EF4-FFF2-40B4-BE49-F238E27FC236}">
                <a16:creationId xmlns:a16="http://schemas.microsoft.com/office/drawing/2014/main" id="{7B4B3DF1-423D-8D66-233D-EB638639C9EC}"/>
              </a:ext>
            </a:extLst>
          </p:cNvPr>
          <p:cNvPicPr preferRelativeResize="0"/>
          <p:nvPr/>
        </p:nvPicPr>
        <p:blipFill rotWithShape="1">
          <a:blip r:embed="rId3"/>
          <a:srcRect/>
          <a:stretch>
            <a:fillRect/>
          </a:stretch>
        </p:blipFill>
        <p:spPr>
          <a:xfrm flipH="1">
            <a:off x="9345375" y="0"/>
            <a:ext cx="2846625" cy="152544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pic>
        <p:nvPicPr>
          <p:cNvPr id="2" name="Google Shape;319;g25b1bb62912_0_68" descr="Picture 2"/>
          <p:cNvPicPr preferRelativeResize="0"/>
          <p:nvPr/>
        </p:nvPicPr>
        <p:blipFill rotWithShape="1">
          <a:blip r:embed="rId3"/>
          <a:srcRect/>
          <a:stretch>
            <a:fillRect/>
          </a:stretch>
        </p:blipFill>
        <p:spPr>
          <a:xfrm>
            <a:off x="0" y="-28241"/>
            <a:ext cx="12652622" cy="6886241"/>
          </a:xfrm>
          <a:prstGeom prst="rect">
            <a:avLst/>
          </a:prstGeom>
          <a:noFill/>
          <a:ln>
            <a:noFill/>
          </a:ln>
        </p:spPr>
      </p:pic>
      <p:sp>
        <p:nvSpPr>
          <p:cNvPr id="648" name="Google Shape;648;p30"/>
          <p:cNvSpPr/>
          <p:nvPr/>
        </p:nvSpPr>
        <p:spPr>
          <a:xfrm>
            <a:off x="8230996" y="4319778"/>
            <a:ext cx="113030" cy="0"/>
          </a:xfrm>
          <a:custGeom>
            <a:avLst/>
            <a:gdLst/>
            <a:ahLst/>
            <a:cxnLst/>
            <a:rect l="l" t="t" r="r" b="b"/>
            <a:pathLst>
              <a:path w="113029" h="120000" extrusionOk="0">
                <a:moveTo>
                  <a:pt x="0" y="0"/>
                </a:moveTo>
                <a:lnTo>
                  <a:pt x="112775" y="0"/>
                </a:lnTo>
              </a:path>
            </a:pathLst>
          </a:custGeom>
          <a:noFill/>
          <a:ln w="45700" cap="flat" cmpd="sng">
            <a:solidFill>
              <a:srgbClr val="00999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649" name="Google Shape;649;p30"/>
          <p:cNvSpPr txBox="1"/>
          <p:nvPr/>
        </p:nvSpPr>
        <p:spPr>
          <a:xfrm>
            <a:off x="482520" y="1574335"/>
            <a:ext cx="11653035" cy="5736812"/>
          </a:xfrm>
          <a:prstGeom prst="rect">
            <a:avLst/>
          </a:prstGeom>
          <a:noFill/>
          <a:ln>
            <a:noFill/>
          </a:ln>
        </p:spPr>
        <p:txBody>
          <a:bodyPr spcFirstLastPara="1" wrap="square" lIns="0" tIns="113650" rIns="0" bIns="0" anchor="t" anchorCtr="0">
            <a:spAutoFit/>
          </a:bodyPr>
          <a:lstStyle/>
          <a:p>
            <a:pPr marL="12065" lvl="0">
              <a:buSzPts val="2400"/>
              <a:defRPr/>
            </a:pP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4"/>
              </a:rPr>
              <a:t>[1] </a:t>
            </a:r>
            <a:r>
              <a:rPr lang="fr-FR" sz="2400" dirty="0">
                <a:hlinkClick r:id="rId5"/>
              </a:rPr>
              <a:t>rpc-arch.png (1684×1042)</a:t>
            </a:r>
            <a:endParaRPr lang="fr-FR" sz="2400" dirty="0"/>
          </a:p>
          <a:p>
            <a:pPr marL="12065" lvl="0">
              <a:buSzPts val="2400"/>
              <a:defRPr/>
            </a:pP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4"/>
              </a:rPr>
              <a:t>[2] </a:t>
            </a:r>
            <a:r>
              <a:rPr lang="fr-FR" sz="2400" dirty="0">
                <a:hlinkClick r:id="rId6"/>
              </a:rPr>
              <a:t>corba-architecture-slide1.png (960×540)</a:t>
            </a:r>
            <a:endParaRPr lang="fr-FR" sz="2400" dirty="0"/>
          </a:p>
          <a:p>
            <a:pPr marL="12065">
              <a:buSzPts val="2400"/>
              <a:defRPr/>
            </a:pPr>
            <a:r>
              <a:rPr lang="fr-FR" sz="2400" u="sng" dirty="0">
                <a:solidFill>
                  <a:srgbClr val="0461C1"/>
                </a:solidFill>
              </a:rPr>
              <a:t>[3] </a:t>
            </a:r>
            <a:r>
              <a:rPr lang="fr-FR" sz="2400" u="sng" dirty="0">
                <a:solidFill>
                  <a:srgbClr val="0461C1"/>
                </a:solidFill>
                <a:hlinkClick r:id="rId7"/>
              </a:rPr>
              <a:t>http://modelseverywhere.wordpress.com/2010/11/04/model-driven-integration/</a:t>
            </a:r>
            <a:br>
              <a:rPr lang="fr-FR" sz="2400" u="sng" dirty="0">
                <a:solidFill>
                  <a:srgbClr val="0461C1"/>
                </a:solidFill>
              </a:rPr>
            </a:b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rPr>
              <a:t>[4] </a:t>
            </a:r>
            <a:r>
              <a:rPr lang="fr-FR" sz="2400" u="sng" dirty="0">
                <a:solidFill>
                  <a:schemeClr val="bg2"/>
                </a:solidFill>
              </a:rPr>
              <a:t>https://www.coursera.org/learn/service-oriented-architecture/</a:t>
            </a: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2065" marR="2108835" lvl="0" algn="l" defTabSz="914400" rtl="0" eaLnBrk="1" fontAlgn="auto" latinLnBrk="0" hangingPunct="1">
              <a:lnSpc>
                <a:spcPct val="100000"/>
              </a:lnSpc>
              <a:spcBef>
                <a:spcPts val="790"/>
              </a:spcBef>
              <a:spcAft>
                <a:spcPts val="0"/>
              </a:spcAft>
              <a:buClr>
                <a:srgbClr val="000000"/>
              </a:buClr>
              <a:buSzPts val="2400"/>
              <a:defRPr/>
            </a:pP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8"/>
              </a:rPr>
              <a:t>[5] http://design-patterns.fr/introduction-a-la-  programmation-</a:t>
            </a:r>
            <a:r>
              <a:rPr kumimoji="0" lang="fr-FR" sz="2400" b="0" i="0" u="sng" strike="noStrike" kern="0" cap="none" spc="0" normalizeH="0" baseline="0" noProof="0" dirty="0" err="1">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8"/>
              </a:rPr>
              <a:t>orientee</a:t>
            </a: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8"/>
              </a:rPr>
              <a:t>-objet</a:t>
            </a: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2065" marR="5080" lvl="0" algn="l" defTabSz="914400" rtl="0" eaLnBrk="1" fontAlgn="auto" latinLnBrk="0" hangingPunct="1">
              <a:lnSpc>
                <a:spcPct val="100000"/>
              </a:lnSpc>
              <a:spcBef>
                <a:spcPts val="815"/>
              </a:spcBef>
              <a:spcAft>
                <a:spcPts val="0"/>
              </a:spcAft>
              <a:buClr>
                <a:srgbClr val="000000"/>
              </a:buClr>
              <a:buSzPts val="2400"/>
              <a:defRPr/>
            </a:pP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9"/>
              </a:rPr>
              <a:t>[6] http://blog.xebia.fr/2009/04/29/soa-du-</a:t>
            </a: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10"/>
              </a:rPr>
              <a:t>composant- </a:t>
            </a:r>
            <a:r>
              <a:rPr kumimoji="0" lang="fr-FR" sz="2400" b="0" i="0" u="none"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rPr>
              <a:t> </a:t>
            </a: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10"/>
              </a:rPr>
              <a:t>au-service-</a:t>
            </a:r>
            <a:r>
              <a:rPr kumimoji="0" lang="fr-FR" sz="2400" b="0" i="0" u="sng" strike="noStrike" kern="0" cap="none" spc="0" normalizeH="0" baseline="0" noProof="0" dirty="0" err="1">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10"/>
              </a:rPr>
              <a:t>lautonomie</a:t>
            </a:r>
            <a:endParaRPr kumimoji="0"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endParaRPr>
          </a:p>
          <a:p>
            <a:pPr marL="12065" marR="5080" lvl="0" algn="l" defTabSz="914400" rtl="0" eaLnBrk="1" fontAlgn="auto" latinLnBrk="0" hangingPunct="1">
              <a:lnSpc>
                <a:spcPct val="100000"/>
              </a:lnSpc>
              <a:spcBef>
                <a:spcPts val="815"/>
              </a:spcBef>
              <a:spcAft>
                <a:spcPts val="0"/>
              </a:spcAft>
              <a:buClr>
                <a:srgbClr val="000000"/>
              </a:buClr>
              <a:buSzPts val="2400"/>
              <a:defRPr/>
            </a:pP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hlinkClick r:id="rId11"/>
              </a:rPr>
              <a:t>[7] https://www.ibisc.univ-evry.fr/~tmelliti/cours/CPAR/cours6.pdf</a:t>
            </a:r>
            <a:r>
              <a:rPr kumimoji="0" lang="fr-FR"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rPr>
              <a:t>|</a:t>
            </a:r>
            <a:endParaRPr kumimoji="0" sz="2400" b="0" i="0" u="sng" strike="noStrike" kern="0" cap="none" spc="0" normalizeH="0" baseline="0" noProof="0" dirty="0">
              <a:ln>
                <a:noFill/>
              </a:ln>
              <a:solidFill>
                <a:srgbClr val="0461C1"/>
              </a:solidFill>
              <a:effectLst/>
              <a:uLnTx/>
              <a:uFillTx/>
              <a:latin typeface="Arial" panose="020B0604020202020204"/>
              <a:ea typeface="Arial" panose="020B0604020202020204"/>
              <a:cs typeface="Arial" panose="020B0604020202020204"/>
              <a:sym typeface="Arial" panose="020B0604020202020204"/>
            </a:endParaRPr>
          </a:p>
          <a:p>
            <a:pPr marL="12065" marR="5080">
              <a:spcBef>
                <a:spcPts val="815"/>
              </a:spcBef>
              <a:buSzPts val="2400"/>
            </a:pPr>
            <a:r>
              <a:rPr lang="fr-FR" sz="2400" u="sng" dirty="0">
                <a:solidFill>
                  <a:srgbClr val="0461C1"/>
                </a:solidFill>
                <a:hlinkClick r:id="rId12"/>
              </a:rPr>
              <a:t>[8] http://adslbox.free.fr/rapports/rapport-gl-service-oriented-architecture.pdf</a:t>
            </a:r>
            <a:endParaRPr sz="2400" u="sng" dirty="0">
              <a:solidFill>
                <a:srgbClr val="0461C1"/>
              </a:solidFill>
            </a:endParaRPr>
          </a:p>
          <a:p>
            <a:pPr marL="12065" marR="5080">
              <a:spcBef>
                <a:spcPts val="815"/>
              </a:spcBef>
              <a:buSzPts val="2400"/>
            </a:pPr>
            <a:r>
              <a:rPr lang="fr-FR" sz="2400" u="sng" dirty="0">
                <a:solidFill>
                  <a:srgbClr val="0461C1"/>
                </a:solidFill>
                <a:hlinkClick r:id="rId13"/>
              </a:rPr>
              <a:t>[9] http://deptinfo.unice.fr/~baude/WS/cours_SOA_AO+FB.pdf</a:t>
            </a:r>
            <a:r>
              <a:rPr lang="fr-FR" sz="2400" u="sng" dirty="0">
                <a:solidFill>
                  <a:srgbClr val="0461C1"/>
                </a:solidFill>
              </a:rPr>
              <a:t> </a:t>
            </a:r>
          </a:p>
          <a:p>
            <a:pPr marL="12065" marR="5080">
              <a:spcBef>
                <a:spcPts val="815"/>
              </a:spcBef>
              <a:buSzPts val="2400"/>
            </a:pPr>
            <a:r>
              <a:rPr lang="fr-FR" sz="2400" u="sng" dirty="0">
                <a:solidFill>
                  <a:srgbClr val="0461C1"/>
                </a:solidFill>
              </a:rPr>
              <a:t>[10] </a:t>
            </a:r>
            <a:r>
              <a:rPr lang="fr-FR" sz="2400" dirty="0">
                <a:hlinkClick r:id="rId14"/>
              </a:rPr>
              <a:t>rpc1.png (720×540)</a:t>
            </a:r>
            <a:endParaRPr lang="fr-FR" sz="2400" dirty="0"/>
          </a:p>
          <a:p>
            <a:pPr marL="12065" marR="5080">
              <a:spcBef>
                <a:spcPts val="815"/>
              </a:spcBef>
              <a:buSzPts val="2400"/>
            </a:pPr>
            <a:endParaRPr sz="2400" u="sng" dirty="0">
              <a:solidFill>
                <a:srgbClr val="0461C1"/>
              </a:solidFill>
            </a:endParaRPr>
          </a:p>
          <a:p>
            <a:pPr marL="356870" marR="5080" lvl="0" indent="-192405" algn="l" defTabSz="914400" rtl="0" eaLnBrk="1" fontAlgn="auto" latinLnBrk="0" hangingPunct="1">
              <a:lnSpc>
                <a:spcPct val="100000"/>
              </a:lnSpc>
              <a:spcBef>
                <a:spcPts val="815"/>
              </a:spcBef>
              <a:spcAft>
                <a:spcPts val="0"/>
              </a:spcAft>
              <a:buClr>
                <a:srgbClr val="000000"/>
              </a:buClr>
              <a:buSzPts val="2400"/>
              <a:buFont typeface="Calibri" panose="020F050202020403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650" name="Google Shape;650;p30"/>
          <p:cNvSpPr txBox="1"/>
          <p:nvPr/>
        </p:nvSpPr>
        <p:spPr>
          <a:xfrm>
            <a:off x="11095735" y="6421323"/>
            <a:ext cx="177800" cy="208915"/>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fr-FR" sz="1200" b="0" i="0" u="none" strike="noStrike" kern="0" cap="none" spc="0" normalizeH="0" baseline="0" noProof="0">
                <a:ln>
                  <a:noFill/>
                </a:ln>
                <a:solidFill>
                  <a:srgbClr val="878787"/>
                </a:solidFill>
                <a:effectLst/>
                <a:uLnTx/>
                <a:uFillTx/>
                <a:latin typeface="Trebuchet MS" panose="020B0603020202020204"/>
                <a:ea typeface="Trebuchet MS" panose="020B0603020202020204"/>
                <a:cs typeface="Trebuchet MS" panose="020B0603020202020204"/>
                <a:sym typeface="Trebuchet MS" panose="020B0603020202020204"/>
              </a:rPr>
              <a:t>25</a:t>
            </a:r>
            <a:endParaRPr kumimoji="0" sz="1200" b="0" i="0" u="none" strike="noStrike" kern="0" cap="none" spc="0" normalizeH="0" baseline="0" noProof="0">
              <a:ln>
                <a:noFill/>
              </a:ln>
              <a:solidFill>
                <a:srgbClr val="000000"/>
              </a:solidFill>
              <a:effectLst/>
              <a:uLnTx/>
              <a:uFillTx/>
              <a:latin typeface="Trebuchet MS" panose="020B0603020202020204"/>
              <a:ea typeface="Trebuchet MS" panose="020B0603020202020204"/>
              <a:cs typeface="Trebuchet MS" panose="020B0603020202020204"/>
              <a:sym typeface="Trebuchet MS" panose="020B0603020202020204"/>
            </a:endParaRPr>
          </a:p>
        </p:txBody>
      </p:sp>
      <p:pic>
        <p:nvPicPr>
          <p:cNvPr id="3" name="Google Shape;320;g25b1bb62912_0_68" descr="Image 10"/>
          <p:cNvPicPr preferRelativeResize="0"/>
          <p:nvPr/>
        </p:nvPicPr>
        <p:blipFill rotWithShape="1">
          <a:blip r:embed="rId15"/>
          <a:srcRect/>
          <a:stretch>
            <a:fillRect/>
          </a:stretch>
        </p:blipFill>
        <p:spPr>
          <a:xfrm>
            <a:off x="831813" y="590085"/>
            <a:ext cx="585321" cy="579782"/>
          </a:xfrm>
          <a:prstGeom prst="rect">
            <a:avLst/>
          </a:prstGeom>
          <a:noFill/>
          <a:ln>
            <a:noFill/>
          </a:ln>
        </p:spPr>
      </p:pic>
      <p:pic>
        <p:nvPicPr>
          <p:cNvPr id="4" name="Google Shape;320;g25b1bb62912_0_68" descr="Image 10"/>
          <p:cNvPicPr preferRelativeResize="0"/>
          <p:nvPr/>
        </p:nvPicPr>
        <p:blipFill rotWithShape="1">
          <a:blip r:embed="rId15"/>
          <a:srcRect/>
          <a:stretch>
            <a:fillRect/>
          </a:stretch>
        </p:blipFill>
        <p:spPr>
          <a:xfrm>
            <a:off x="831813" y="590085"/>
            <a:ext cx="585321" cy="579782"/>
          </a:xfrm>
          <a:prstGeom prst="rect">
            <a:avLst/>
          </a:prstGeom>
          <a:noFill/>
          <a:ln>
            <a:noFill/>
          </a:ln>
        </p:spPr>
      </p:pic>
      <p:sp>
        <p:nvSpPr>
          <p:cNvPr id="5" name="Google Shape;324;g25b1bb62912_0_68"/>
          <p:cNvSpPr txBox="1"/>
          <p:nvPr/>
        </p:nvSpPr>
        <p:spPr>
          <a:xfrm>
            <a:off x="1417134" y="53651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8000"/>
              </a:lnSpc>
              <a:buSzPts val="1800"/>
              <a:buNone/>
              <a:defRPr sz="2700" b="1">
                <a:solidFill>
                  <a:schemeClr val="dk1"/>
                </a:solidFill>
                <a:latin typeface="Times New Roman" panose="02020603050405020304"/>
                <a:ea typeface="Calibri" panose="020F0502020204030204"/>
                <a:cs typeface="Times New Roman" panose="02020603050405020304"/>
              </a:defRPr>
            </a:lvl1pPr>
            <a:lvl2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2pPr>
            <a:lvl3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3pPr>
            <a:lvl4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4pPr>
            <a:lvl5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5pPr>
            <a:lvl6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6pPr>
            <a:lvl7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7pPr>
            <a:lvl8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8pPr>
            <a:lvl9pPr>
              <a:lnSpc>
                <a:spcPct val="90000"/>
              </a:lnSpc>
              <a:buSzPts val="1800"/>
              <a:buFont typeface="Calibri" panose="020F0502020204030204"/>
              <a:buNone/>
              <a:defRPr sz="4400">
                <a:latin typeface="Calibri" panose="020F0502020204030204"/>
                <a:ea typeface="Calibri" panose="020F0502020204030204"/>
                <a:cs typeface="Calibri" panose="020F0502020204030204"/>
              </a:defRPr>
            </a:lvl9pPr>
          </a:lstStyle>
          <a:p>
            <a:r>
              <a:rPr lang="fr-FR" dirty="0">
                <a:sym typeface="Times New Roman" panose="02020603050405020304"/>
              </a:rPr>
              <a:t>Références </a:t>
            </a:r>
            <a:endParaRPr dirty="0">
              <a:sym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1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otalTime>447</TotalTime>
  <Words>4014</Words>
  <Application>Microsoft Office PowerPoint</Application>
  <PresentationFormat>Grand écran</PresentationFormat>
  <Paragraphs>533</Paragraphs>
  <Slides>56</Slides>
  <Notes>49</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56</vt:i4>
      </vt:variant>
    </vt:vector>
  </HeadingPairs>
  <TitlesOfParts>
    <vt:vector size="68" baseType="lpstr">
      <vt:lpstr>Wingdings</vt:lpstr>
      <vt:lpstr>Arial MT</vt:lpstr>
      <vt:lpstr>Franklin Gothic Book</vt:lpstr>
      <vt:lpstr>Times New Roman</vt:lpstr>
      <vt:lpstr>Trebuchet MS</vt:lpstr>
      <vt:lpstr>Calibri</vt:lpstr>
      <vt:lpstr>Roboto</vt:lpstr>
      <vt:lpstr>Arial</vt:lpstr>
      <vt:lpstr>OpenSansRegular</vt:lpstr>
      <vt:lpstr>Noto Sans Symbols</vt:lpstr>
      <vt:lpstr>Office Theme</vt:lpstr>
      <vt:lpstr>1_Office Theme</vt:lpstr>
      <vt:lpstr>Présentation PowerPoint</vt:lpstr>
      <vt:lpstr>Présentation PowerPoint</vt:lpstr>
      <vt:lpstr>Présentation PowerPoint</vt:lpstr>
      <vt:lpstr>Présentation PowerPoint</vt:lpstr>
      <vt:lpstr>Systèmes basés sur le Web</vt:lpstr>
      <vt:lpstr>Systèmes basés sur le Web</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Définition</vt:lpstr>
      <vt:lpstr>Présentation PowerPoint</vt:lpstr>
      <vt:lpstr>Présentation PowerPoint</vt:lpstr>
      <vt:lpstr>Présentation PowerPoint</vt:lpstr>
      <vt:lpstr>Présentation PowerPoint</vt:lpstr>
      <vt:lpstr>Présentation PowerPoint</vt:lpstr>
      <vt:lpstr>Présentation PowerPoint</vt:lpstr>
      <vt:lpstr>Couplage lâche</vt:lpstr>
      <vt:lpstr>Présentation PowerPoint</vt:lpstr>
      <vt:lpstr>Composable </vt:lpstr>
      <vt:lpstr>Présentation PowerPoint</vt:lpstr>
      <vt:lpstr>Intégration vs Interopérabilité – </vt:lpstr>
      <vt:lpstr>Intégration vs Interopérabilité – </vt:lpstr>
      <vt:lpstr>Présentation PowerPoint</vt:lpstr>
      <vt:lpstr>Présentation PowerPoint</vt:lpstr>
      <vt:lpstr>Présentation PowerPoint</vt:lpstr>
      <vt:lpstr>Présentation PowerPoint</vt:lpstr>
      <vt:lpstr>Couches de vue de Services</vt:lpstr>
      <vt:lpstr>Elèments  SOA</vt:lpstr>
      <vt:lpstr>Architecture SOA</vt:lpstr>
      <vt:lpstr>Apports de SOA</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bettaieb lamjed</dc:creator>
  <cp:lastModifiedBy>safa saoudi</cp:lastModifiedBy>
  <cp:revision>94</cp:revision>
  <dcterms:created xsi:type="dcterms:W3CDTF">2019-12-23T07:08:00Z</dcterms:created>
  <dcterms:modified xsi:type="dcterms:W3CDTF">2025-09-07T23:12:00Z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0D0987A4A4D8486E8866C70D0F470BA7_12</vt:lpwstr>
  </property>
  <property fmtid="{D5CDD505-2E9C-101B-9397-08002B2CF9AE}" pid="3" name="KSOProductBuildVer">
    <vt:lpwstr>1036-12.2.0.21931</vt:lpwstr>
  </property>
</Properties>
</file>